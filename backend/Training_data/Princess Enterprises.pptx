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Nunito ExtraBold"/>
      <p:bold r:id="rId27"/>
      <p:boldItalic r:id="rId28"/>
    </p:embeddedFont>
    <p:embeddedFont>
      <p:font typeface="Nunito Black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023343-B66D-463C-BA91-E2243C4443ED}">
  <a:tblStyle styleId="{8B023343-B66D-463C-BA91-E2243C4443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NunitoExtraBold-boldItalic.fntdata"/><Relationship Id="rId27" Type="http://schemas.openxmlformats.org/officeDocument/2006/relationships/font" Target="fonts/Nunito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unitoBlack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64056cd7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2d64056cd79_2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f4bee03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f4bee03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f4bee03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f4bee03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f4bee03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f4bee03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3e68c5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53e68c5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4bee03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f4bee03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4012350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4012350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4bee03d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4bee03d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64012350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64012350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64012350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64012350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f4bee03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f4bee03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f4bee03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f4bee03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f4bee03d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f4bee03d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f4bee03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f4bee03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4bee03d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f4bee03d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a7a571f418b9b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a7a571f418b9b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143000" y="1115447"/>
            <a:ext cx="6858000" cy="17907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BYU Management Society</a:t>
            </a:r>
            <a:br>
              <a:rPr lang="en" sz="3000"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latin typeface="Arial"/>
                <a:ea typeface="Arial"/>
                <a:cs typeface="Arial"/>
                <a:sym typeface="Arial"/>
              </a:rPr>
              <a:t>Africa Business Plan Competition</a:t>
            </a:r>
            <a:br>
              <a:rPr lang="en" sz="3000"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latin typeface="Arial"/>
                <a:ea typeface="Arial"/>
                <a:cs typeface="Arial"/>
                <a:sym typeface="Arial"/>
              </a:rPr>
              <a:t>2026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536300" y="3025500"/>
            <a:ext cx="6071400" cy="863700"/>
          </a:xfrm>
          <a:prstGeom prst="rect">
            <a:avLst/>
          </a:prstGeom>
          <a:solidFill>
            <a:schemeClr val="lt1"/>
          </a:solidFill>
          <a:ln cap="flat" cmpd="sng" w="114300">
            <a:solidFill>
              <a:srgbClr val="FFFFFF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  <a:latin typeface="Nunito Black"/>
                <a:ea typeface="Nunito Black"/>
                <a:cs typeface="Nunito Black"/>
                <a:sym typeface="Nunito Black"/>
              </a:rPr>
              <a:t>PRINCESS CHIDIEBUBE 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  <a:latin typeface="Nunito Black"/>
                <a:ea typeface="Nunito Black"/>
                <a:cs typeface="Nunito Black"/>
                <a:sym typeface="Nunito Black"/>
              </a:rPr>
              <a:t>FASHION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  <a:latin typeface="Nunito Black"/>
                <a:ea typeface="Nunito Black"/>
                <a:cs typeface="Nunito Black"/>
                <a:sym typeface="Nunito Black"/>
              </a:rPr>
              <a:t> 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  <a:latin typeface="Nunito Black"/>
                <a:ea typeface="Nunito Black"/>
                <a:cs typeface="Nunito Black"/>
                <a:sym typeface="Nunito Black"/>
              </a:rPr>
              <a:t>ENTERPRISES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Nunito Black"/>
              <a:ea typeface="Nunito Black"/>
              <a:cs typeface="Nunito Black"/>
              <a:sym typeface="Nunito Black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4503127" y="4393154"/>
            <a:ext cx="4467957" cy="577500"/>
            <a:chOff x="6004170" y="5847770"/>
            <a:chExt cx="5957276" cy="770000"/>
          </a:xfrm>
        </p:grpSpPr>
        <p:pic>
          <p:nvPicPr>
            <p:cNvPr descr="Shape&#10;&#10;Description automatically generated"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4170" y="5847770"/>
              <a:ext cx="5957276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56399" y="6114936"/>
              <a:ext cx="4931507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9144000" cy="7911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lang="en">
                <a:solidFill>
                  <a:schemeClr val="lt1"/>
                </a:solidFill>
              </a:rPr>
              <a:t> or </a:t>
            </a: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 Pain Point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4850" y="918075"/>
            <a:ext cx="9069000" cy="40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My community is far from the urban area so most people face serious difficulty accessing cash,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Banks, ATMs are always crowded, and sometimes even run out of money.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The people in my community spend hours  travelling to the available Banks and </a:t>
            </a:r>
            <a:r>
              <a:rPr lang="en" sz="1400">
                <a:solidFill>
                  <a:schemeClr val="dk1"/>
                </a:solidFill>
              </a:rPr>
              <a:t>ATMS Machines just</a:t>
            </a:r>
            <a:r>
              <a:rPr lang="en" sz="1400">
                <a:solidFill>
                  <a:schemeClr val="dk1"/>
                </a:solidFill>
              </a:rPr>
              <a:t> to withdraw a small amount of money and sometimes are denied of access to their money even when they needed it the most because of ATM not dispensing the amount of </a:t>
            </a:r>
            <a:r>
              <a:rPr lang="en" sz="1400">
                <a:solidFill>
                  <a:schemeClr val="dk1"/>
                </a:solidFill>
              </a:rPr>
              <a:t>cash they need </a:t>
            </a:r>
            <a:r>
              <a:rPr lang="en" sz="1400">
                <a:solidFill>
                  <a:schemeClr val="dk1"/>
                </a:solidFill>
              </a:rPr>
              <a:t>or Banks has close.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Based on my personal observation and conversations: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About </a:t>
            </a:r>
            <a:r>
              <a:rPr b="1" lang="en" sz="1400">
                <a:solidFill>
                  <a:schemeClr val="dk1"/>
                </a:solidFill>
              </a:rPr>
              <a:t>85 out of 100 </a:t>
            </a:r>
            <a:r>
              <a:rPr lang="en" sz="1400">
                <a:solidFill>
                  <a:schemeClr val="dk1"/>
                </a:solidFill>
              </a:rPr>
              <a:t>people in my area prefer POS services over banks.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Cash shortage and long queues are consistent pain points.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This shows there is a strong local demand for fast, reliable cash access.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Long distance of bank from area that takes more than one hour </a:t>
            </a:r>
            <a:r>
              <a:rPr lang="en" sz="1400">
                <a:solidFill>
                  <a:schemeClr val="dk1"/>
                </a:solidFill>
              </a:rPr>
              <a:t>thirty</a:t>
            </a:r>
            <a:r>
              <a:rPr lang="en" sz="1400">
                <a:solidFill>
                  <a:schemeClr val="dk1"/>
                </a:solidFill>
              </a:rPr>
              <a:t> minutes to access bank and ATM machines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Cost of transportation to available ATM machines at the </a:t>
            </a:r>
            <a:r>
              <a:rPr lang="en" sz="1400">
                <a:solidFill>
                  <a:schemeClr val="dk1"/>
                </a:solidFill>
              </a:rPr>
              <a:t>urban</a:t>
            </a:r>
            <a:r>
              <a:rPr lang="en" sz="1400">
                <a:solidFill>
                  <a:schemeClr val="dk1"/>
                </a:solidFill>
              </a:rPr>
              <a:t> area. 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 Venture, Product or Services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0600" y="1083175"/>
            <a:ext cx="9083400" cy="3877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Our business provides </a:t>
            </a:r>
            <a:r>
              <a:rPr b="1" lang="en" sz="1400">
                <a:solidFill>
                  <a:schemeClr val="dk1"/>
                </a:solidFill>
              </a:rPr>
              <a:t>POS and digital banking services</a:t>
            </a:r>
            <a:r>
              <a:rPr lang="en" sz="1400">
                <a:solidFill>
                  <a:schemeClr val="dk1"/>
                </a:solidFill>
              </a:rPr>
              <a:t> that make it easy for customers to: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Withdraw or deposit cash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Buy airtime and data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Pay bills (electricity, school fees, etc.)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Transfer money to local banks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We charge a small fee per transaction and earn commissions from banks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Our model is simple but powerful we bring financial access </a:t>
            </a:r>
            <a:r>
              <a:rPr b="1" lang="en" sz="1400">
                <a:solidFill>
                  <a:schemeClr val="dk1"/>
                </a:solidFill>
              </a:rPr>
              <a:t>closer to people</a:t>
            </a:r>
            <a:r>
              <a:rPr lang="en" sz="1400">
                <a:solidFill>
                  <a:schemeClr val="dk1"/>
                </a:solidFill>
              </a:rPr>
              <a:t> in the </a:t>
            </a:r>
            <a:r>
              <a:rPr lang="en" sz="1400">
                <a:solidFill>
                  <a:schemeClr val="dk1"/>
                </a:solidFill>
              </a:rPr>
              <a:t>community</a:t>
            </a:r>
            <a:r>
              <a:rPr lang="en" sz="1400">
                <a:solidFill>
                  <a:schemeClr val="dk1"/>
                </a:solidFill>
              </a:rPr>
              <a:t> to reduce stress and ATM </a:t>
            </a:r>
            <a:r>
              <a:rPr lang="en" sz="1400">
                <a:solidFill>
                  <a:schemeClr val="dk1"/>
                </a:solidFill>
              </a:rPr>
              <a:t>disappointment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Cost Structure: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POS terminal setup   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Cash liquidity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Rent main</a:t>
            </a:r>
            <a:r>
              <a:rPr lang="en" sz="1400">
                <a:solidFill>
                  <a:schemeClr val="dk1"/>
                </a:solidFill>
              </a:rPr>
              <a:t>tenance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Agent salaries and </a:t>
            </a:r>
            <a:r>
              <a:rPr lang="en" sz="1400">
                <a:solidFill>
                  <a:schemeClr val="dk1"/>
                </a:solidFill>
              </a:rPr>
              <a:t>Branding &amp; marketing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/>
        </p:nvSpPr>
        <p:spPr>
          <a:xfrm>
            <a:off x="5207550" y="3546975"/>
            <a:ext cx="31623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Revenue Streams: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Transaction fees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Commissions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Digital service margins (airtime, bill payments)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0" y="3550"/>
            <a:ext cx="9144000" cy="8790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 Size and Growth</a:t>
            </a:r>
            <a:endParaRPr b="1"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3675" y="882550"/>
            <a:ext cx="9080400" cy="4260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We serve Finima Bonny Island, Rivers State with an estimated population of </a:t>
            </a:r>
            <a:r>
              <a:rPr b="1" lang="en" sz="1600">
                <a:solidFill>
                  <a:schemeClr val="dk1"/>
                </a:solidFill>
              </a:rPr>
              <a:t>2,000 – 3,000</a:t>
            </a:r>
            <a:r>
              <a:rPr lang="en" sz="1600">
                <a:solidFill>
                  <a:schemeClr val="dk1"/>
                </a:solidFill>
              </a:rPr>
              <a:t> people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and with </a:t>
            </a:r>
            <a:r>
              <a:rPr b="1" lang="en" sz="1600">
                <a:solidFill>
                  <a:schemeClr val="dk1"/>
                </a:solidFill>
              </a:rPr>
              <a:t>few  active ATMs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Over </a:t>
            </a:r>
            <a:r>
              <a:rPr b="1" lang="en" sz="1600">
                <a:solidFill>
                  <a:schemeClr val="dk1"/>
                </a:solidFill>
              </a:rPr>
              <a:t>75%</a:t>
            </a:r>
            <a:r>
              <a:rPr lang="en" sz="1600">
                <a:solidFill>
                  <a:schemeClr val="dk1"/>
                </a:solidFill>
              </a:rPr>
              <a:t> of residents rely on POS agents for daily cash needs.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                                                                 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/>
              <a:t>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b="1" lang="en">
                <a:solidFill>
                  <a:schemeClr val="dk1"/>
                </a:solidFill>
              </a:rPr>
              <a:t>Competitor Analysis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" name="Google Shape;84;p17"/>
          <p:cNvSpPr txBox="1"/>
          <p:nvPr/>
        </p:nvSpPr>
        <p:spPr>
          <a:xfrm rot="5400000">
            <a:off x="304875" y="1603875"/>
            <a:ext cx="558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542675" y="288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1625600"/>
                <a:gridCol w="1689100"/>
                <a:gridCol w="3898900"/>
              </a:tblGrid>
              <a:tr h="39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Competitors 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Strength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Weakness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6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</a:t>
                      </a:r>
                      <a:r>
                        <a:rPr lang="en"/>
                        <a:t>ocal POS Agents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Already known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 of cash most times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9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Bank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Secure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Far distance and stressful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6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Bank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Secure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Closes early and ATM machines dispenses small amount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0" y="0"/>
            <a:ext cx="9144000" cy="6387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 Size, Competition &amp; Growth Potential</a:t>
            </a:r>
            <a:r>
              <a:rPr b="1" lang="en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cont…</a:t>
            </a:r>
            <a:endParaRPr b="1" sz="2600">
              <a:solidFill>
                <a:schemeClr val="lt1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0" y="753850"/>
            <a:ext cx="9144000" cy="426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Growth Plan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Expand from </a:t>
            </a:r>
            <a:r>
              <a:rPr b="1" lang="en" sz="1400">
                <a:solidFill>
                  <a:schemeClr val="dk1"/>
                </a:solidFill>
              </a:rPr>
              <a:t>1 POS location to more than 3</a:t>
            </a:r>
            <a:r>
              <a:rPr lang="en" sz="1400">
                <a:solidFill>
                  <a:schemeClr val="dk1"/>
                </a:solidFill>
              </a:rPr>
              <a:t> by next year.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Introduce </a:t>
            </a:r>
            <a:r>
              <a:rPr b="1" lang="en" sz="1400">
                <a:solidFill>
                  <a:schemeClr val="dk1"/>
                </a:solidFill>
              </a:rPr>
              <a:t>digital wallet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b="1" lang="en" sz="1400">
                <a:solidFill>
                  <a:schemeClr val="dk1"/>
                </a:solidFill>
              </a:rPr>
              <a:t>agent sub-franchise</a:t>
            </a:r>
            <a:r>
              <a:rPr lang="en" sz="1400">
                <a:solidFill>
                  <a:schemeClr val="dk1"/>
                </a:solidFill>
              </a:rPr>
              <a:t> system.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Build customer trust through consistent service and branding.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Introduce fashion hub near the POS </a:t>
            </a:r>
            <a:r>
              <a:rPr lang="en" sz="1400">
                <a:solidFill>
                  <a:schemeClr val="dk1"/>
                </a:solidFill>
              </a:rPr>
              <a:t>kiosk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                          </a:t>
            </a:r>
            <a:r>
              <a:rPr b="1" lang="en">
                <a:solidFill>
                  <a:schemeClr val="dk1"/>
                </a:solidFill>
              </a:rPr>
              <a:t>   Risk &amp; Mitigation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562350" y="27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3853600"/>
                <a:gridCol w="3753700"/>
              </a:tblGrid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900">
                          <a:solidFill>
                            <a:schemeClr val="dk1"/>
                          </a:solidFill>
                        </a:rPr>
                        <a:t>Risk 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900">
                          <a:solidFill>
                            <a:schemeClr val="dk1"/>
                          </a:solidFill>
                        </a:rPr>
                        <a:t>Mitigation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7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Cash shortage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Maintain backup liquidity &amp; partner with agents</a:t>
                      </a:r>
                      <a:endParaRPr/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Network downtime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multiple bank terminals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50" y="0"/>
            <a:ext cx="9144000" cy="6897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Marketing and Sales Strategy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0" y="816475"/>
            <a:ext cx="9144000" cy="417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We attract and retain customers through trust, visibility, and reliability.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Customer Acquisition: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Word of mouth &amp; community reputation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Flyers at markets and schools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WhatsApp, Facebook, and Instagram awareness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Promotion: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Loyalty reward (free airtime after 10 transactions)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Discounts during festive periods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810225" y="3204075"/>
            <a:ext cx="35685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Distribution Channels: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Kiosk/stand locations in busy areas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Partner agents in nearby communities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810225" y="1169975"/>
            <a:ext cx="32259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Pricing: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Standard ₦100 fee per ₦5,000 withdrawal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₦50–₦100 for bill payments or transfers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0" y="0"/>
            <a:ext cx="9144000" cy="7674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Financials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Performance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p20"/>
          <p:cNvGraphicFramePr/>
          <p:nvPr/>
        </p:nvGraphicFramePr>
        <p:xfrm>
          <a:off x="171450" y="87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1760225"/>
                <a:gridCol w="1760225"/>
                <a:gridCol w="1760225"/>
                <a:gridCol w="1760225"/>
                <a:gridCol w="1760225"/>
              </a:tblGrid>
              <a:tr h="5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Month (2025)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Cash Bought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Revenue/ Gain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Expenses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Net Profit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February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#500,000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#400,000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6B8AF"/>
                    </a:solidFill>
                  </a:tcPr>
                </a:tc>
              </a:tr>
              <a:tr h="48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March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#510,000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#410,000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48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April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#350,000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May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#550.000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June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#600,000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July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#580,000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#480,000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August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#600,000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September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#1,000,000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#620,000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#520,000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0" y="0"/>
            <a:ext cx="9144000" cy="7674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Financials Performance  Cont…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699150" y="977050"/>
            <a:ext cx="6832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</a:t>
            </a:r>
            <a:r>
              <a:rPr lang="en" sz="2000">
                <a:solidFill>
                  <a:schemeClr val="dk1"/>
                </a:solidFill>
              </a:rPr>
              <a:t>otal Revenue (8 months):</a:t>
            </a:r>
            <a:r>
              <a:rPr lang="en" sz="1900">
                <a:solidFill>
                  <a:schemeClr val="dk1"/>
                </a:solidFill>
              </a:rPr>
              <a:t>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FFFF00"/>
                </a:highlight>
              </a:rPr>
              <a:t>₦4.36M</a:t>
            </a:r>
            <a:endParaRPr b="1" sz="1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Total Profit (8 months):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highlight>
                  <a:srgbClr val="FFFF00"/>
                </a:highlight>
              </a:rPr>
              <a:t>₦3.610M</a:t>
            </a:r>
            <a:endParaRPr b="1" sz="2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Avg Monthly Profit: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</a:t>
            </a:r>
            <a:r>
              <a:rPr b="1" lang="en" sz="2100">
                <a:solidFill>
                  <a:schemeClr val="dk1"/>
                </a:solidFill>
                <a:highlight>
                  <a:srgbClr val="FFFF00"/>
                </a:highlight>
              </a:rPr>
              <a:t>₦451,250</a:t>
            </a:r>
            <a:endParaRPr b="1" sz="21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0" y="0"/>
            <a:ext cx="9144000" cy="7674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Financial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Forecast (2026 Projection)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22"/>
          <p:cNvGraphicFramePr/>
          <p:nvPr/>
        </p:nvGraphicFramePr>
        <p:xfrm>
          <a:off x="184750" y="85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2069800"/>
                <a:gridCol w="2184100"/>
                <a:gridCol w="2184100"/>
                <a:gridCol w="2184100"/>
              </a:tblGrid>
              <a:tr h="111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Item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Month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Annual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Remarks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102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Revenue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#700.000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#8,500,000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Growth from expansion + new POS units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0E0E3"/>
                    </a:solidFill>
                  </a:tcPr>
                </a:tc>
              </a:tr>
              <a:tr h="96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Expenses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</a:t>
                      </a:r>
                      <a:r>
                        <a:rPr lang="en"/>
                        <a:t>150,000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#1,850,000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agents &amp; operations in different locations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9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Net Profit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#550.000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#6,650,000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+40% projected growth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0" y="0"/>
            <a:ext cx="9144000" cy="7674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Risk Factors &amp; Mitigation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23"/>
          <p:cNvGraphicFramePr/>
          <p:nvPr/>
        </p:nvGraphicFramePr>
        <p:xfrm>
          <a:off x="285750" y="9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2800525"/>
                <a:gridCol w="2875700"/>
                <a:gridCol w="2762925"/>
              </a:tblGrid>
              <a:tr h="7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Risk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Impact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Mitigation Strategy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7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Cash shortages / liquidity issues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Maintain reserve fund; partner with multiple cash suppliers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Competition from other agents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 brand trust, quick service, loyalty promos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Network / transaction delays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multi-bank POS systems + reliable internet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Security risks (fraud, theft)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CCTV, staff training, and cash-handling limits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0" y="0"/>
            <a:ext cx="9144000" cy="10173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Management Team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0" y="1174450"/>
            <a:ext cx="9144000" cy="384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We work together as  field experienced, and adapt to understand customers better and how to scale gradually while maintaining good service.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31" name="Google Shape;131;p24"/>
          <p:cNvGraphicFramePr/>
          <p:nvPr/>
        </p:nvGraphicFramePr>
        <p:xfrm>
          <a:off x="301100" y="130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2817300"/>
                <a:gridCol w="2728575"/>
                <a:gridCol w="2906050"/>
              </a:tblGrid>
              <a:tr h="54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Name</a:t>
                      </a:r>
                      <a:endParaRPr b="1" sz="19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Role</a:t>
                      </a:r>
                      <a:endParaRPr b="1" sz="19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Key skills</a:t>
                      </a:r>
                      <a:endParaRPr b="1" sz="19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Kingsley Thomas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Partner and Operation Lead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Strategic planning, finance, customer relations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Princess Chidiebube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Founder and Business Manager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Day-to-day operations, POS management, client support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0" y="0"/>
            <a:ext cx="9144000" cy="6675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of Prize Money</a:t>
            </a:r>
            <a:endParaRPr b="1"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89400" y="76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{8B023343-B66D-463C-BA91-E2243C4443ED}</a:tableStyleId>
              </a:tblPr>
              <a:tblGrid>
                <a:gridCol w="2987975"/>
                <a:gridCol w="2143925"/>
                <a:gridCol w="38203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ITEMS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AMOUNT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PURPOSE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35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new POS terminals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#250,000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Extend to new areas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5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Branding and signage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Visibility and trust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5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Marketing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Customer acquisition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5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Backup liquidity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#300,000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steady cash flow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5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 staff training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#85,000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 improve efficiency and deliver </a:t>
                      </a:r>
                      <a:r>
                        <a:rPr lang="en"/>
                        <a:t>excellent</a:t>
                      </a:r>
                      <a:r>
                        <a:rPr lang="en"/>
                        <a:t> service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47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Total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#835,000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25"/>
          <p:cNvSpPr txBox="1"/>
          <p:nvPr/>
        </p:nvSpPr>
        <p:spPr>
          <a:xfrm>
            <a:off x="298950" y="4355100"/>
            <a:ext cx="854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prize money will help us </a:t>
            </a:r>
            <a:r>
              <a:rPr b="1" lang="en">
                <a:solidFill>
                  <a:schemeClr val="dk1"/>
                </a:solidFill>
              </a:rPr>
              <a:t>scale operations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create jobs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serve more unbanked people</a:t>
            </a:r>
            <a:r>
              <a:rPr lang="en">
                <a:solidFill>
                  <a:schemeClr val="dk1"/>
                </a:solidFill>
              </a:rPr>
              <a:t> in our community.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0" y="0"/>
            <a:ext cx="9144000" cy="8151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 of my business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6" title="bus pi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75" y="910450"/>
            <a:ext cx="4267376" cy="40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Manager &amp; client pi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250" y="967500"/>
            <a:ext cx="4476575" cy="40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0" y="0"/>
            <a:ext cx="9144000" cy="7389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 Registration</a:t>
            </a:r>
            <a:r>
              <a:rPr b="1" lang="en">
                <a:solidFill>
                  <a:schemeClr val="lt1"/>
                </a:solidFill>
              </a:rPr>
              <a:t> or </a:t>
            </a: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Licenses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7" title="CA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50" y="738900"/>
            <a:ext cx="4885474" cy="427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14300" y="83350"/>
            <a:ext cx="3417000" cy="1038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 bank acco</a:t>
            </a: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unt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250" y="179000"/>
            <a:ext cx="4927075" cy="478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0" y="100800"/>
            <a:ext cx="9144000" cy="50427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Thank You</a:t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PRINCESS CHIDIEBUBE </a:t>
            </a:r>
            <a:r>
              <a:rPr b="1" lang="en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FASHION</a:t>
            </a:r>
            <a:r>
              <a:rPr b="1" lang="en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ENTERPRISES</a:t>
            </a:r>
            <a:endParaRPr b="1"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Serving a better Nigeria</a:t>
            </a:r>
            <a:endParaRPr b="1"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</a:rPr>
              <a:t>                                                                                                                                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
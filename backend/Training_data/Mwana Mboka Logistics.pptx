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drawingml.chart+xml" PartName="/ppt/charts/chart1.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 id="214748366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5143500" cx="9144000"/>
  <p:notesSz cx="6858000" cy="9144000"/>
  <p:embeddedFontLst>
    <p:embeddedFont>
      <p:font typeface="Play"/>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6" roundtripDataSignature="AMtx7mhW6EeQH8XVrJeLnyDY5H+rfRKJ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C44526-852C-49A2-B4FF-3E78E5C846BC}">
  <a:tblStyle styleId="{BFC44526-852C-49A2-B4FF-3E78E5C846BC}"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127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F3C059D4-CDBF-4DBF-B15A-F07A3BFCB388}" styleName="Table_1">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20000"/>
            </a:schemeClr>
          </a:solidFill>
        </a:fill>
      </a:tcStyle>
    </a:band1H>
    <a:band2H>
      <a:tcTxStyle/>
    </a:band2H>
    <a:band1V>
      <a:tcTxStyle/>
      <a:tcStyle>
        <a:fill>
          <a:solidFill>
            <a:schemeClr val="accent2">
              <a:alpha val="20000"/>
            </a:schemeClr>
          </a:solidFill>
        </a:fill>
      </a:tcStyle>
    </a:band1V>
    <a:band2V>
      <a:tcTxStyle/>
    </a:band2V>
    <a:lastCol>
      <a:tcTxStyle b="on" i="off"/>
    </a:lastCol>
    <a:firstCol>
      <a:tcTxStyle b="on" i="off"/>
    </a:firstCol>
    <a:lastRow>
      <a:tcTxStyle b="on" i="off"/>
      <a:tcStyle>
        <a:tcBdr>
          <a:top>
            <a:ln cap="flat" cmpd="sng" w="12700">
              <a:solidFill>
                <a:schemeClr val="accent2"/>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2"/>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012B5892-5A1E-4A2F-9F4B-223AD3C87A17}" styleName="Table_2">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20" Type="http://schemas.openxmlformats.org/officeDocument/2006/relationships/slide" Target="slides/slide12.xml"/><Relationship Id="rId42" Type="http://schemas.openxmlformats.org/officeDocument/2006/relationships/slide" Target="slides/slide34.xml"/><Relationship Id="rId41" Type="http://schemas.openxmlformats.org/officeDocument/2006/relationships/slide" Target="slides/slide33.xml"/><Relationship Id="rId22" Type="http://schemas.openxmlformats.org/officeDocument/2006/relationships/slide" Target="slides/slide14.xml"/><Relationship Id="rId44" Type="http://schemas.openxmlformats.org/officeDocument/2006/relationships/font" Target="fonts/Play-regular.fntdata"/><Relationship Id="rId21" Type="http://schemas.openxmlformats.org/officeDocument/2006/relationships/slide" Target="slides/slide13.xml"/><Relationship Id="rId43" Type="http://schemas.openxmlformats.org/officeDocument/2006/relationships/slide" Target="slides/slide35.xml"/><Relationship Id="rId24" Type="http://schemas.openxmlformats.org/officeDocument/2006/relationships/slide" Target="slides/slide16.xml"/><Relationship Id="rId46" Type="http://customschemas.google.com/relationships/presentationmetadata" Target="metadata"/><Relationship Id="rId23" Type="http://schemas.openxmlformats.org/officeDocument/2006/relationships/slide" Target="slides/slide15.xml"/><Relationship Id="rId45"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slide" Target="slides/slide31.xml"/><Relationship Id="rId16" Type="http://schemas.openxmlformats.org/officeDocument/2006/relationships/slide" Target="slides/slide8.xml"/><Relationship Id="rId38" Type="http://schemas.openxmlformats.org/officeDocument/2006/relationships/slide" Target="slides/slide30.xml"/><Relationship Id="rId19" Type="http://schemas.openxmlformats.org/officeDocument/2006/relationships/slide" Target="slides/slide11.xml"/><Relationship Id="rId18"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byupathwayworldwideprod-my.sharepoint.com/personal/ykabambire_byupathway_edu/Documents/Bureau/AA%20BYU%20Business%20Plan%20Competition/Project%20BYU%20BUSINESS%20PLAN/BUSINESS%20PLAN%20FINAL/Financial%20statement%20breakdow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2361329833770767E-2"/>
          <c:y val="0.15324074074074076"/>
          <c:w val="0.87986089238845144"/>
          <c:h val="0.62949292796733747"/>
        </c:manualLayout>
      </c:layout>
      <c:barChart>
        <c:barDir val="col"/>
        <c:grouping val="clustered"/>
        <c:varyColors val="0"/>
        <c:ser>
          <c:idx val="0"/>
          <c:order val="0"/>
          <c:tx>
            <c:strRef>
              <c:f>Sheet1!$F$6:$F$7</c:f>
              <c:strCache>
                <c:ptCount val="2"/>
                <c:pt idx="1">
                  <c:v>Profit Margin</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Sheet1!$B$8:$B$10</c:f>
              <c:numCache>
                <c:formatCode>General</c:formatCode>
                <c:ptCount val="3"/>
                <c:pt idx="0">
                  <c:v>2022</c:v>
                </c:pt>
                <c:pt idx="1">
                  <c:v>2023</c:v>
                </c:pt>
                <c:pt idx="2">
                  <c:v>2024</c:v>
                </c:pt>
              </c:numCache>
            </c:numRef>
          </c:cat>
          <c:val>
            <c:numRef>
              <c:f>Sheet1!$F$8:$F$10</c:f>
              <c:numCache>
                <c:formatCode>0.00%</c:formatCode>
                <c:ptCount val="3"/>
                <c:pt idx="0">
                  <c:v>0.17990458620157182</c:v>
                </c:pt>
                <c:pt idx="1">
                  <c:v>0.22165865135107082</c:v>
                </c:pt>
                <c:pt idx="2">
                  <c:v>0.23150672272790279</c:v>
                </c:pt>
              </c:numCache>
            </c:numRef>
          </c:val>
          <c:extLst>
            <c:ext xmlns:c16="http://schemas.microsoft.com/office/drawing/2014/chart" uri="{C3380CC4-5D6E-409C-BE32-E72D297353CC}">
              <c16:uniqueId val="{00000000-0833-42D6-B5CC-8EEC6991A761}"/>
            </c:ext>
          </c:extLst>
        </c:ser>
        <c:dLbls>
          <c:dLblPos val="outEnd"/>
          <c:showLegendKey val="0"/>
          <c:showVal val="1"/>
          <c:showCatName val="0"/>
          <c:showSerName val="0"/>
          <c:showPercent val="0"/>
          <c:showBubbleSize val="0"/>
        </c:dLbls>
        <c:gapWidth val="219"/>
        <c:overlap val="-27"/>
        <c:axId val="1640489439"/>
        <c:axId val="1640491359"/>
      </c:barChart>
      <c:catAx>
        <c:axId val="16404894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0491359"/>
        <c:crosses val="autoZero"/>
        <c:auto val="1"/>
        <c:lblAlgn val="ctr"/>
        <c:lblOffset val="100"/>
        <c:noMultiLvlLbl val="0"/>
      </c:catAx>
      <c:valAx>
        <c:axId val="164049135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404894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Company logo of you can fit it in</a:t>
            </a:r>
            <a:endParaRPr/>
          </a:p>
        </p:txBody>
      </p:sp>
      <p:sp>
        <p:nvSpPr>
          <p:cNvPr id="123" name="Google Shape;12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37"/>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Google Shape;14;p3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3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3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38"/>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Google Shape;20;p3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3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3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4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2"/>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42"/>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30" name="Google Shape;30;p4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4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43"/>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 name="Google Shape;36;p43"/>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4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4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4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4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4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4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4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5" name="Shape 45"/>
        <p:cNvGrpSpPr/>
        <p:nvPr/>
      </p:nvGrpSpPr>
      <p:grpSpPr>
        <a:xfrm>
          <a:off x="0" y="0"/>
          <a:ext cx="0" cy="0"/>
          <a:chOff x="0" y="0"/>
          <a:chExt cx="0" cy="0"/>
        </a:xfrm>
      </p:grpSpPr>
      <p:sp>
        <p:nvSpPr>
          <p:cNvPr id="46" name="Google Shape;46;p45"/>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45"/>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48" name="Google Shape;48;p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49" name="Google Shape;49;p4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0" name="Google Shape;50;p4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 name="Google Shape;51;p4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2" name="Shape 52"/>
        <p:cNvGrpSpPr/>
        <p:nvPr/>
      </p:nvGrpSpPr>
      <p:grpSpPr>
        <a:xfrm>
          <a:off x="0" y="0"/>
          <a:ext cx="0" cy="0"/>
          <a:chOff x="0" y="0"/>
          <a:chExt cx="0" cy="0"/>
        </a:xfrm>
      </p:grpSpPr>
      <p:sp>
        <p:nvSpPr>
          <p:cNvPr id="53" name="Google Shape;53;p4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4" name="Google Shape;54;p46"/>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 name="Google Shape;55;p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4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4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8" name="Shape 58"/>
        <p:cNvGrpSpPr/>
        <p:nvPr/>
      </p:nvGrpSpPr>
      <p:grpSpPr>
        <a:xfrm>
          <a:off x="0" y="0"/>
          <a:ext cx="0" cy="0"/>
          <a:chOff x="0" y="0"/>
          <a:chExt cx="0" cy="0"/>
        </a:xfrm>
      </p:grpSpPr>
      <p:sp>
        <p:nvSpPr>
          <p:cNvPr id="59" name="Google Shape;59;p47"/>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47"/>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 name="Google Shape;61;p4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4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0" name="Shape 70"/>
        <p:cNvGrpSpPr/>
        <p:nvPr/>
      </p:nvGrpSpPr>
      <p:grpSpPr>
        <a:xfrm>
          <a:off x="0" y="0"/>
          <a:ext cx="0" cy="0"/>
          <a:chOff x="0" y="0"/>
          <a:chExt cx="0" cy="0"/>
        </a:xfrm>
      </p:grpSpPr>
      <p:sp>
        <p:nvSpPr>
          <p:cNvPr id="71" name="Google Shape;71;p4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40"/>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 name="Google Shape;73;p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4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4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0" name="Shape 80"/>
        <p:cNvGrpSpPr/>
        <p:nvPr/>
      </p:nvGrpSpPr>
      <p:grpSpPr>
        <a:xfrm>
          <a:off x="0" y="0"/>
          <a:ext cx="0" cy="0"/>
          <a:chOff x="0" y="0"/>
          <a:chExt cx="0" cy="0"/>
        </a:xfrm>
      </p:grpSpPr>
      <p:sp>
        <p:nvSpPr>
          <p:cNvPr id="81" name="Google Shape;81;p4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2" name="Google Shape;82;p4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3" name="Google Shape;83;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4" name="Shape 84"/>
        <p:cNvGrpSpPr/>
        <p:nvPr/>
      </p:nvGrpSpPr>
      <p:grpSpPr>
        <a:xfrm>
          <a:off x="0" y="0"/>
          <a:ext cx="0" cy="0"/>
          <a:chOff x="0" y="0"/>
          <a:chExt cx="0" cy="0"/>
        </a:xfrm>
      </p:grpSpPr>
      <p:sp>
        <p:nvSpPr>
          <p:cNvPr id="85" name="Google Shape;85;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6" name="Google Shape;86;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7" name="Shape 87"/>
        <p:cNvGrpSpPr/>
        <p:nvPr/>
      </p:nvGrpSpPr>
      <p:grpSpPr>
        <a:xfrm>
          <a:off x="0" y="0"/>
          <a:ext cx="0" cy="0"/>
          <a:chOff x="0" y="0"/>
          <a:chExt cx="0" cy="0"/>
        </a:xfrm>
      </p:grpSpPr>
      <p:sp>
        <p:nvSpPr>
          <p:cNvPr id="88" name="Google Shape;88;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9" name="Google Shape;89;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0" name="Google Shape;90;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sp>
        <p:nvSpPr>
          <p:cNvPr id="92" name="Google Shape;92;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3" name="Google Shape;93;p5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4" name="Google Shape;94;p5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9" name="Shape 99"/>
        <p:cNvGrpSpPr/>
        <p:nvPr/>
      </p:nvGrpSpPr>
      <p:grpSpPr>
        <a:xfrm>
          <a:off x="0" y="0"/>
          <a:ext cx="0" cy="0"/>
          <a:chOff x="0" y="0"/>
          <a:chExt cx="0" cy="0"/>
        </a:xfrm>
      </p:grpSpPr>
      <p:sp>
        <p:nvSpPr>
          <p:cNvPr id="100" name="Google Shape;100;p5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1" name="Google Shape;101;p5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2" name="Google Shape;10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3" name="Shape 103"/>
        <p:cNvGrpSpPr/>
        <p:nvPr/>
      </p:nvGrpSpPr>
      <p:grpSpPr>
        <a:xfrm>
          <a:off x="0" y="0"/>
          <a:ext cx="0" cy="0"/>
          <a:chOff x="0" y="0"/>
          <a:chExt cx="0" cy="0"/>
        </a:xfrm>
      </p:grpSpPr>
      <p:sp>
        <p:nvSpPr>
          <p:cNvPr id="104" name="Google Shape;104;p5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5" name="Google Shape;10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6" name="Shape 106"/>
        <p:cNvGrpSpPr/>
        <p:nvPr/>
      </p:nvGrpSpPr>
      <p:grpSpPr>
        <a:xfrm>
          <a:off x="0" y="0"/>
          <a:ext cx="0" cy="0"/>
          <a:chOff x="0" y="0"/>
          <a:chExt cx="0" cy="0"/>
        </a:xfrm>
      </p:grpSpPr>
      <p:sp>
        <p:nvSpPr>
          <p:cNvPr id="107" name="Google Shape;107;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5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9" name="Google Shape;109;p5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0" name="Google Shape;110;p5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 name="Google Shape;111;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2" name="Shape 112"/>
        <p:cNvGrpSpPr/>
        <p:nvPr/>
      </p:nvGrpSpPr>
      <p:grpSpPr>
        <a:xfrm>
          <a:off x="0" y="0"/>
          <a:ext cx="0" cy="0"/>
          <a:chOff x="0" y="0"/>
          <a:chExt cx="0" cy="0"/>
        </a:xfrm>
      </p:grpSpPr>
      <p:sp>
        <p:nvSpPr>
          <p:cNvPr id="113" name="Google Shape;113;p5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14" name="Google Shape;114;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5" name="Shape 115"/>
        <p:cNvGrpSpPr/>
        <p:nvPr/>
      </p:nvGrpSpPr>
      <p:grpSpPr>
        <a:xfrm>
          <a:off x="0" y="0"/>
          <a:ext cx="0" cy="0"/>
          <a:chOff x="0" y="0"/>
          <a:chExt cx="0" cy="0"/>
        </a:xfrm>
      </p:grpSpPr>
      <p:sp>
        <p:nvSpPr>
          <p:cNvPr id="116" name="Google Shape;116;p5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7" name="Google Shape;117;p5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18" name="Google Shape;11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9" name="Shape 119"/>
        <p:cNvGrpSpPr/>
        <p:nvPr/>
      </p:nvGrpSpPr>
      <p:grpSpPr>
        <a:xfrm>
          <a:off x="0" y="0"/>
          <a:ext cx="0" cy="0"/>
          <a:chOff x="0" y="0"/>
          <a:chExt cx="0" cy="0"/>
        </a:xfrm>
      </p:grpSpPr>
      <p:sp>
        <p:nvSpPr>
          <p:cNvPr id="120" name="Google Shape;120;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3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3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9" name="Google Shape;9;p3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10" name="Google Shape;10;p3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sp>
        <p:nvSpPr>
          <p:cNvPr id="65" name="Google Shape;65;p3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6" name="Google Shape;66;p39"/>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7" name="Google Shape;67;p3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68" name="Google Shape;68;p3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69" name="Google Shape;69;p3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6" name="Shape 76"/>
        <p:cNvGrpSpPr/>
        <p:nvPr/>
      </p:nvGrpSpPr>
      <p:grpSpPr>
        <a:xfrm>
          <a:off x="0" y="0"/>
          <a:ext cx="0" cy="0"/>
          <a:chOff x="0" y="0"/>
          <a:chExt cx="0" cy="0"/>
        </a:xfrm>
      </p:grpSpPr>
      <p:sp>
        <p:nvSpPr>
          <p:cNvPr id="77" name="Google Shape;77;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8" name="Google Shape;78;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9" name="Google Shape;7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p1"/>
          <p:cNvSpPr txBox="1"/>
          <p:nvPr>
            <p:ph type="ctrTitle"/>
          </p:nvPr>
        </p:nvSpPr>
        <p:spPr>
          <a:xfrm>
            <a:off x="2319180" y="3553405"/>
            <a:ext cx="4367893" cy="669132"/>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chemeClr val="dk1"/>
              </a:buClr>
              <a:buSzPts val="3000"/>
              <a:buFont typeface="Play"/>
              <a:buNone/>
            </a:pPr>
            <a:r>
              <a:rPr lang="en-US" sz="1400">
                <a:latin typeface="Arial"/>
                <a:ea typeface="Arial"/>
                <a:cs typeface="Arial"/>
                <a:sym typeface="Arial"/>
              </a:rPr>
              <a:t>BYU Management Society</a:t>
            </a:r>
            <a:br>
              <a:rPr lang="en-US" sz="1400">
                <a:latin typeface="Arial"/>
                <a:ea typeface="Arial"/>
                <a:cs typeface="Arial"/>
                <a:sym typeface="Arial"/>
              </a:rPr>
            </a:br>
            <a:r>
              <a:rPr lang="en-US" sz="1400">
                <a:latin typeface="Arial"/>
                <a:ea typeface="Arial"/>
                <a:cs typeface="Arial"/>
                <a:sym typeface="Arial"/>
              </a:rPr>
              <a:t>Africa Business Plan Competition</a:t>
            </a:r>
            <a:br>
              <a:rPr lang="en-US" sz="1400">
                <a:latin typeface="Arial"/>
                <a:ea typeface="Arial"/>
                <a:cs typeface="Arial"/>
                <a:sym typeface="Arial"/>
              </a:rPr>
            </a:br>
            <a:r>
              <a:rPr lang="en-US" sz="1400">
                <a:latin typeface="Arial"/>
                <a:ea typeface="Arial"/>
                <a:cs typeface="Arial"/>
                <a:sym typeface="Arial"/>
              </a:rPr>
              <a:t>2026</a:t>
            </a:r>
            <a:endParaRPr sz="1400">
              <a:latin typeface="Arial"/>
              <a:ea typeface="Arial"/>
              <a:cs typeface="Arial"/>
              <a:sym typeface="Arial"/>
            </a:endParaRPr>
          </a:p>
        </p:txBody>
      </p:sp>
      <p:sp>
        <p:nvSpPr>
          <p:cNvPr id="126" name="Google Shape;126;p1"/>
          <p:cNvSpPr txBox="1"/>
          <p:nvPr>
            <p:ph idx="1" type="subTitle"/>
          </p:nvPr>
        </p:nvSpPr>
        <p:spPr>
          <a:xfrm>
            <a:off x="1536299" y="620354"/>
            <a:ext cx="6071400" cy="1411956"/>
          </a:xfrm>
          <a:prstGeom prst="rect">
            <a:avLst/>
          </a:prstGeom>
          <a:noFill/>
          <a:ln>
            <a:noFill/>
          </a:ln>
        </p:spPr>
        <p:txBody>
          <a:bodyPr anchorCtr="0" anchor="t" bIns="34275" lIns="68575" spcFirstLastPara="1" rIns="68575" wrap="square" tIns="34275">
            <a:normAutofit fontScale="62500" lnSpcReduction="20000"/>
          </a:bodyPr>
          <a:lstStyle/>
          <a:p>
            <a:pPr indent="0" lvl="0" marL="0" rtl="0" algn="ctr">
              <a:lnSpc>
                <a:spcPct val="90000"/>
              </a:lnSpc>
              <a:spcBef>
                <a:spcPts val="0"/>
              </a:spcBef>
              <a:spcAft>
                <a:spcPts val="0"/>
              </a:spcAft>
              <a:buClr>
                <a:schemeClr val="dk1"/>
              </a:buClr>
              <a:buSzPct val="130909"/>
              <a:buNone/>
            </a:pPr>
            <a:r>
              <a:t/>
            </a:r>
            <a:endParaRPr sz="2200"/>
          </a:p>
          <a:p>
            <a:pPr indent="0" lvl="0" marL="0" rtl="0" algn="ctr">
              <a:lnSpc>
                <a:spcPct val="90000"/>
              </a:lnSpc>
              <a:spcBef>
                <a:spcPts val="800"/>
              </a:spcBef>
              <a:spcAft>
                <a:spcPts val="0"/>
              </a:spcAft>
              <a:buClr>
                <a:srgbClr val="0070C0"/>
              </a:buClr>
              <a:buSzPct val="59178"/>
              <a:buNone/>
            </a:pPr>
            <a:r>
              <a:rPr b="1" lang="en-US" sz="7300">
                <a:solidFill>
                  <a:srgbClr val="C00000"/>
                </a:solidFill>
              </a:rPr>
              <a:t>MWANA MBOKA LOGISTICS SARLU</a:t>
            </a:r>
            <a:endParaRPr sz="7300">
              <a:solidFill>
                <a:srgbClr val="C00000"/>
              </a:solidFill>
            </a:endParaRPr>
          </a:p>
        </p:txBody>
      </p:sp>
      <p:grpSp>
        <p:nvGrpSpPr>
          <p:cNvPr id="127" name="Google Shape;127;p1"/>
          <p:cNvGrpSpPr/>
          <p:nvPr/>
        </p:nvGrpSpPr>
        <p:grpSpPr>
          <a:xfrm>
            <a:off x="4503127" y="4393154"/>
            <a:ext cx="4467957" cy="577500"/>
            <a:chOff x="6004170" y="5847770"/>
            <a:chExt cx="5957276" cy="770000"/>
          </a:xfrm>
        </p:grpSpPr>
        <p:pic>
          <p:nvPicPr>
            <p:cNvPr descr="Shape&#10;&#10;Description automatically generated" id="128" name="Google Shape;128;p1"/>
            <p:cNvPicPr preferRelativeResize="0"/>
            <p:nvPr/>
          </p:nvPicPr>
          <p:blipFill rotWithShape="1">
            <a:blip r:embed="rId4">
              <a:alphaModFix/>
            </a:blip>
            <a:srcRect b="0" l="0" r="0" t="0"/>
            <a:stretch/>
          </p:blipFill>
          <p:spPr>
            <a:xfrm>
              <a:off x="6004170" y="5847770"/>
              <a:ext cx="5957276" cy="770000"/>
            </a:xfrm>
            <a:prstGeom prst="rect">
              <a:avLst/>
            </a:prstGeom>
            <a:noFill/>
            <a:ln>
              <a:noFill/>
            </a:ln>
          </p:spPr>
        </p:pic>
        <p:pic>
          <p:nvPicPr>
            <p:cNvPr id="129" name="Google Shape;129;p1"/>
            <p:cNvPicPr preferRelativeResize="0"/>
            <p:nvPr/>
          </p:nvPicPr>
          <p:blipFill rotWithShape="1">
            <a:blip r:embed="rId5">
              <a:alphaModFix/>
            </a:blip>
            <a:srcRect b="0" l="0" r="0" t="0"/>
            <a:stretch/>
          </p:blipFill>
          <p:spPr>
            <a:xfrm>
              <a:off x="6756399" y="6114936"/>
              <a:ext cx="4931507" cy="352898"/>
            </a:xfrm>
            <a:prstGeom prst="rect">
              <a:avLst/>
            </a:prstGeom>
            <a:noFill/>
            <a:ln>
              <a:noFill/>
            </a:ln>
          </p:spPr>
        </p:pic>
      </p:grpSp>
      <p:sp>
        <p:nvSpPr>
          <p:cNvPr id="130" name="Google Shape;130;p1"/>
          <p:cNvSpPr txBox="1"/>
          <p:nvPr/>
        </p:nvSpPr>
        <p:spPr>
          <a:xfrm>
            <a:off x="2388052" y="2088264"/>
            <a:ext cx="4367893" cy="1321712"/>
          </a:xfrm>
          <a:prstGeom prst="rect">
            <a:avLst/>
          </a:prstGeom>
          <a:noFill/>
          <a:ln>
            <a:noFill/>
          </a:ln>
        </p:spPr>
        <p:txBody>
          <a:bodyPr anchorCtr="0" anchor="b" bIns="34275" lIns="68575" spcFirstLastPara="1" rIns="68575" wrap="square" tIns="34275">
            <a:noAutofit/>
          </a:bodyPr>
          <a:lstStyle/>
          <a:p>
            <a:pPr indent="0" lvl="0" marL="0" marR="0" rtl="0" algn="ctr">
              <a:lnSpc>
                <a:spcPct val="90000"/>
              </a:lnSpc>
              <a:spcBef>
                <a:spcPts val="0"/>
              </a:spcBef>
              <a:spcAft>
                <a:spcPts val="0"/>
              </a:spcAft>
              <a:buClr>
                <a:schemeClr val="dk1"/>
              </a:buClr>
              <a:buSzPts val="3000"/>
              <a:buFont typeface="Play"/>
              <a:buNone/>
            </a:pPr>
            <a:r>
              <a:rPr b="0" i="0" lang="en-US" sz="1600" u="none" cap="none" strike="noStrike">
                <a:solidFill>
                  <a:schemeClr val="dk1"/>
                </a:solidFill>
                <a:latin typeface="Arial"/>
                <a:ea typeface="Arial"/>
                <a:cs typeface="Arial"/>
                <a:sym typeface="Arial"/>
              </a:rPr>
              <a:t>Yoane Kabambire_Founder &amp; CEO</a:t>
            </a:r>
            <a:endParaRPr/>
          </a:p>
          <a:p>
            <a:pPr indent="0" lvl="0" marL="0" marR="0" rtl="0" algn="ctr">
              <a:lnSpc>
                <a:spcPct val="90000"/>
              </a:lnSpc>
              <a:spcBef>
                <a:spcPts val="0"/>
              </a:spcBef>
              <a:spcAft>
                <a:spcPts val="0"/>
              </a:spcAft>
              <a:buClr>
                <a:schemeClr val="dk1"/>
              </a:buClr>
              <a:buSzPts val="3000"/>
              <a:buFont typeface="Play"/>
              <a:buNone/>
            </a:pPr>
            <a:r>
              <a:rPr b="1" i="0" lang="en-US" sz="1600" u="none" cap="none" strike="noStrike">
                <a:solidFill>
                  <a:schemeClr val="dk1"/>
                </a:solidFill>
                <a:latin typeface="Arial"/>
                <a:ea typeface="Arial"/>
                <a:cs typeface="Arial"/>
                <a:sym typeface="Arial"/>
              </a:rPr>
              <a:t>Lubumbashi, Haut-Katanga, DRC</a:t>
            </a:r>
            <a:endParaRPr/>
          </a:p>
          <a:p>
            <a:pPr indent="0" lvl="0" marL="0" marR="0" rtl="0" algn="ctr">
              <a:lnSpc>
                <a:spcPct val="90000"/>
              </a:lnSpc>
              <a:spcBef>
                <a:spcPts val="0"/>
              </a:spcBef>
              <a:spcAft>
                <a:spcPts val="0"/>
              </a:spcAft>
              <a:buClr>
                <a:schemeClr val="dk1"/>
              </a:buClr>
              <a:buSzPts val="3000"/>
              <a:buFont typeface="Play"/>
              <a:buNone/>
            </a:pPr>
            <a:r>
              <a:t/>
            </a:r>
            <a:endParaRPr b="1" i="1" sz="1600" u="none" cap="none" strike="noStrike">
              <a:solidFill>
                <a:schemeClr val="dk1"/>
              </a:solidFill>
              <a:latin typeface="Play"/>
              <a:ea typeface="Play"/>
              <a:cs typeface="Play"/>
              <a:sym typeface="Play"/>
            </a:endParaRPr>
          </a:p>
          <a:p>
            <a:pPr indent="0" lvl="0" marL="0" marR="0" rtl="0" algn="ctr">
              <a:lnSpc>
                <a:spcPct val="90000"/>
              </a:lnSpc>
              <a:spcBef>
                <a:spcPts val="0"/>
              </a:spcBef>
              <a:spcAft>
                <a:spcPts val="0"/>
              </a:spcAft>
              <a:buClr>
                <a:schemeClr val="dk1"/>
              </a:buClr>
              <a:buSzPts val="3000"/>
              <a:buFont typeface="Play"/>
              <a:buNone/>
            </a:pPr>
            <a:r>
              <a:rPr b="1" i="1" lang="en-US" sz="1600" u="none" cap="none" strike="noStrike">
                <a:solidFill>
                  <a:srgbClr val="275316"/>
                </a:solidFill>
                <a:latin typeface="Arial"/>
                <a:ea typeface="Arial"/>
                <a:cs typeface="Arial"/>
                <a:sym typeface="Arial"/>
              </a:rPr>
              <a:t>“Empowering farmers today to feed Africa tomorrow”</a:t>
            </a:r>
            <a:endParaRPr b="0" i="0" sz="1600" u="none" cap="none" strike="noStrike">
              <a:solidFill>
                <a:srgbClr val="275316"/>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3000"/>
              <a:buFont typeface="Play"/>
              <a:buNone/>
            </a:pPr>
            <a:r>
              <a:t/>
            </a:r>
            <a:endParaRPr b="1" i="0" sz="1600" u="none" cap="none" strike="noStrike">
              <a:solidFill>
                <a:schemeClr val="dk1"/>
              </a:solidFill>
              <a:latin typeface="Arial"/>
              <a:ea typeface="Arial"/>
              <a:cs typeface="Arial"/>
              <a:sym typeface="Arial"/>
            </a:endParaRPr>
          </a:p>
        </p:txBody>
      </p:sp>
      <p:pic>
        <p:nvPicPr>
          <p:cNvPr descr="A logo for a farm&#10;&#10;AI-generated content may be incorrect." id="131" name="Google Shape;131;p1"/>
          <p:cNvPicPr preferRelativeResize="0"/>
          <p:nvPr/>
        </p:nvPicPr>
        <p:blipFill rotWithShape="1">
          <a:blip r:embed="rId6">
            <a:alphaModFix/>
          </a:blip>
          <a:srcRect b="18453" l="16910" r="16223" t="17425"/>
          <a:stretch/>
        </p:blipFill>
        <p:spPr>
          <a:xfrm>
            <a:off x="6865007" y="1718581"/>
            <a:ext cx="1779334" cy="170633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2"/>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7" name="Google Shape;137;p2"/>
          <p:cNvSpPr/>
          <p:nvPr/>
        </p:nvSpPr>
        <p:spPr>
          <a:xfrm flipH="1" rot="3967198">
            <a:off x="6473511" y="367870"/>
            <a:ext cx="2240924" cy="2240924"/>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 name="Google Shape;138;p2"/>
          <p:cNvSpPr txBox="1"/>
          <p:nvPr>
            <p:ph type="title"/>
          </p:nvPr>
        </p:nvSpPr>
        <p:spPr>
          <a:xfrm>
            <a:off x="4421221" y="359619"/>
            <a:ext cx="4094129" cy="99417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None/>
            </a:pPr>
            <a:r>
              <a:rPr b="1" lang="en-US" sz="3100">
                <a:latin typeface="Arial"/>
                <a:ea typeface="Arial"/>
                <a:cs typeface="Arial"/>
                <a:sym typeface="Arial"/>
              </a:rPr>
              <a:t>Executive Summary</a:t>
            </a:r>
            <a:endParaRPr/>
          </a:p>
        </p:txBody>
      </p:sp>
      <p:sp>
        <p:nvSpPr>
          <p:cNvPr id="139" name="Google Shape;139;p2"/>
          <p:cNvSpPr/>
          <p:nvPr/>
        </p:nvSpPr>
        <p:spPr>
          <a:xfrm flipH="1">
            <a:off x="0" y="4114800"/>
            <a:ext cx="2004647" cy="10287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person standing in front of shelves of canned food&#10;&#10;AI-generated content may be incorrect." id="140" name="Google Shape;140;p2"/>
          <p:cNvPicPr preferRelativeResize="0"/>
          <p:nvPr/>
        </p:nvPicPr>
        <p:blipFill rotWithShape="1">
          <a:blip r:embed="rId3">
            <a:alphaModFix/>
          </a:blip>
          <a:srcRect b="-1" l="11648" r="29147" t="0"/>
          <a:stretch/>
        </p:blipFill>
        <p:spPr>
          <a:xfrm>
            <a:off x="816966" y="383469"/>
            <a:ext cx="3003876" cy="4249253"/>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141" name="Google Shape;141;p2"/>
          <p:cNvSpPr txBox="1"/>
          <p:nvPr>
            <p:ph idx="1" type="body"/>
          </p:nvPr>
        </p:nvSpPr>
        <p:spPr>
          <a:xfrm>
            <a:off x="4421221" y="1488332"/>
            <a:ext cx="4094129" cy="314439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US" sz="1300"/>
              <a:t>Founded in 2022, MWANA MBOKA LOGISTICS SARLU is an agricultural logistics and distribution company based in Lubumbashi DRCongo. We provide certified seeds, fertilizers, and poultry </a:t>
            </a:r>
            <a:r>
              <a:rPr lang="en-US" sz="1300"/>
              <a:t>inputs</a:t>
            </a:r>
            <a:r>
              <a:rPr lang="en-US" sz="1300"/>
              <a:t> through four strategically located depots, serving an average of 48 active customers per month.</a:t>
            </a:r>
            <a:endParaRPr/>
          </a:p>
          <a:p>
            <a:pPr indent="0" lvl="0" marL="0" rtl="0" algn="l">
              <a:lnSpc>
                <a:spcPct val="90000"/>
              </a:lnSpc>
              <a:spcBef>
                <a:spcPts val="800"/>
              </a:spcBef>
              <a:spcAft>
                <a:spcPts val="0"/>
              </a:spcAft>
              <a:buSzPts val="1400"/>
              <a:buNone/>
            </a:pPr>
            <a:r>
              <a:rPr lang="en-US" sz="1300"/>
              <a:t>With a 13-person team (depot managers, field agents, logistics partners) and average of  20,96% gross margin, we ensure fast, traceable, and affordable delivery powered by whatsapp ordering and Excel/Cloud tracking.</a:t>
            </a:r>
            <a:endParaRPr/>
          </a:p>
          <a:p>
            <a:pPr indent="0" lvl="0" marL="0" rtl="0" algn="l">
              <a:lnSpc>
                <a:spcPct val="90000"/>
              </a:lnSpc>
              <a:spcBef>
                <a:spcPts val="800"/>
              </a:spcBef>
              <a:spcAft>
                <a:spcPts val="0"/>
              </a:spcAft>
              <a:buSzPts val="1400"/>
              <a:buNone/>
            </a:pPr>
            <a:r>
              <a:rPr lang="en-US" sz="1300"/>
              <a:t>Our goal is to become the most reliable and accessible agricultural distributor in Haut-Katanga, promoting local employment and sustainable farming logistics</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7" name="Google Shape;147;p3"/>
          <p:cNvSpPr/>
          <p:nvPr/>
        </p:nvSpPr>
        <p:spPr>
          <a:xfrm flipH="1" rot="3967198">
            <a:off x="6473511" y="367870"/>
            <a:ext cx="2240924" cy="2240924"/>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 name="Google Shape;148;p3"/>
          <p:cNvSpPr txBox="1"/>
          <p:nvPr>
            <p:ph type="title"/>
          </p:nvPr>
        </p:nvSpPr>
        <p:spPr>
          <a:xfrm>
            <a:off x="4421221" y="359619"/>
            <a:ext cx="4094129" cy="994173"/>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US">
                <a:latin typeface="Arial"/>
                <a:ea typeface="Arial"/>
                <a:cs typeface="Arial"/>
                <a:sym typeface="Arial"/>
              </a:rPr>
              <a:t>Problem/Customer Pain Point</a:t>
            </a:r>
            <a:endParaRPr/>
          </a:p>
        </p:txBody>
      </p:sp>
      <p:sp>
        <p:nvSpPr>
          <p:cNvPr id="149" name="Google Shape;149;p3"/>
          <p:cNvSpPr/>
          <p:nvPr/>
        </p:nvSpPr>
        <p:spPr>
          <a:xfrm flipH="1">
            <a:off x="0" y="4114800"/>
            <a:ext cx="2004647" cy="10287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person sitting on a ladder in a room with many bags and bags" id="150" name="Google Shape;150;p3"/>
          <p:cNvPicPr preferRelativeResize="0"/>
          <p:nvPr/>
        </p:nvPicPr>
        <p:blipFill rotWithShape="1">
          <a:blip r:embed="rId3">
            <a:alphaModFix/>
          </a:blip>
          <a:srcRect b="-1" l="14393" r="26402" t="0"/>
          <a:stretch/>
        </p:blipFill>
        <p:spPr>
          <a:xfrm>
            <a:off x="816967" y="383469"/>
            <a:ext cx="3003874" cy="4249253"/>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151" name="Google Shape;151;p3"/>
          <p:cNvSpPr txBox="1"/>
          <p:nvPr>
            <p:ph idx="1" type="body"/>
          </p:nvPr>
        </p:nvSpPr>
        <p:spPr>
          <a:xfrm>
            <a:off x="4421221" y="1488332"/>
            <a:ext cx="4094129" cy="314439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US" sz="1300"/>
              <a:t>Local context: Farmers in Haut-Katanga spend up to 30% more due to unreliable inpunt supply</a:t>
            </a:r>
            <a:endParaRPr/>
          </a:p>
          <a:p>
            <a:pPr indent="-171450" lvl="0" marL="171450" rtl="0" algn="l">
              <a:lnSpc>
                <a:spcPct val="90000"/>
              </a:lnSpc>
              <a:spcBef>
                <a:spcPts val="0"/>
              </a:spcBef>
              <a:spcAft>
                <a:spcPts val="0"/>
              </a:spcAft>
              <a:buSzPts val="1400"/>
              <a:buChar char="•"/>
            </a:pPr>
            <a:r>
              <a:rPr lang="en-US" sz="1300"/>
              <a:t>70% of smallholder farmers lack access to certified seeds and fertilizers</a:t>
            </a:r>
            <a:endParaRPr/>
          </a:p>
          <a:p>
            <a:pPr indent="-171450" lvl="0" marL="171450" rtl="0" algn="l">
              <a:lnSpc>
                <a:spcPct val="90000"/>
              </a:lnSpc>
              <a:spcBef>
                <a:spcPts val="0"/>
              </a:spcBef>
              <a:spcAft>
                <a:spcPts val="0"/>
              </a:spcAft>
              <a:buSzPts val="1400"/>
              <a:buChar char="•"/>
            </a:pPr>
            <a:r>
              <a:rPr lang="en-US" sz="1300"/>
              <a:t>Delivery delays increase costs and reduce yields</a:t>
            </a:r>
            <a:endParaRPr/>
          </a:p>
          <a:p>
            <a:pPr indent="-171450" lvl="0" marL="171450" rtl="0" algn="l">
              <a:lnSpc>
                <a:spcPct val="90000"/>
              </a:lnSpc>
              <a:spcBef>
                <a:spcPts val="0"/>
              </a:spcBef>
              <a:spcAft>
                <a:spcPts val="0"/>
              </a:spcAft>
              <a:buSzPts val="1400"/>
              <a:buChar char="•"/>
            </a:pPr>
            <a:r>
              <a:rPr lang="en-US" sz="1300"/>
              <a:t>Unstable prices due to limited supply chains</a:t>
            </a:r>
            <a:endParaRPr/>
          </a:p>
          <a:p>
            <a:pPr indent="-171450" lvl="0" marL="171450" rtl="0" algn="l">
              <a:lnSpc>
                <a:spcPct val="90000"/>
              </a:lnSpc>
              <a:spcBef>
                <a:spcPts val="0"/>
              </a:spcBef>
              <a:spcAft>
                <a:spcPts val="0"/>
              </a:spcAft>
              <a:buSzPts val="1400"/>
              <a:buChar char="•"/>
            </a:pPr>
            <a:r>
              <a:rPr lang="en-US" sz="1300"/>
              <a:t>Few reliable distributors serve ruram areas</a:t>
            </a:r>
            <a:endParaRPr/>
          </a:p>
          <a:p>
            <a:pPr indent="0" lvl="0" marL="0" rtl="0" algn="l">
              <a:lnSpc>
                <a:spcPct val="90000"/>
              </a:lnSpc>
              <a:spcBef>
                <a:spcPts val="800"/>
              </a:spcBef>
              <a:spcAft>
                <a:spcPts val="0"/>
              </a:spcAft>
              <a:buSzPts val="1400"/>
              <a:buNone/>
            </a:pPr>
            <a:r>
              <a:rPr lang="en-US" sz="1300"/>
              <a:t>Impact: Lower productivity, income loss, dependence on imported inpunts</a:t>
            </a:r>
            <a:endParaRPr/>
          </a:p>
          <a:p>
            <a:pPr indent="0" lvl="0" marL="0" rtl="0" algn="l">
              <a:lnSpc>
                <a:spcPct val="90000"/>
              </a:lnSpc>
              <a:spcBef>
                <a:spcPts val="800"/>
              </a:spcBef>
              <a:spcAft>
                <a:spcPts val="0"/>
              </a:spcAft>
              <a:buSzPts val="1400"/>
              <a:buNone/>
            </a:pPr>
            <a:r>
              <a:rPr b="1" lang="en-US" sz="1300"/>
              <a:t>Sources:</a:t>
            </a:r>
            <a:endParaRPr/>
          </a:p>
          <a:p>
            <a:pPr indent="0" lvl="0" marL="0" rtl="0" algn="l">
              <a:lnSpc>
                <a:spcPct val="90000"/>
              </a:lnSpc>
              <a:spcBef>
                <a:spcPts val="800"/>
              </a:spcBef>
              <a:spcAft>
                <a:spcPts val="0"/>
              </a:spcAft>
              <a:buSzPts val="1400"/>
              <a:buNone/>
            </a:pPr>
            <a:r>
              <a:rPr lang="en-US" sz="1300"/>
              <a:t>FAO Reports (2023), DRC Ministry of Agriculture, J-PAL evaluation inpunt acess (2022).</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p4"/>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7" name="Google Shape;157;p4"/>
          <p:cNvSpPr/>
          <p:nvPr/>
        </p:nvSpPr>
        <p:spPr>
          <a:xfrm flipH="1" rot="3967198">
            <a:off x="6473511" y="367870"/>
            <a:ext cx="2240924" cy="2240924"/>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 name="Google Shape;158;p4"/>
          <p:cNvSpPr txBox="1"/>
          <p:nvPr>
            <p:ph type="title"/>
          </p:nvPr>
        </p:nvSpPr>
        <p:spPr>
          <a:xfrm>
            <a:off x="4421221" y="359619"/>
            <a:ext cx="4094129" cy="994173"/>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b="1" lang="en-US" sz="3100">
                <a:latin typeface="Arial"/>
                <a:ea typeface="Arial"/>
                <a:cs typeface="Arial"/>
                <a:sym typeface="Arial"/>
              </a:rPr>
              <a:t>Business Venture, Product or Services</a:t>
            </a:r>
            <a:endParaRPr/>
          </a:p>
        </p:txBody>
      </p:sp>
      <p:sp>
        <p:nvSpPr>
          <p:cNvPr id="159" name="Google Shape;159;p4"/>
          <p:cNvSpPr/>
          <p:nvPr/>
        </p:nvSpPr>
        <p:spPr>
          <a:xfrm flipH="1">
            <a:off x="0" y="4114800"/>
            <a:ext cx="2004647" cy="10287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shelf with food items and bags&#10;&#10;AI-generated content may be incorrect." id="160" name="Google Shape;160;p4"/>
          <p:cNvPicPr preferRelativeResize="0"/>
          <p:nvPr/>
        </p:nvPicPr>
        <p:blipFill rotWithShape="1">
          <a:blip r:embed="rId3">
            <a:alphaModFix/>
          </a:blip>
          <a:srcRect b="-1" l="15635" r="25160" t="0"/>
          <a:stretch/>
        </p:blipFill>
        <p:spPr>
          <a:xfrm>
            <a:off x="816966" y="383469"/>
            <a:ext cx="3003876" cy="4249253"/>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161" name="Google Shape;161;p4"/>
          <p:cNvSpPr txBox="1"/>
          <p:nvPr>
            <p:ph idx="1" type="body"/>
          </p:nvPr>
        </p:nvSpPr>
        <p:spPr>
          <a:xfrm>
            <a:off x="4421221" y="1488332"/>
            <a:ext cx="4094129" cy="3144390"/>
          </a:xfrm>
          <a:prstGeom prst="rect">
            <a:avLst/>
          </a:prstGeom>
          <a:noFill/>
          <a:ln>
            <a:noFill/>
          </a:ln>
        </p:spPr>
        <p:txBody>
          <a:bodyPr anchorCtr="0" anchor="t" bIns="34275" lIns="68575" spcFirstLastPara="1" rIns="68575" wrap="square" tIns="34275">
            <a:normAutofit/>
          </a:bodyPr>
          <a:lstStyle/>
          <a:p>
            <a:pPr indent="0" lvl="0" marL="139700" rtl="0" algn="l">
              <a:lnSpc>
                <a:spcPct val="90000"/>
              </a:lnSpc>
              <a:spcBef>
                <a:spcPts val="800"/>
              </a:spcBef>
              <a:spcAft>
                <a:spcPts val="0"/>
              </a:spcAft>
              <a:buSzPts val="1400"/>
              <a:buNone/>
            </a:pPr>
            <a:r>
              <a:rPr b="1" lang="en-US" sz="1300"/>
              <a:t>Our solution:</a:t>
            </a:r>
            <a:endParaRPr/>
          </a:p>
          <a:p>
            <a:pPr indent="0" lvl="0" marL="139700" rtl="0" algn="l">
              <a:lnSpc>
                <a:spcPct val="90000"/>
              </a:lnSpc>
              <a:spcBef>
                <a:spcPts val="800"/>
              </a:spcBef>
              <a:spcAft>
                <a:spcPts val="0"/>
              </a:spcAft>
              <a:buSzPts val="1400"/>
              <a:buNone/>
            </a:pPr>
            <a:r>
              <a:rPr lang="en-US" sz="1300"/>
              <a:t>MWANA MBOKA Builds a decentralized depot network connecting rural farmers to verified suppliers through digital and local channels</a:t>
            </a:r>
            <a:endParaRPr/>
          </a:p>
          <a:p>
            <a:pPr indent="0" lvl="0" marL="139700" rtl="0" algn="l">
              <a:lnSpc>
                <a:spcPct val="90000"/>
              </a:lnSpc>
              <a:spcBef>
                <a:spcPts val="800"/>
              </a:spcBef>
              <a:spcAft>
                <a:spcPts val="0"/>
              </a:spcAft>
              <a:buSzPts val="1400"/>
              <a:buNone/>
            </a:pPr>
            <a:r>
              <a:rPr b="1" lang="en-US" sz="1300"/>
              <a:t>How it works:</a:t>
            </a:r>
            <a:endParaRPr/>
          </a:p>
          <a:p>
            <a:pPr indent="-317500" lvl="0" marL="457200" rtl="0" algn="l">
              <a:lnSpc>
                <a:spcPct val="90000"/>
              </a:lnSpc>
              <a:spcBef>
                <a:spcPts val="0"/>
              </a:spcBef>
              <a:spcAft>
                <a:spcPts val="0"/>
              </a:spcAft>
              <a:buSzPts val="1400"/>
              <a:buChar char="•"/>
            </a:pPr>
            <a:r>
              <a:rPr lang="en-US" sz="1300"/>
              <a:t>Orders placed via whatsapp or local agents</a:t>
            </a:r>
            <a:endParaRPr/>
          </a:p>
          <a:p>
            <a:pPr indent="-317500" lvl="0" marL="457200" rtl="0" algn="l">
              <a:lnSpc>
                <a:spcPct val="90000"/>
              </a:lnSpc>
              <a:spcBef>
                <a:spcPts val="0"/>
              </a:spcBef>
              <a:spcAft>
                <a:spcPts val="0"/>
              </a:spcAft>
              <a:buSzPts val="1400"/>
              <a:buChar char="•"/>
            </a:pPr>
            <a:r>
              <a:rPr lang="en-US" sz="1300"/>
              <a:t>Depots process and dispatch through a shared logistics network</a:t>
            </a:r>
            <a:endParaRPr/>
          </a:p>
          <a:p>
            <a:pPr indent="-317500" lvl="0" marL="457200" rtl="0" algn="l">
              <a:lnSpc>
                <a:spcPct val="90000"/>
              </a:lnSpc>
              <a:spcBef>
                <a:spcPts val="0"/>
              </a:spcBef>
              <a:spcAft>
                <a:spcPts val="0"/>
              </a:spcAft>
              <a:buSzPts val="1400"/>
              <a:buChar char="•"/>
            </a:pPr>
            <a:r>
              <a:rPr lang="en-US" sz="1300"/>
              <a:t>Delivery within 24-48 hours , digitally tracked</a:t>
            </a:r>
            <a:endParaRPr/>
          </a:p>
          <a:p>
            <a:pPr indent="0" lvl="0" marL="139700" rtl="0" algn="l">
              <a:lnSpc>
                <a:spcPct val="90000"/>
              </a:lnSpc>
              <a:spcBef>
                <a:spcPts val="800"/>
              </a:spcBef>
              <a:spcAft>
                <a:spcPts val="0"/>
              </a:spcAft>
              <a:buSzPts val="1400"/>
              <a:buNone/>
            </a:pPr>
            <a:r>
              <a:rPr b="1" lang="en-US" sz="1300"/>
              <a:t>Value proposition:</a:t>
            </a:r>
            <a:endParaRPr/>
          </a:p>
          <a:p>
            <a:pPr indent="-317500" lvl="0" marL="457200" rtl="0" algn="l">
              <a:lnSpc>
                <a:spcPct val="90000"/>
              </a:lnSpc>
              <a:spcBef>
                <a:spcPts val="0"/>
              </a:spcBef>
              <a:spcAft>
                <a:spcPts val="0"/>
              </a:spcAft>
              <a:buSzPts val="1400"/>
              <a:buChar char="•"/>
            </a:pPr>
            <a:r>
              <a:rPr lang="en-US" sz="1300"/>
              <a:t>Certified, reliable inpunts</a:t>
            </a:r>
            <a:endParaRPr/>
          </a:p>
          <a:p>
            <a:pPr indent="-317500" lvl="0" marL="457200" rtl="0" algn="l">
              <a:lnSpc>
                <a:spcPct val="90000"/>
              </a:lnSpc>
              <a:spcBef>
                <a:spcPts val="0"/>
              </a:spcBef>
              <a:spcAft>
                <a:spcPts val="0"/>
              </a:spcAft>
              <a:buSzPts val="1400"/>
              <a:buChar char="•"/>
            </a:pPr>
            <a:r>
              <a:rPr lang="en-US" sz="1300"/>
              <a:t>Shorter delivery times</a:t>
            </a:r>
            <a:endParaRPr/>
          </a:p>
          <a:p>
            <a:pPr indent="-317500" lvl="0" marL="457200" rtl="0" algn="l">
              <a:lnSpc>
                <a:spcPct val="90000"/>
              </a:lnSpc>
              <a:spcBef>
                <a:spcPts val="0"/>
              </a:spcBef>
              <a:spcAft>
                <a:spcPts val="0"/>
              </a:spcAft>
              <a:buSzPts val="1400"/>
              <a:buChar char="•"/>
            </a:pPr>
            <a:r>
              <a:rPr lang="en-US" sz="1300"/>
              <a:t>Competitive prices</a:t>
            </a:r>
            <a:endParaRPr/>
          </a:p>
          <a:p>
            <a:pPr indent="-317500" lvl="0" marL="457200" rtl="0" algn="l">
              <a:lnSpc>
                <a:spcPct val="90000"/>
              </a:lnSpc>
              <a:spcBef>
                <a:spcPts val="0"/>
              </a:spcBef>
              <a:spcAft>
                <a:spcPts val="0"/>
              </a:spcAft>
              <a:buSzPts val="1400"/>
              <a:buChar char="•"/>
            </a:pPr>
            <a:r>
              <a:rPr lang="en-US" sz="1300"/>
              <a:t>Personal farmer support via field agents</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5"/>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7" name="Google Shape;167;p5"/>
          <p:cNvSpPr/>
          <p:nvPr/>
        </p:nvSpPr>
        <p:spPr>
          <a:xfrm flipH="1" rot="3967198">
            <a:off x="6473511" y="367870"/>
            <a:ext cx="2240924" cy="2240924"/>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 name="Google Shape;168;p5"/>
          <p:cNvSpPr txBox="1"/>
          <p:nvPr>
            <p:ph type="title"/>
          </p:nvPr>
        </p:nvSpPr>
        <p:spPr>
          <a:xfrm>
            <a:off x="4421221" y="359619"/>
            <a:ext cx="4094129" cy="994173"/>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b="1" lang="en-US">
                <a:latin typeface="Arial"/>
                <a:ea typeface="Arial"/>
                <a:cs typeface="Arial"/>
                <a:sym typeface="Arial"/>
              </a:rPr>
              <a:t>Cost Structure</a:t>
            </a:r>
            <a:endParaRPr/>
          </a:p>
        </p:txBody>
      </p:sp>
      <p:sp>
        <p:nvSpPr>
          <p:cNvPr id="169" name="Google Shape;169;p5"/>
          <p:cNvSpPr/>
          <p:nvPr/>
        </p:nvSpPr>
        <p:spPr>
          <a:xfrm flipH="1">
            <a:off x="0" y="4114800"/>
            <a:ext cx="2004647" cy="10287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0" name="Google Shape;170;p5"/>
          <p:cNvSpPr txBox="1"/>
          <p:nvPr>
            <p:ph idx="1" type="body"/>
          </p:nvPr>
        </p:nvSpPr>
        <p:spPr>
          <a:xfrm>
            <a:off x="4421221" y="1488332"/>
            <a:ext cx="4094129" cy="3144390"/>
          </a:xfrm>
          <a:prstGeom prst="rect">
            <a:avLst/>
          </a:prstGeom>
          <a:noFill/>
          <a:ln>
            <a:noFill/>
          </a:ln>
        </p:spPr>
        <p:txBody>
          <a:bodyPr anchorCtr="0" anchor="t" bIns="34275" lIns="68575" spcFirstLastPara="1" rIns="68575" wrap="square" tIns="34275">
            <a:normAutofit/>
          </a:bodyPr>
          <a:lstStyle/>
          <a:p>
            <a:pPr indent="0" lvl="0" marL="139700" rtl="0" algn="l">
              <a:lnSpc>
                <a:spcPct val="90000"/>
              </a:lnSpc>
              <a:spcBef>
                <a:spcPts val="800"/>
              </a:spcBef>
              <a:spcAft>
                <a:spcPts val="0"/>
              </a:spcAft>
              <a:buSzPts val="1400"/>
              <a:buNone/>
            </a:pPr>
            <a:r>
              <a:rPr b="1" lang="en-US"/>
              <a:t>Revenue Sources: </a:t>
            </a:r>
            <a:r>
              <a:rPr lang="en-US"/>
              <a:t>Direct depot sales, bulk to coopératives, commissions from rural retailers. </a:t>
            </a:r>
            <a:r>
              <a:rPr b="1" lang="en-US"/>
              <a:t>Gross Margin : 20-23%</a:t>
            </a:r>
            <a:endParaRPr b="1"/>
          </a:p>
        </p:txBody>
      </p:sp>
      <p:graphicFrame>
        <p:nvGraphicFramePr>
          <p:cNvPr id="171" name="Google Shape;171;p5"/>
          <p:cNvGraphicFramePr/>
          <p:nvPr/>
        </p:nvGraphicFramePr>
        <p:xfrm>
          <a:off x="527386" y="765999"/>
          <a:ext cx="3000000" cy="3000000"/>
        </p:xfrm>
        <a:graphic>
          <a:graphicData uri="http://schemas.openxmlformats.org/drawingml/2006/table">
            <a:tbl>
              <a:tblPr bandRow="1" firstRow="1">
                <a:noFill/>
                <a:tableStyleId>{BFC44526-852C-49A2-B4FF-3E78E5C846BC}</a:tableStyleId>
              </a:tblPr>
              <a:tblGrid>
                <a:gridCol w="1162400"/>
                <a:gridCol w="704625"/>
                <a:gridCol w="1716000"/>
              </a:tblGrid>
              <a:tr h="390900">
                <a:tc>
                  <a:txBody>
                    <a:bodyPr/>
                    <a:lstStyle/>
                    <a:p>
                      <a:pPr indent="0" lvl="0" marL="0" marR="0" rtl="0" algn="l">
                        <a:lnSpc>
                          <a:spcPct val="100000"/>
                        </a:lnSpc>
                        <a:spcBef>
                          <a:spcPts val="0"/>
                        </a:spcBef>
                        <a:spcAft>
                          <a:spcPts val="0"/>
                        </a:spcAft>
                        <a:buNone/>
                      </a:pPr>
                      <a:r>
                        <a:rPr b="1" lang="en-US" sz="1200" u="none" cap="none" strike="noStrike">
                          <a:solidFill>
                            <a:schemeClr val="dk1"/>
                          </a:solidFill>
                        </a:rPr>
                        <a:t>Category</a:t>
                      </a:r>
                      <a:endParaRPr b="1" sz="1200" u="none" cap="none" strike="noStrike">
                        <a:solidFill>
                          <a:schemeClr val="dk1"/>
                        </a:solidFill>
                      </a:endParaRPr>
                    </a:p>
                  </a:txBody>
                  <a:tcPr marT="19525" marB="146525" marR="48850" marL="0" anchor="ctr"/>
                </a:tc>
                <a:tc>
                  <a:txBody>
                    <a:bodyPr/>
                    <a:lstStyle/>
                    <a:p>
                      <a:pPr indent="0" lvl="0" marL="0" marR="0" rtl="0" algn="l">
                        <a:lnSpc>
                          <a:spcPct val="100000"/>
                        </a:lnSpc>
                        <a:spcBef>
                          <a:spcPts val="0"/>
                        </a:spcBef>
                        <a:spcAft>
                          <a:spcPts val="0"/>
                        </a:spcAft>
                        <a:buNone/>
                      </a:pPr>
                      <a:r>
                        <a:rPr b="1" lang="en-US" sz="1200" u="none" cap="none" strike="noStrike">
                          <a:solidFill>
                            <a:schemeClr val="dk1"/>
                          </a:solidFill>
                        </a:rPr>
                        <a:t>Share</a:t>
                      </a:r>
                      <a:endParaRPr b="1" sz="1200" u="none" cap="none" strike="noStrike">
                        <a:solidFill>
                          <a:schemeClr val="dk1"/>
                        </a:solidFill>
                      </a:endParaRPr>
                    </a:p>
                  </a:txBody>
                  <a:tcPr marT="19525" marB="146525" marR="48850" marL="0" anchor="ctr"/>
                </a:tc>
                <a:tc>
                  <a:txBody>
                    <a:bodyPr/>
                    <a:lstStyle/>
                    <a:p>
                      <a:pPr indent="0" lvl="0" marL="0" marR="0" rtl="0" algn="l">
                        <a:lnSpc>
                          <a:spcPct val="100000"/>
                        </a:lnSpc>
                        <a:spcBef>
                          <a:spcPts val="0"/>
                        </a:spcBef>
                        <a:spcAft>
                          <a:spcPts val="0"/>
                        </a:spcAft>
                        <a:buNone/>
                      </a:pPr>
                      <a:r>
                        <a:rPr b="1" lang="en-US" sz="1200" u="none" cap="none" strike="noStrike">
                          <a:solidFill>
                            <a:schemeClr val="dk1"/>
                          </a:solidFill>
                        </a:rPr>
                        <a:t>Description</a:t>
                      </a:r>
                      <a:endParaRPr/>
                    </a:p>
                  </a:txBody>
                  <a:tcPr marT="19525" marB="146525" marR="48850" marL="0" anchor="ctr"/>
                </a:tc>
              </a:tr>
              <a:tr h="770500">
                <a:tc>
                  <a:txBody>
                    <a:bodyPr/>
                    <a:lstStyle/>
                    <a:p>
                      <a:pPr indent="0" lvl="0" marL="0" marR="0" rtl="0" algn="l">
                        <a:lnSpc>
                          <a:spcPct val="100000"/>
                        </a:lnSpc>
                        <a:spcBef>
                          <a:spcPts val="0"/>
                        </a:spcBef>
                        <a:spcAft>
                          <a:spcPts val="0"/>
                        </a:spcAft>
                        <a:buNone/>
                      </a:pPr>
                      <a:r>
                        <a:rPr lang="en-US" sz="1200" u="none" cap="none" strike="noStrike">
                          <a:solidFill>
                            <a:schemeClr val="dk1"/>
                          </a:solidFill>
                        </a:rPr>
                        <a:t>Procurement</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50-55%</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Certified seeds, Fertilizers, poultry inpunts</a:t>
                      </a:r>
                      <a:endParaRPr sz="1200" u="none" cap="none" strike="noStrike">
                        <a:solidFill>
                          <a:schemeClr val="dk1"/>
                        </a:solidFill>
                      </a:endParaRPr>
                    </a:p>
                  </a:txBody>
                  <a:tcPr marT="19525" marB="146525" marR="48850" marL="0"/>
                </a:tc>
              </a:tr>
              <a:tr h="580700">
                <a:tc>
                  <a:txBody>
                    <a:bodyPr/>
                    <a:lstStyle/>
                    <a:p>
                      <a:pPr indent="0" lvl="0" marL="0" marR="0" rtl="0" algn="l">
                        <a:lnSpc>
                          <a:spcPct val="100000"/>
                        </a:lnSpc>
                        <a:spcBef>
                          <a:spcPts val="0"/>
                        </a:spcBef>
                        <a:spcAft>
                          <a:spcPts val="0"/>
                        </a:spcAft>
                        <a:buNone/>
                      </a:pPr>
                      <a:r>
                        <a:rPr lang="en-US" sz="1200" u="none" cap="none" strike="noStrike">
                          <a:solidFill>
                            <a:schemeClr val="dk1"/>
                          </a:solidFill>
                        </a:rPr>
                        <a:t>Depot Operations</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25%</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Rent, Utilities, Staffing</a:t>
                      </a:r>
                      <a:endParaRPr sz="1200" u="none" cap="none" strike="noStrike">
                        <a:solidFill>
                          <a:schemeClr val="dk1"/>
                        </a:solidFill>
                      </a:endParaRPr>
                    </a:p>
                  </a:txBody>
                  <a:tcPr marT="19525" marB="146525" marR="48850" marL="0"/>
                </a:tc>
              </a:tr>
              <a:tr h="580700">
                <a:tc>
                  <a:txBody>
                    <a:bodyPr/>
                    <a:lstStyle/>
                    <a:p>
                      <a:pPr indent="0" lvl="0" marL="0" marR="0" rtl="0" algn="l">
                        <a:lnSpc>
                          <a:spcPct val="100000"/>
                        </a:lnSpc>
                        <a:spcBef>
                          <a:spcPts val="0"/>
                        </a:spcBef>
                        <a:spcAft>
                          <a:spcPts val="0"/>
                        </a:spcAft>
                        <a:buNone/>
                      </a:pPr>
                      <a:r>
                        <a:rPr lang="en-US" sz="1200" u="none" cap="none" strike="noStrike">
                          <a:solidFill>
                            <a:schemeClr val="dk1"/>
                          </a:solidFill>
                        </a:rPr>
                        <a:t>Transport &amp; Delivery</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10-15%</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Inter-depot and Rural deliveries</a:t>
                      </a:r>
                      <a:endParaRPr sz="1200" u="none" cap="none" strike="noStrike">
                        <a:solidFill>
                          <a:schemeClr val="dk1"/>
                        </a:solidFill>
                      </a:endParaRPr>
                    </a:p>
                  </a:txBody>
                  <a:tcPr marT="19525" marB="146525" marR="48850" marL="0"/>
                </a:tc>
              </a:tr>
              <a:tr h="580700">
                <a:tc>
                  <a:txBody>
                    <a:bodyPr/>
                    <a:lstStyle/>
                    <a:p>
                      <a:pPr indent="0" lvl="0" marL="0" marR="0" rtl="0" algn="l">
                        <a:lnSpc>
                          <a:spcPct val="100000"/>
                        </a:lnSpc>
                        <a:spcBef>
                          <a:spcPts val="0"/>
                        </a:spcBef>
                        <a:spcAft>
                          <a:spcPts val="0"/>
                        </a:spcAft>
                        <a:buNone/>
                      </a:pPr>
                      <a:r>
                        <a:rPr lang="en-US" sz="1200" u="none" cap="none" strike="noStrike">
                          <a:solidFill>
                            <a:schemeClr val="dk1"/>
                          </a:solidFill>
                        </a:rPr>
                        <a:t>Marketing</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3%</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Flyers, Campaigns, Whatsapp</a:t>
                      </a:r>
                      <a:endParaRPr sz="1200" u="none" cap="none" strike="noStrike">
                        <a:solidFill>
                          <a:schemeClr val="dk1"/>
                        </a:solidFill>
                      </a:endParaRPr>
                    </a:p>
                  </a:txBody>
                  <a:tcPr marT="19525" marB="146525" marR="48850" marL="0"/>
                </a:tc>
              </a:tr>
              <a:tr h="580700">
                <a:tc>
                  <a:txBody>
                    <a:bodyPr/>
                    <a:lstStyle/>
                    <a:p>
                      <a:pPr indent="0" lvl="0" marL="0" marR="0" rtl="0" algn="l">
                        <a:lnSpc>
                          <a:spcPct val="100000"/>
                        </a:lnSpc>
                        <a:spcBef>
                          <a:spcPts val="0"/>
                        </a:spcBef>
                        <a:spcAft>
                          <a:spcPts val="0"/>
                        </a:spcAft>
                        <a:buNone/>
                      </a:pPr>
                      <a:r>
                        <a:rPr lang="en-US" sz="1200" u="none" cap="none" strike="noStrike">
                          <a:solidFill>
                            <a:schemeClr val="dk1"/>
                          </a:solidFill>
                        </a:rPr>
                        <a:t>Administration</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2%</a:t>
                      </a:r>
                      <a:endParaRPr sz="1200" u="none" cap="none" strike="noStrike">
                        <a:solidFill>
                          <a:schemeClr val="dk1"/>
                        </a:solidFill>
                      </a:endParaRPr>
                    </a:p>
                  </a:txBody>
                  <a:tcPr marT="19525" marB="146525" marR="48850" marL="0"/>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Accounting, Communication</a:t>
                      </a:r>
                      <a:endParaRPr sz="1200" u="none" cap="none" strike="noStrike">
                        <a:solidFill>
                          <a:schemeClr val="dk1"/>
                        </a:solidFill>
                      </a:endParaRPr>
                    </a:p>
                  </a:txBody>
                  <a:tcPr marT="19525" marB="146525" marR="48850" marL="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6"/>
          <p:cNvSpPr/>
          <p:nvPr/>
        </p:nvSpPr>
        <p:spPr>
          <a:xfrm>
            <a:off x="0" y="0"/>
            <a:ext cx="9143999" cy="51430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 name="Google Shape;177;p6"/>
          <p:cNvSpPr txBox="1"/>
          <p:nvPr>
            <p:ph type="title"/>
          </p:nvPr>
        </p:nvSpPr>
        <p:spPr>
          <a:xfrm>
            <a:off x="449706" y="509798"/>
            <a:ext cx="3128996" cy="280240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400"/>
              <a:buNone/>
            </a:pPr>
            <a:r>
              <a:rPr b="1" lang="en-US" sz="5600">
                <a:solidFill>
                  <a:schemeClr val="dk1"/>
                </a:solidFill>
                <a:latin typeface="Arial"/>
                <a:ea typeface="Arial"/>
                <a:cs typeface="Arial"/>
                <a:sym typeface="Arial"/>
              </a:rPr>
              <a:t>Market Size and Growth</a:t>
            </a:r>
            <a:endParaRPr/>
          </a:p>
        </p:txBody>
      </p:sp>
      <p:sp>
        <p:nvSpPr>
          <p:cNvPr id="178" name="Google Shape;178;p6"/>
          <p:cNvSpPr txBox="1"/>
          <p:nvPr>
            <p:ph idx="1" type="body"/>
          </p:nvPr>
        </p:nvSpPr>
        <p:spPr>
          <a:xfrm>
            <a:off x="449706" y="3513966"/>
            <a:ext cx="3128996" cy="7768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400"/>
              <a:buNone/>
            </a:pPr>
            <a:r>
              <a:rPr b="1" lang="en-US" sz="1300">
                <a:solidFill>
                  <a:schemeClr val="dk1"/>
                </a:solidFill>
                <a:latin typeface="Arial"/>
                <a:ea typeface="Arial"/>
                <a:cs typeface="Arial"/>
                <a:sym typeface="Arial"/>
              </a:rPr>
              <a:t>Goal: grow local Market share from 0,44% (2024) to 1,5% (2026)</a:t>
            </a:r>
            <a:endParaRPr/>
          </a:p>
        </p:txBody>
      </p:sp>
      <p:grpSp>
        <p:nvGrpSpPr>
          <p:cNvPr id="179" name="Google Shape;179;p6"/>
          <p:cNvGrpSpPr/>
          <p:nvPr/>
        </p:nvGrpSpPr>
        <p:grpSpPr>
          <a:xfrm>
            <a:off x="7062324" y="0"/>
            <a:ext cx="1834788" cy="5777808"/>
            <a:chOff x="329184" y="1"/>
            <a:chExt cx="524256" cy="5777808"/>
          </a:xfrm>
        </p:grpSpPr>
        <p:cxnSp>
          <p:nvCxnSpPr>
            <p:cNvPr id="180" name="Google Shape;180;p6"/>
            <p:cNvCxnSpPr/>
            <p:nvPr/>
          </p:nvCxnSpPr>
          <p:spPr>
            <a:xfrm rot="10800000">
              <a:off x="329184" y="5777809"/>
              <a:ext cx="521208" cy="0"/>
            </a:xfrm>
            <a:prstGeom prst="straightConnector1">
              <a:avLst/>
            </a:prstGeom>
            <a:noFill/>
            <a:ln cap="flat" cmpd="sng" w="152400">
              <a:solidFill>
                <a:schemeClr val="accent4"/>
              </a:solidFill>
              <a:prstDash val="solid"/>
              <a:round/>
              <a:headEnd len="sm" w="sm" type="none"/>
              <a:tailEnd len="sm" w="sm" type="none"/>
            </a:ln>
          </p:spPr>
        </p:cxnSp>
        <p:sp>
          <p:nvSpPr>
            <p:cNvPr id="181" name="Google Shape;181;p6"/>
            <p:cNvSpPr/>
            <p:nvPr/>
          </p:nvSpPr>
          <p:spPr>
            <a:xfrm>
              <a:off x="329184" y="1"/>
              <a:ext cx="524256" cy="553211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82" name="Google Shape;182;p6"/>
          <p:cNvSpPr/>
          <p:nvPr/>
        </p:nvSpPr>
        <p:spPr>
          <a:xfrm>
            <a:off x="4039948" y="201993"/>
            <a:ext cx="4587584" cy="4656582"/>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183" name="Google Shape;183;p6"/>
          <p:cNvGraphicFramePr/>
          <p:nvPr/>
        </p:nvGraphicFramePr>
        <p:xfrm>
          <a:off x="4349864" y="418020"/>
          <a:ext cx="3000000" cy="3000000"/>
        </p:xfrm>
        <a:graphic>
          <a:graphicData uri="http://schemas.openxmlformats.org/drawingml/2006/table">
            <a:tbl>
              <a:tblPr bandRow="1" firstRow="1">
                <a:noFill/>
                <a:tableStyleId>{BFC44526-852C-49A2-B4FF-3E78E5C846BC}</a:tableStyleId>
              </a:tblPr>
              <a:tblGrid>
                <a:gridCol w="1559775"/>
                <a:gridCol w="2408000"/>
              </a:tblGrid>
              <a:tr h="369350">
                <a:tc>
                  <a:txBody>
                    <a:bodyPr/>
                    <a:lstStyle/>
                    <a:p>
                      <a:pPr indent="0" lvl="0" marL="0" marR="0" rtl="0" algn="l">
                        <a:lnSpc>
                          <a:spcPct val="100000"/>
                        </a:lnSpc>
                        <a:spcBef>
                          <a:spcPts val="0"/>
                        </a:spcBef>
                        <a:spcAft>
                          <a:spcPts val="0"/>
                        </a:spcAft>
                        <a:buNone/>
                      </a:pPr>
                      <a:r>
                        <a:rPr b="1" lang="en-US" sz="900" u="none" cap="none" strike="noStrike">
                          <a:solidFill>
                            <a:schemeClr val="dk1"/>
                          </a:solidFill>
                        </a:rPr>
                        <a:t>ELEMENT</a:t>
                      </a:r>
                      <a:endParaRPr b="1" sz="900" u="none" cap="none" strike="noStrike">
                        <a:solidFill>
                          <a:schemeClr val="dk1"/>
                        </a:solidFill>
                      </a:endParaRPr>
                    </a:p>
                  </a:txBody>
                  <a:tcPr marT="99475" marB="99475" marR="99475" marL="99475"/>
                </a:tc>
                <a:tc>
                  <a:txBody>
                    <a:bodyPr/>
                    <a:lstStyle/>
                    <a:p>
                      <a:pPr indent="0" lvl="0" marL="0" marR="0" rtl="0" algn="l">
                        <a:lnSpc>
                          <a:spcPct val="100000"/>
                        </a:lnSpc>
                        <a:spcBef>
                          <a:spcPts val="0"/>
                        </a:spcBef>
                        <a:spcAft>
                          <a:spcPts val="0"/>
                        </a:spcAft>
                        <a:buNone/>
                      </a:pPr>
                      <a:r>
                        <a:rPr b="1" lang="en-US" sz="900" u="none" cap="none" strike="noStrike">
                          <a:solidFill>
                            <a:schemeClr val="dk1"/>
                          </a:solidFill>
                        </a:rPr>
                        <a:t>KEY INSIGHTS</a:t>
                      </a:r>
                      <a:endParaRPr b="1" sz="900" u="none" cap="none" strike="noStrike">
                        <a:solidFill>
                          <a:schemeClr val="dk1"/>
                        </a:solidFill>
                      </a:endParaRPr>
                    </a:p>
                  </a:txBody>
                  <a:tcPr marT="99475" marB="99475" marR="99475" marL="99475"/>
                </a:tc>
              </a:tr>
              <a:tr h="859700">
                <a:tc>
                  <a:txBody>
                    <a:bodyPr/>
                    <a:lstStyle/>
                    <a:p>
                      <a:pPr indent="0" lvl="0" marL="0" marR="0" rtl="0" algn="l">
                        <a:lnSpc>
                          <a:spcPct val="100000"/>
                        </a:lnSpc>
                        <a:spcBef>
                          <a:spcPts val="0"/>
                        </a:spcBef>
                        <a:spcAft>
                          <a:spcPts val="0"/>
                        </a:spcAft>
                        <a:buNone/>
                      </a:pPr>
                      <a:r>
                        <a:rPr lang="en-US" sz="1200" u="none" cap="none" strike="noStrike">
                          <a:solidFill>
                            <a:schemeClr val="dk1"/>
                          </a:solidFill>
                        </a:rPr>
                        <a:t>Target Market</a:t>
                      </a:r>
                      <a:endParaRPr sz="1200" u="none" cap="none" strike="noStrike">
                        <a:solidFill>
                          <a:schemeClr val="dk1"/>
                        </a:solidFill>
                      </a:endParaRPr>
                    </a:p>
                  </a:txBody>
                  <a:tcPr marT="33150" marB="66325" marR="66325" marL="66325"/>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Small/Medium farmers, coopératives, poultry producers in Lubumbashi, Kipushi ,Fungurume &amp; Kasumbalesa</a:t>
                      </a:r>
                      <a:endParaRPr sz="1200" u="none" cap="none" strike="noStrike">
                        <a:solidFill>
                          <a:schemeClr val="dk1"/>
                        </a:solidFill>
                      </a:endParaRPr>
                    </a:p>
                  </a:txBody>
                  <a:tcPr marT="33150" marB="66325" marR="66325" marL="66325"/>
                </a:tc>
              </a:tr>
              <a:tr h="499250">
                <a:tc>
                  <a:txBody>
                    <a:bodyPr/>
                    <a:lstStyle/>
                    <a:p>
                      <a:pPr indent="0" lvl="0" marL="0" marR="0" rtl="0" algn="l">
                        <a:lnSpc>
                          <a:spcPct val="100000"/>
                        </a:lnSpc>
                        <a:spcBef>
                          <a:spcPts val="0"/>
                        </a:spcBef>
                        <a:spcAft>
                          <a:spcPts val="0"/>
                        </a:spcAft>
                        <a:buNone/>
                      </a:pPr>
                      <a:r>
                        <a:rPr lang="en-US" sz="1200" u="none" cap="none" strike="noStrike">
                          <a:solidFill>
                            <a:schemeClr val="dk1"/>
                          </a:solidFill>
                        </a:rPr>
                        <a:t>Market size (Local)</a:t>
                      </a:r>
                      <a:endParaRPr sz="1200" u="none" cap="none" strike="noStrike">
                        <a:solidFill>
                          <a:schemeClr val="dk1"/>
                        </a:solidFill>
                      </a:endParaRPr>
                    </a:p>
                  </a:txBody>
                  <a:tcPr marT="33150" marB="66325" marR="66325" marL="66325"/>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About $10 million/year, growing 7,5% annualy(FAO 2024)</a:t>
                      </a:r>
                      <a:endParaRPr sz="1200" u="none" cap="none" strike="noStrike">
                        <a:solidFill>
                          <a:schemeClr val="dk1"/>
                        </a:solidFill>
                      </a:endParaRPr>
                    </a:p>
                  </a:txBody>
                  <a:tcPr marT="33150" marB="66325" marR="66325" marL="66325"/>
                </a:tc>
              </a:tr>
              <a:tr h="499250">
                <a:tc>
                  <a:txBody>
                    <a:bodyPr/>
                    <a:lstStyle/>
                    <a:p>
                      <a:pPr indent="0" lvl="0" marL="0" marR="0" rtl="0" algn="l">
                        <a:lnSpc>
                          <a:spcPct val="100000"/>
                        </a:lnSpc>
                        <a:spcBef>
                          <a:spcPts val="0"/>
                        </a:spcBef>
                        <a:spcAft>
                          <a:spcPts val="0"/>
                        </a:spcAft>
                        <a:buNone/>
                      </a:pPr>
                      <a:r>
                        <a:rPr lang="en-US" sz="1200" u="none" cap="none" strike="noStrike">
                          <a:solidFill>
                            <a:schemeClr val="dk1"/>
                          </a:solidFill>
                        </a:rPr>
                        <a:t>Customers needs</a:t>
                      </a:r>
                      <a:endParaRPr sz="1200" u="none" cap="none" strike="noStrike">
                        <a:solidFill>
                          <a:schemeClr val="dk1"/>
                        </a:solidFill>
                      </a:endParaRPr>
                    </a:p>
                  </a:txBody>
                  <a:tcPr marT="33150" marB="66325" marR="66325" marL="66325"/>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Reliable supply, stable prices, expert advice, quick delivery</a:t>
                      </a:r>
                      <a:endParaRPr sz="1200" u="none" cap="none" strike="noStrike">
                        <a:solidFill>
                          <a:schemeClr val="dk1"/>
                        </a:solidFill>
                      </a:endParaRPr>
                    </a:p>
                  </a:txBody>
                  <a:tcPr marT="33150" marB="66325" marR="66325" marL="66325"/>
                </a:tc>
              </a:tr>
              <a:tr h="499250">
                <a:tc>
                  <a:txBody>
                    <a:bodyPr/>
                    <a:lstStyle/>
                    <a:p>
                      <a:pPr indent="0" lvl="0" marL="0" marR="0" rtl="0" algn="l">
                        <a:lnSpc>
                          <a:spcPct val="100000"/>
                        </a:lnSpc>
                        <a:spcBef>
                          <a:spcPts val="0"/>
                        </a:spcBef>
                        <a:spcAft>
                          <a:spcPts val="0"/>
                        </a:spcAft>
                        <a:buNone/>
                      </a:pPr>
                      <a:r>
                        <a:rPr lang="en-US" sz="1200" u="none" cap="none" strike="noStrike">
                          <a:solidFill>
                            <a:schemeClr val="dk1"/>
                          </a:solidFill>
                        </a:rPr>
                        <a:t>Competitors</a:t>
                      </a:r>
                      <a:endParaRPr sz="1200" u="none" cap="none" strike="noStrike">
                        <a:solidFill>
                          <a:schemeClr val="dk1"/>
                        </a:solidFill>
                      </a:endParaRPr>
                    </a:p>
                  </a:txBody>
                  <a:tcPr marT="33150" marB="66325" marR="66325" marL="66325"/>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Small informal distributors, weak logistics, poor stock consistency</a:t>
                      </a:r>
                      <a:endParaRPr sz="1200" u="none" cap="none" strike="noStrike">
                        <a:solidFill>
                          <a:schemeClr val="dk1"/>
                        </a:solidFill>
                      </a:endParaRPr>
                    </a:p>
                  </a:txBody>
                  <a:tcPr marT="33150" marB="66325" marR="66325" marL="66325"/>
                </a:tc>
              </a:tr>
              <a:tr h="499250">
                <a:tc>
                  <a:txBody>
                    <a:bodyPr/>
                    <a:lstStyle/>
                    <a:p>
                      <a:pPr indent="0" lvl="0" marL="0" marR="0" rtl="0" algn="l">
                        <a:lnSpc>
                          <a:spcPct val="100000"/>
                        </a:lnSpc>
                        <a:spcBef>
                          <a:spcPts val="0"/>
                        </a:spcBef>
                        <a:spcAft>
                          <a:spcPts val="0"/>
                        </a:spcAft>
                        <a:buNone/>
                      </a:pPr>
                      <a:r>
                        <a:rPr lang="en-US" sz="1200" u="none" cap="none" strike="noStrike">
                          <a:solidFill>
                            <a:schemeClr val="dk1"/>
                          </a:solidFill>
                        </a:rPr>
                        <a:t>Market trends</a:t>
                      </a:r>
                      <a:endParaRPr sz="1200" u="none" cap="none" strike="noStrike">
                        <a:solidFill>
                          <a:schemeClr val="dk1"/>
                        </a:solidFill>
                      </a:endParaRPr>
                    </a:p>
                  </a:txBody>
                  <a:tcPr marT="33150" marB="66325" marR="66325" marL="66325"/>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Modern inpunt adoption, poultry boom, mobile ordering</a:t>
                      </a:r>
                      <a:endParaRPr sz="1200" u="none" cap="none" strike="noStrike">
                        <a:solidFill>
                          <a:schemeClr val="dk1"/>
                        </a:solidFill>
                      </a:endParaRPr>
                    </a:p>
                  </a:txBody>
                  <a:tcPr marT="33150" marB="66325" marR="66325" marL="66325"/>
                </a:tc>
              </a:tr>
              <a:tr h="499250">
                <a:tc>
                  <a:txBody>
                    <a:bodyPr/>
                    <a:lstStyle/>
                    <a:p>
                      <a:pPr indent="0" lvl="0" marL="0" marR="0" rtl="0" algn="l">
                        <a:lnSpc>
                          <a:spcPct val="100000"/>
                        </a:lnSpc>
                        <a:spcBef>
                          <a:spcPts val="0"/>
                        </a:spcBef>
                        <a:spcAft>
                          <a:spcPts val="0"/>
                        </a:spcAft>
                        <a:buNone/>
                      </a:pPr>
                      <a:r>
                        <a:rPr lang="en-US" sz="1200" u="none" cap="none" strike="noStrike">
                          <a:solidFill>
                            <a:schemeClr val="dk1"/>
                          </a:solidFill>
                        </a:rPr>
                        <a:t>Expansion potential</a:t>
                      </a:r>
                      <a:endParaRPr sz="1200" u="none" cap="none" strike="noStrike">
                        <a:solidFill>
                          <a:schemeClr val="dk1"/>
                        </a:solidFill>
                      </a:endParaRPr>
                    </a:p>
                  </a:txBody>
                  <a:tcPr marT="33150" marB="66325" marR="66325" marL="66325"/>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New depot in Kasumbalesa and Fungurume (2026)</a:t>
                      </a:r>
                      <a:endParaRPr sz="1200" u="none" cap="none" strike="noStrike">
                        <a:solidFill>
                          <a:schemeClr val="dk1"/>
                        </a:solidFill>
                      </a:endParaRPr>
                    </a:p>
                  </a:txBody>
                  <a:tcPr marT="33150" marB="66325" marR="66325" marL="66325"/>
                </a:tc>
              </a:tr>
              <a:tr h="499250">
                <a:tc>
                  <a:txBody>
                    <a:bodyPr/>
                    <a:lstStyle/>
                    <a:p>
                      <a:pPr indent="0" lvl="0" marL="0" marR="0" rtl="0" algn="l">
                        <a:lnSpc>
                          <a:spcPct val="100000"/>
                        </a:lnSpc>
                        <a:spcBef>
                          <a:spcPts val="0"/>
                        </a:spcBef>
                        <a:spcAft>
                          <a:spcPts val="0"/>
                        </a:spcAft>
                        <a:buNone/>
                      </a:pPr>
                      <a:r>
                        <a:rPr lang="en-US" sz="1200" u="none" cap="none" strike="noStrike">
                          <a:solidFill>
                            <a:schemeClr val="dk1"/>
                          </a:solidFill>
                        </a:rPr>
                        <a:t>Risk Mitigation</a:t>
                      </a:r>
                      <a:endParaRPr sz="1200" u="none" cap="none" strike="noStrike">
                        <a:solidFill>
                          <a:schemeClr val="dk1"/>
                        </a:solidFill>
                      </a:endParaRPr>
                    </a:p>
                  </a:txBody>
                  <a:tcPr marT="33150" marB="66325" marR="66325" marL="66325"/>
                </a:tc>
                <a:tc>
                  <a:txBody>
                    <a:bodyPr/>
                    <a:lstStyle/>
                    <a:p>
                      <a:pPr indent="0" lvl="0" marL="0" marR="0" rtl="0" algn="l">
                        <a:lnSpc>
                          <a:spcPct val="100000"/>
                        </a:lnSpc>
                        <a:spcBef>
                          <a:spcPts val="0"/>
                        </a:spcBef>
                        <a:spcAft>
                          <a:spcPts val="0"/>
                        </a:spcAft>
                        <a:buNone/>
                      </a:pPr>
                      <a:r>
                        <a:rPr lang="en-US" sz="1200" u="none" cap="none" strike="noStrike">
                          <a:solidFill>
                            <a:schemeClr val="dk1"/>
                          </a:solidFill>
                        </a:rPr>
                        <a:t>Multiple suppliers, Whatsapp tracking, regular audits</a:t>
                      </a:r>
                      <a:endParaRPr sz="1200" u="none" cap="none" strike="noStrike">
                        <a:solidFill>
                          <a:schemeClr val="dk1"/>
                        </a:solidFill>
                      </a:endParaRPr>
                    </a:p>
                  </a:txBody>
                  <a:tcPr marT="33150" marB="66325" marR="66325" marL="663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7"/>
          <p:cNvSpPr/>
          <p:nvPr/>
        </p:nvSpPr>
        <p:spPr>
          <a:xfrm>
            <a:off x="0" y="0"/>
            <a:ext cx="9143999" cy="51430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7"/>
          <p:cNvSpPr txBox="1"/>
          <p:nvPr>
            <p:ph type="title"/>
          </p:nvPr>
        </p:nvSpPr>
        <p:spPr>
          <a:xfrm>
            <a:off x="449706" y="509798"/>
            <a:ext cx="3128996" cy="280240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400"/>
              <a:buNone/>
            </a:pPr>
            <a:r>
              <a:rPr b="1" lang="en-US" sz="4700">
                <a:solidFill>
                  <a:schemeClr val="dk1"/>
                </a:solidFill>
                <a:latin typeface="Arial"/>
                <a:ea typeface="Arial"/>
                <a:cs typeface="Arial"/>
                <a:sym typeface="Arial"/>
              </a:rPr>
              <a:t>Marketing and Sales Strategy</a:t>
            </a:r>
            <a:endParaRPr/>
          </a:p>
        </p:txBody>
      </p:sp>
      <p:sp>
        <p:nvSpPr>
          <p:cNvPr id="190" name="Google Shape;190;p7"/>
          <p:cNvSpPr txBox="1"/>
          <p:nvPr>
            <p:ph idx="1" type="body"/>
          </p:nvPr>
        </p:nvSpPr>
        <p:spPr>
          <a:xfrm>
            <a:off x="449706" y="3513966"/>
            <a:ext cx="3128996" cy="7768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400"/>
              <a:buNone/>
            </a:pPr>
            <a:r>
              <a:rPr b="1" lang="en-US" sz="1700">
                <a:solidFill>
                  <a:schemeClr val="dk1"/>
                </a:solidFill>
                <a:latin typeface="Arial"/>
                <a:ea typeface="Arial"/>
                <a:cs typeface="Arial"/>
                <a:sym typeface="Arial"/>
              </a:rPr>
              <a:t>Expected impact: +46% client base growth in 2026</a:t>
            </a:r>
            <a:endParaRPr/>
          </a:p>
        </p:txBody>
      </p:sp>
      <p:grpSp>
        <p:nvGrpSpPr>
          <p:cNvPr id="191" name="Google Shape;191;p7"/>
          <p:cNvGrpSpPr/>
          <p:nvPr/>
        </p:nvGrpSpPr>
        <p:grpSpPr>
          <a:xfrm>
            <a:off x="7062324" y="0"/>
            <a:ext cx="1834788" cy="5777808"/>
            <a:chOff x="329184" y="1"/>
            <a:chExt cx="524256" cy="5777808"/>
          </a:xfrm>
        </p:grpSpPr>
        <p:cxnSp>
          <p:nvCxnSpPr>
            <p:cNvPr id="192" name="Google Shape;192;p7"/>
            <p:cNvCxnSpPr/>
            <p:nvPr/>
          </p:nvCxnSpPr>
          <p:spPr>
            <a:xfrm rot="10800000">
              <a:off x="329184" y="5777809"/>
              <a:ext cx="521208" cy="0"/>
            </a:xfrm>
            <a:prstGeom prst="straightConnector1">
              <a:avLst/>
            </a:prstGeom>
            <a:noFill/>
            <a:ln cap="flat" cmpd="sng" w="152400">
              <a:solidFill>
                <a:schemeClr val="accent4"/>
              </a:solidFill>
              <a:prstDash val="solid"/>
              <a:round/>
              <a:headEnd len="sm" w="sm" type="none"/>
              <a:tailEnd len="sm" w="sm" type="none"/>
            </a:ln>
          </p:spPr>
        </p:cxnSp>
        <p:sp>
          <p:nvSpPr>
            <p:cNvPr id="193" name="Google Shape;193;p7"/>
            <p:cNvSpPr/>
            <p:nvPr/>
          </p:nvSpPr>
          <p:spPr>
            <a:xfrm>
              <a:off x="329184" y="1"/>
              <a:ext cx="524256" cy="553211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94" name="Google Shape;194;p7"/>
          <p:cNvSpPr/>
          <p:nvPr/>
        </p:nvSpPr>
        <p:spPr>
          <a:xfrm>
            <a:off x="4039948" y="201993"/>
            <a:ext cx="4587584" cy="4656582"/>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195" name="Google Shape;195;p7"/>
          <p:cNvGraphicFramePr/>
          <p:nvPr/>
        </p:nvGraphicFramePr>
        <p:xfrm>
          <a:off x="4230429" y="581532"/>
          <a:ext cx="3000000" cy="3000000"/>
        </p:xfrm>
        <a:graphic>
          <a:graphicData uri="http://schemas.openxmlformats.org/drawingml/2006/table">
            <a:tbl>
              <a:tblPr bandRow="1" firstRow="1">
                <a:noFill/>
                <a:tableStyleId>{BFC44526-852C-49A2-B4FF-3E78E5C846BC}</a:tableStyleId>
              </a:tblPr>
              <a:tblGrid>
                <a:gridCol w="1829925"/>
                <a:gridCol w="2376700"/>
              </a:tblGrid>
              <a:tr h="288700">
                <a:tc>
                  <a:txBody>
                    <a:bodyPr/>
                    <a:lstStyle/>
                    <a:p>
                      <a:pPr indent="0" lvl="0" marL="0" marR="0" rtl="0" algn="l">
                        <a:lnSpc>
                          <a:spcPct val="100000"/>
                        </a:lnSpc>
                        <a:spcBef>
                          <a:spcPts val="0"/>
                        </a:spcBef>
                        <a:spcAft>
                          <a:spcPts val="0"/>
                        </a:spcAft>
                        <a:buNone/>
                      </a:pPr>
                      <a:r>
                        <a:rPr lang="en-US" sz="1000" u="none" cap="none" strike="noStrike"/>
                        <a:t>Element</a:t>
                      </a:r>
                      <a:endParaRPr sz="1000" u="none" cap="none" strike="noStrike"/>
                    </a:p>
                  </a:txBody>
                  <a:tcPr marT="32800" marB="32800" marR="65625" marL="65625"/>
                </a:tc>
                <a:tc>
                  <a:txBody>
                    <a:bodyPr/>
                    <a:lstStyle/>
                    <a:p>
                      <a:pPr indent="0" lvl="0" marL="0" marR="0" rtl="0" algn="l">
                        <a:lnSpc>
                          <a:spcPct val="100000"/>
                        </a:lnSpc>
                        <a:spcBef>
                          <a:spcPts val="0"/>
                        </a:spcBef>
                        <a:spcAft>
                          <a:spcPts val="0"/>
                        </a:spcAft>
                        <a:buNone/>
                      </a:pPr>
                      <a:r>
                        <a:rPr lang="en-US" sz="1000" u="none" cap="none" strike="noStrike"/>
                        <a:t>Description</a:t>
                      </a:r>
                      <a:endParaRPr sz="1000" u="none" cap="none" strike="noStrike"/>
                    </a:p>
                  </a:txBody>
                  <a:tcPr marT="32800" marB="32800" marR="65625" marL="65625"/>
                </a:tc>
              </a:tr>
              <a:tr h="682400">
                <a:tc>
                  <a:txBody>
                    <a:bodyPr/>
                    <a:lstStyle/>
                    <a:p>
                      <a:pPr indent="0" lvl="0" marL="0" marR="0" rtl="0" algn="l">
                        <a:lnSpc>
                          <a:spcPct val="100000"/>
                        </a:lnSpc>
                        <a:spcBef>
                          <a:spcPts val="0"/>
                        </a:spcBef>
                        <a:spcAft>
                          <a:spcPts val="0"/>
                        </a:spcAft>
                        <a:buNone/>
                      </a:pPr>
                      <a:r>
                        <a:rPr lang="en-US" sz="1000" u="none" cap="none" strike="noStrike"/>
                        <a:t>Customer Acquisition</a:t>
                      </a:r>
                      <a:endParaRPr sz="1000" u="none" cap="none" strike="noStrike"/>
                    </a:p>
                  </a:txBody>
                  <a:tcPr marT="32800" marB="32800" marR="65625" marL="65625"/>
                </a:tc>
                <a:tc>
                  <a:txBody>
                    <a:bodyPr/>
                    <a:lstStyle/>
                    <a:p>
                      <a:pPr indent="0" lvl="0" marL="0" marR="0" rtl="0" algn="l">
                        <a:lnSpc>
                          <a:spcPct val="100000"/>
                        </a:lnSpc>
                        <a:spcBef>
                          <a:spcPts val="0"/>
                        </a:spcBef>
                        <a:spcAft>
                          <a:spcPts val="0"/>
                        </a:spcAft>
                        <a:buNone/>
                      </a:pPr>
                      <a:r>
                        <a:rPr lang="en-US" sz="1000" u="none" cap="none" strike="noStrike"/>
                        <a:t>6 Trained field agents manage rural outreach, collect orders, and coordinate deliveries</a:t>
                      </a:r>
                      <a:endParaRPr sz="1000" u="none" cap="none" strike="noStrike"/>
                    </a:p>
                  </a:txBody>
                  <a:tcPr marT="32800" marB="32800" marR="65625" marL="65625"/>
                </a:tc>
              </a:tr>
              <a:tr h="682400">
                <a:tc>
                  <a:txBody>
                    <a:bodyPr/>
                    <a:lstStyle/>
                    <a:p>
                      <a:pPr indent="0" lvl="0" marL="0" marR="0" rtl="0" algn="l">
                        <a:lnSpc>
                          <a:spcPct val="100000"/>
                        </a:lnSpc>
                        <a:spcBef>
                          <a:spcPts val="0"/>
                        </a:spcBef>
                        <a:spcAft>
                          <a:spcPts val="0"/>
                        </a:spcAft>
                        <a:buNone/>
                      </a:pPr>
                      <a:r>
                        <a:rPr lang="en-US" sz="1000" u="none" cap="none" strike="noStrike"/>
                        <a:t>Pricing strategy</a:t>
                      </a:r>
                      <a:endParaRPr sz="1000" u="none" cap="none" strike="noStrike"/>
                    </a:p>
                  </a:txBody>
                  <a:tcPr marT="32800" marB="32800" marR="65625" marL="65625"/>
                </a:tc>
                <a:tc>
                  <a:txBody>
                    <a:bodyPr/>
                    <a:lstStyle/>
                    <a:p>
                      <a:pPr indent="0" lvl="0" marL="0" marR="0" rtl="0" algn="l">
                        <a:lnSpc>
                          <a:spcPct val="100000"/>
                        </a:lnSpc>
                        <a:spcBef>
                          <a:spcPts val="0"/>
                        </a:spcBef>
                        <a:spcAft>
                          <a:spcPts val="0"/>
                        </a:spcAft>
                        <a:buNone/>
                      </a:pPr>
                      <a:r>
                        <a:rPr lang="en-US" sz="1000" u="none" cap="none" strike="noStrike"/>
                        <a:t>Competitive, transparent, with volume discounts for loyal and cooperative clients</a:t>
                      </a:r>
                      <a:endParaRPr sz="1000" u="none" cap="none" strike="noStrike"/>
                    </a:p>
                  </a:txBody>
                  <a:tcPr marT="32800" marB="32800" marR="65625" marL="65625"/>
                </a:tc>
              </a:tr>
              <a:tr h="879225">
                <a:tc>
                  <a:txBody>
                    <a:bodyPr/>
                    <a:lstStyle/>
                    <a:p>
                      <a:pPr indent="0" lvl="0" marL="0" marR="0" rtl="0" algn="l">
                        <a:lnSpc>
                          <a:spcPct val="100000"/>
                        </a:lnSpc>
                        <a:spcBef>
                          <a:spcPts val="0"/>
                        </a:spcBef>
                        <a:spcAft>
                          <a:spcPts val="0"/>
                        </a:spcAft>
                        <a:buNone/>
                      </a:pPr>
                      <a:r>
                        <a:rPr lang="en-US" sz="1000" u="none" cap="none" strike="noStrike"/>
                        <a:t>Promotion strategy</a:t>
                      </a:r>
                      <a:endParaRPr sz="1000" u="none" cap="none" strike="noStrike"/>
                    </a:p>
                  </a:txBody>
                  <a:tcPr marT="32800" marB="32800" marR="65625" marL="65625"/>
                </a:tc>
                <a:tc>
                  <a:txBody>
                    <a:bodyPr/>
                    <a:lstStyle/>
                    <a:p>
                      <a:pPr indent="0" lvl="0" marL="0" marR="0" rtl="0" algn="l">
                        <a:lnSpc>
                          <a:spcPct val="100000"/>
                        </a:lnSpc>
                        <a:spcBef>
                          <a:spcPts val="0"/>
                        </a:spcBef>
                        <a:spcAft>
                          <a:spcPts val="0"/>
                        </a:spcAft>
                        <a:buNone/>
                      </a:pPr>
                      <a:r>
                        <a:rPr lang="en-US" sz="1000" u="none" cap="none" strike="noStrike"/>
                        <a:t>Social media (Facebook, Tik-Tok, Instagram),Flyers, posters, and whatsapp campaigns</a:t>
                      </a:r>
                      <a:endParaRPr sz="1000" u="none" cap="none" strike="noStrike"/>
                    </a:p>
                  </a:txBody>
                  <a:tcPr marT="32800" marB="32800" marR="65625" marL="65625"/>
                </a:tc>
              </a:tr>
              <a:tr h="682400">
                <a:tc>
                  <a:txBody>
                    <a:bodyPr/>
                    <a:lstStyle/>
                    <a:p>
                      <a:pPr indent="0" lvl="0" marL="0" marR="0" rtl="0" algn="l">
                        <a:lnSpc>
                          <a:spcPct val="100000"/>
                        </a:lnSpc>
                        <a:spcBef>
                          <a:spcPts val="0"/>
                        </a:spcBef>
                        <a:spcAft>
                          <a:spcPts val="0"/>
                        </a:spcAft>
                        <a:buNone/>
                      </a:pPr>
                      <a:r>
                        <a:rPr lang="en-US" sz="1000" u="none" cap="none" strike="noStrike"/>
                        <a:t>Distributions channels</a:t>
                      </a:r>
                      <a:endParaRPr sz="1000" u="none" cap="none" strike="noStrike"/>
                    </a:p>
                  </a:txBody>
                  <a:tcPr marT="32800" marB="32800" marR="65625" marL="65625"/>
                </a:tc>
                <a:tc>
                  <a:txBody>
                    <a:bodyPr/>
                    <a:lstStyle/>
                    <a:p>
                      <a:pPr indent="0" lvl="0" marL="0" marR="0" rtl="0" algn="l">
                        <a:lnSpc>
                          <a:spcPct val="100000"/>
                        </a:lnSpc>
                        <a:spcBef>
                          <a:spcPts val="0"/>
                        </a:spcBef>
                        <a:spcAft>
                          <a:spcPts val="0"/>
                        </a:spcAft>
                        <a:buNone/>
                      </a:pPr>
                      <a:r>
                        <a:rPr lang="en-US" sz="1000" u="none" cap="none" strike="noStrike"/>
                        <a:t>Four depots linked by rural delivery routes and logistics partners</a:t>
                      </a:r>
                      <a:endParaRPr sz="1000" u="none" cap="none" strike="noStrike"/>
                    </a:p>
                  </a:txBody>
                  <a:tcPr marT="32800" marB="32800" marR="65625" marL="65625"/>
                </a:tc>
              </a:tr>
              <a:tr h="682400">
                <a:tc>
                  <a:txBody>
                    <a:bodyPr/>
                    <a:lstStyle/>
                    <a:p>
                      <a:pPr indent="0" lvl="0" marL="0" marR="0" rtl="0" algn="l">
                        <a:lnSpc>
                          <a:spcPct val="100000"/>
                        </a:lnSpc>
                        <a:spcBef>
                          <a:spcPts val="0"/>
                        </a:spcBef>
                        <a:spcAft>
                          <a:spcPts val="0"/>
                        </a:spcAft>
                        <a:buNone/>
                      </a:pPr>
                      <a:r>
                        <a:rPr lang="en-US" sz="1000" u="none" cap="none" strike="noStrike"/>
                        <a:t>Marketing budget</a:t>
                      </a:r>
                      <a:endParaRPr sz="1000" u="none" cap="none" strike="noStrike"/>
                    </a:p>
                  </a:txBody>
                  <a:tcPr marT="32800" marB="32800" marR="65625" marL="65625"/>
                </a:tc>
                <a:tc>
                  <a:txBody>
                    <a:bodyPr/>
                    <a:lstStyle/>
                    <a:p>
                      <a:pPr indent="0" lvl="0" marL="0" marR="0" rtl="0" algn="l">
                        <a:lnSpc>
                          <a:spcPct val="100000"/>
                        </a:lnSpc>
                        <a:spcBef>
                          <a:spcPts val="0"/>
                        </a:spcBef>
                        <a:spcAft>
                          <a:spcPts val="0"/>
                        </a:spcAft>
                        <a:buNone/>
                      </a:pPr>
                      <a:r>
                        <a:rPr lang="en-US" sz="1000" u="none" cap="none" strike="noStrike"/>
                        <a:t>USD 250, 50 Social media, 100 Flyers/Posters, 50 Whatsapp outreach</a:t>
                      </a:r>
                      <a:endParaRPr sz="1000" u="none" cap="none" strike="noStrike"/>
                    </a:p>
                  </a:txBody>
                  <a:tcPr marT="32800" marB="32800" marR="65625" marL="656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568517" y="479039"/>
            <a:ext cx="7886700" cy="4100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47138"/>
              <a:buNone/>
            </a:pPr>
            <a:r>
              <a:rPr b="1" lang="en-US">
                <a:latin typeface="Arial"/>
                <a:ea typeface="Arial"/>
                <a:cs typeface="Arial"/>
                <a:sym typeface="Arial"/>
              </a:rPr>
              <a:t>Financials</a:t>
            </a:r>
            <a:endParaRPr/>
          </a:p>
        </p:txBody>
      </p:sp>
      <p:sp>
        <p:nvSpPr>
          <p:cNvPr id="201" name="Google Shape;201;p8"/>
          <p:cNvSpPr txBox="1"/>
          <p:nvPr>
            <p:ph idx="1" type="body"/>
          </p:nvPr>
        </p:nvSpPr>
        <p:spPr>
          <a:xfrm>
            <a:off x="568517" y="866823"/>
            <a:ext cx="7886700" cy="4100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b="1" lang="en-US" sz="1400"/>
              <a:t>Historical Financial Overview (2022-2024)</a:t>
            </a:r>
            <a:endParaRPr/>
          </a:p>
          <a:p>
            <a:pPr indent="0" lvl="0" marL="0" rtl="0" algn="l">
              <a:lnSpc>
                <a:spcPct val="90000"/>
              </a:lnSpc>
              <a:spcBef>
                <a:spcPts val="800"/>
              </a:spcBef>
              <a:spcAft>
                <a:spcPts val="0"/>
              </a:spcAft>
              <a:buSzPts val="1400"/>
              <a:buNone/>
            </a:pPr>
            <a:r>
              <a:t/>
            </a:r>
            <a:endParaRPr b="1" sz="1400"/>
          </a:p>
        </p:txBody>
      </p:sp>
      <p:sp>
        <p:nvSpPr>
          <p:cNvPr id="202" name="Google Shape;202;p8"/>
          <p:cNvSpPr txBox="1"/>
          <p:nvPr/>
        </p:nvSpPr>
        <p:spPr>
          <a:xfrm>
            <a:off x="5306997" y="2763592"/>
            <a:ext cx="3148220" cy="783771"/>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80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Average growth: +6,7% annual revenue, +16% profit</a:t>
            </a:r>
            <a:endParaRPr b="1" i="0" sz="1400" u="none" cap="none" strike="noStrike">
              <a:solidFill>
                <a:schemeClr val="dk1"/>
              </a:solidFill>
              <a:latin typeface="Arial"/>
              <a:ea typeface="Arial"/>
              <a:cs typeface="Arial"/>
              <a:sym typeface="Arial"/>
            </a:endParaRPr>
          </a:p>
        </p:txBody>
      </p:sp>
      <p:graphicFrame>
        <p:nvGraphicFramePr>
          <p:cNvPr id="203" name="Google Shape;203;p8"/>
          <p:cNvGraphicFramePr/>
          <p:nvPr/>
        </p:nvGraphicFramePr>
        <p:xfrm>
          <a:off x="568517" y="1943477"/>
          <a:ext cx="4572000" cy="2743200"/>
        </p:xfrm>
        <a:graphic>
          <a:graphicData uri="http://schemas.openxmlformats.org/drawingml/2006/chart">
            <c:chart r:id="rId3"/>
          </a:graphicData>
        </a:graphic>
      </p:graphicFrame>
      <p:graphicFrame>
        <p:nvGraphicFramePr>
          <p:cNvPr id="204" name="Google Shape;204;p8"/>
          <p:cNvGraphicFramePr/>
          <p:nvPr/>
        </p:nvGraphicFramePr>
        <p:xfrm>
          <a:off x="568516" y="1276823"/>
          <a:ext cx="3000000" cy="3000000"/>
        </p:xfrm>
        <a:graphic>
          <a:graphicData uri="http://schemas.openxmlformats.org/drawingml/2006/table">
            <a:tbl>
              <a:tblPr>
                <a:noFill/>
                <a:tableStyleId>{F3C059D4-CDBF-4DBF-B15A-F07A3BFCB388}</a:tableStyleId>
              </a:tblPr>
              <a:tblGrid>
                <a:gridCol w="1934475"/>
                <a:gridCol w="1891950"/>
                <a:gridCol w="1318000"/>
                <a:gridCol w="1318000"/>
                <a:gridCol w="1424275"/>
              </a:tblGrid>
              <a:tr h="17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Year</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Revenue</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Expenses</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Profit</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Profit Margin</a:t>
                      </a:r>
                      <a:endParaRPr b="0" i="0" sz="1100" u="none" cap="none" strike="noStrike">
                        <a:solidFill>
                          <a:srgbClr val="000000"/>
                        </a:solidFill>
                        <a:latin typeface="Arial"/>
                        <a:ea typeface="Arial"/>
                        <a:cs typeface="Arial"/>
                        <a:sym typeface="Arial"/>
                      </a:endParaRPr>
                    </a:p>
                  </a:txBody>
                  <a:tcPr marT="6350" marB="0" marR="6350" marL="6350" anchor="b"/>
                </a:tc>
              </a:tr>
              <a:tr h="17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2022</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           123 043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  100 907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    22 136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17,99%</a:t>
                      </a:r>
                      <a:endParaRPr b="0" i="0" sz="1100" u="none" cap="none" strike="noStrike">
                        <a:solidFill>
                          <a:srgbClr val="000000"/>
                        </a:solidFill>
                        <a:latin typeface="Arial"/>
                        <a:ea typeface="Arial"/>
                        <a:cs typeface="Arial"/>
                        <a:sym typeface="Arial"/>
                      </a:endParaRPr>
                    </a:p>
                  </a:txBody>
                  <a:tcPr marT="6350" marB="0" marR="6350" marL="6350" anchor="b"/>
                </a:tc>
              </a:tr>
              <a:tr h="17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2023</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144 515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112 482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32 033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22,17%</a:t>
                      </a:r>
                      <a:endParaRPr b="0" i="0" sz="1100" u="none" cap="none" strike="noStrike">
                        <a:solidFill>
                          <a:srgbClr val="000000"/>
                        </a:solidFill>
                        <a:latin typeface="Arial"/>
                        <a:ea typeface="Arial"/>
                        <a:cs typeface="Arial"/>
                        <a:sym typeface="Arial"/>
                      </a:endParaRPr>
                    </a:p>
                  </a:txBody>
                  <a:tcPr marT="6350" marB="0" marR="6350" marL="6350" anchor="b"/>
                </a:tc>
              </a:tr>
              <a:tr h="17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2024</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129 858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99 795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       30 063 </a:t>
                      </a:r>
                      <a:endParaRPr b="0" i="0" sz="11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t>23,15%</a:t>
                      </a:r>
                      <a:endParaRPr b="0" i="0" sz="1100" u="none" cap="none" strike="noStrike">
                        <a:solidFill>
                          <a:srgbClr val="000000"/>
                        </a:solidFill>
                        <a:latin typeface="Arial"/>
                        <a:ea typeface="Arial"/>
                        <a:cs typeface="Arial"/>
                        <a:sym typeface="Arial"/>
                      </a:endParaRPr>
                    </a:p>
                  </a:txBody>
                  <a:tcPr marT="6350" marB="0" marR="6350" marL="6350" anchor="b"/>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9"/>
          <p:cNvSpPr/>
          <p:nvPr/>
        </p:nvSpPr>
        <p:spPr>
          <a:xfrm>
            <a:off x="0" y="0"/>
            <a:ext cx="9143999" cy="51430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0" name="Google Shape;210;p9"/>
          <p:cNvSpPr txBox="1"/>
          <p:nvPr>
            <p:ph type="title"/>
          </p:nvPr>
        </p:nvSpPr>
        <p:spPr>
          <a:xfrm>
            <a:off x="6950931" y="1517332"/>
            <a:ext cx="1852218" cy="21345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400"/>
              <a:buNone/>
            </a:pPr>
            <a:r>
              <a:rPr lang="en-US" sz="2600">
                <a:solidFill>
                  <a:schemeClr val="dk1"/>
                </a:solidFill>
                <a:latin typeface="Arial"/>
                <a:ea typeface="Arial"/>
                <a:cs typeface="Arial"/>
                <a:sym typeface="Arial"/>
              </a:rPr>
              <a:t>Monthly breakdown 2022</a:t>
            </a:r>
            <a:endParaRPr/>
          </a:p>
        </p:txBody>
      </p:sp>
      <p:sp>
        <p:nvSpPr>
          <p:cNvPr id="211" name="Google Shape;211;p9"/>
          <p:cNvSpPr/>
          <p:nvPr/>
        </p:nvSpPr>
        <p:spPr>
          <a:xfrm rot="-5400000">
            <a:off x="2575480" y="-620425"/>
            <a:ext cx="1286609" cy="643756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2" name="Google Shape;212;p9"/>
          <p:cNvSpPr/>
          <p:nvPr/>
        </p:nvSpPr>
        <p:spPr>
          <a:xfrm>
            <a:off x="226563" y="498231"/>
            <a:ext cx="6061974" cy="420025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3" name="Google Shape;213;p9"/>
          <p:cNvSpPr/>
          <p:nvPr/>
        </p:nvSpPr>
        <p:spPr>
          <a:xfrm rot="5400000">
            <a:off x="5962835" y="2544073"/>
            <a:ext cx="1289304" cy="11428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214" name="Google Shape;214;p9"/>
          <p:cNvGraphicFramePr/>
          <p:nvPr/>
        </p:nvGraphicFramePr>
        <p:xfrm>
          <a:off x="735461" y="643893"/>
          <a:ext cx="3000000" cy="3000000"/>
        </p:xfrm>
        <a:graphic>
          <a:graphicData uri="http://schemas.openxmlformats.org/drawingml/2006/table">
            <a:tbl>
              <a:tblPr>
                <a:noFill/>
                <a:tableStyleId>{BFC44526-852C-49A2-B4FF-3E78E5C846BC}</a:tableStyleId>
              </a:tblPr>
              <a:tblGrid>
                <a:gridCol w="992550"/>
                <a:gridCol w="1010250"/>
                <a:gridCol w="1010250"/>
                <a:gridCol w="913975"/>
                <a:gridCol w="1126150"/>
              </a:tblGrid>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Month</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Revenue</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Expenses</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Profit</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Profit Margin</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January</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10 212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8 097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2 115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20,71%</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February</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9996</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8036</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1960</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19,61%</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March</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9880</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7847</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2033</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20,58%</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April</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9970</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8855</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1115</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11,18%</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May</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10541</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8188</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2353</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22,32%</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June</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10049</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8897</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1152</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11,46%</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July</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9997</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8906</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1091</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10,91%</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August</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10417</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8860</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1557</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14,95%</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September</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10893</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7741</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3152</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28,94%</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October</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10613</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8830</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1783</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16,80%</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November</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9892</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8561</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1331</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13,46%</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December</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10583</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8089</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2494</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23,57%</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Total</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$ 123 043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$ 100 907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$ 22 136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7850" marB="0" marR="7850" marL="785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Average</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10 254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8 409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1 845 </a:t>
                      </a:r>
                      <a:endParaRPr b="0" i="0" sz="1400" u="none" cap="none" strike="noStrike">
                        <a:solidFill>
                          <a:srgbClr val="000000"/>
                        </a:solidFill>
                        <a:latin typeface="Arial"/>
                        <a:ea typeface="Arial"/>
                        <a:cs typeface="Arial"/>
                        <a:sym typeface="Arial"/>
                      </a:endParaRPr>
                    </a:p>
                  </a:txBody>
                  <a:tcPr marT="7850" marB="0" marR="7850" marL="78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17,87%</a:t>
                      </a:r>
                      <a:endParaRPr b="0" i="0" sz="1400" u="none" cap="none" strike="noStrike">
                        <a:solidFill>
                          <a:srgbClr val="000000"/>
                        </a:solidFill>
                        <a:latin typeface="Arial"/>
                        <a:ea typeface="Arial"/>
                        <a:cs typeface="Arial"/>
                        <a:sym typeface="Arial"/>
                      </a:endParaRPr>
                    </a:p>
                  </a:txBody>
                  <a:tcPr marT="7850" marB="0" marR="7850" marL="7850" anchor="b"/>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10"/>
          <p:cNvSpPr/>
          <p:nvPr/>
        </p:nvSpPr>
        <p:spPr>
          <a:xfrm>
            <a:off x="0" y="0"/>
            <a:ext cx="9143999" cy="51430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0" name="Google Shape;220;p10"/>
          <p:cNvSpPr txBox="1"/>
          <p:nvPr>
            <p:ph type="title"/>
          </p:nvPr>
        </p:nvSpPr>
        <p:spPr>
          <a:xfrm>
            <a:off x="6950931" y="1517332"/>
            <a:ext cx="1852218" cy="21345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400"/>
              <a:buNone/>
            </a:pPr>
            <a:r>
              <a:rPr lang="en-US" sz="2600">
                <a:solidFill>
                  <a:schemeClr val="dk1"/>
                </a:solidFill>
                <a:latin typeface="Arial"/>
                <a:ea typeface="Arial"/>
                <a:cs typeface="Arial"/>
                <a:sym typeface="Arial"/>
              </a:rPr>
              <a:t>Monthly breakdown 2023</a:t>
            </a:r>
            <a:endParaRPr/>
          </a:p>
        </p:txBody>
      </p:sp>
      <p:sp>
        <p:nvSpPr>
          <p:cNvPr id="221" name="Google Shape;221;p10"/>
          <p:cNvSpPr/>
          <p:nvPr/>
        </p:nvSpPr>
        <p:spPr>
          <a:xfrm rot="-5400000">
            <a:off x="2575480" y="-620425"/>
            <a:ext cx="1286609" cy="643756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2" name="Google Shape;222;p10"/>
          <p:cNvSpPr/>
          <p:nvPr/>
        </p:nvSpPr>
        <p:spPr>
          <a:xfrm>
            <a:off x="226563" y="498231"/>
            <a:ext cx="6061974" cy="420025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3" name="Google Shape;223;p10"/>
          <p:cNvSpPr/>
          <p:nvPr/>
        </p:nvSpPr>
        <p:spPr>
          <a:xfrm rot="5400000">
            <a:off x="5962835" y="2544073"/>
            <a:ext cx="1289304" cy="11428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224" name="Google Shape;224;p10"/>
          <p:cNvGraphicFramePr/>
          <p:nvPr/>
        </p:nvGraphicFramePr>
        <p:xfrm>
          <a:off x="548728" y="643893"/>
          <a:ext cx="3000000" cy="3000000"/>
        </p:xfrm>
        <a:graphic>
          <a:graphicData uri="http://schemas.openxmlformats.org/drawingml/2006/table">
            <a:tbl>
              <a:tblPr>
                <a:noFill/>
                <a:tableStyleId>{BFC44526-852C-49A2-B4FF-3E78E5C846BC}</a:tableStyleId>
              </a:tblPr>
              <a:tblGrid>
                <a:gridCol w="993350"/>
                <a:gridCol w="1165575"/>
                <a:gridCol w="1068475"/>
                <a:gridCol w="1068475"/>
                <a:gridCol w="1130750"/>
              </a:tblGrid>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Month</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Revenue</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Expenses</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Profit</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Profit Margin</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January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12 647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9 720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2 927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23%</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February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13 123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9 269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3 854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29%</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March</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10 921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9 609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1 312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12%</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April</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11 487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9 706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1 781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16%</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May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11 893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9 801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2 092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18%</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June</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11 464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9 483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1 981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17%</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July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13 150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9 025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4 125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31%</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August</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12 040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9 178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2 862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24%</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September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12 193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9 050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3 143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26%</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October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12 029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9 073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2 956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25%</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November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11 127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9 187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1 940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17%</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December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12 441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9 381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3 060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25%</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Total</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144 515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112 482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32 033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Average</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12 043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9 374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2 669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21,87%</a:t>
                      </a:r>
                      <a:endParaRPr b="0" i="0" sz="1400" u="none" cap="none" strike="noStrike">
                        <a:solidFill>
                          <a:schemeClr val="dk1"/>
                        </a:solidFill>
                        <a:latin typeface="Arial"/>
                        <a:ea typeface="Arial"/>
                        <a:cs typeface="Arial"/>
                        <a:sym typeface="Arial"/>
                      </a:endParaRPr>
                    </a:p>
                  </a:txBody>
                  <a:tcPr marT="7325" marB="0" marR="7325" marL="0" anchor="b"/>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11"/>
          <p:cNvSpPr/>
          <p:nvPr/>
        </p:nvSpPr>
        <p:spPr>
          <a:xfrm>
            <a:off x="0" y="0"/>
            <a:ext cx="9143999" cy="51430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0" name="Google Shape;230;p11"/>
          <p:cNvSpPr txBox="1"/>
          <p:nvPr>
            <p:ph type="title"/>
          </p:nvPr>
        </p:nvSpPr>
        <p:spPr>
          <a:xfrm>
            <a:off x="6950931" y="1517332"/>
            <a:ext cx="1852218" cy="21345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400"/>
              <a:buNone/>
            </a:pPr>
            <a:r>
              <a:rPr lang="en-US" sz="2600">
                <a:solidFill>
                  <a:schemeClr val="dk1"/>
                </a:solidFill>
                <a:latin typeface="Arial"/>
                <a:ea typeface="Arial"/>
                <a:cs typeface="Arial"/>
                <a:sym typeface="Arial"/>
              </a:rPr>
              <a:t>Monthly breakdown 2024</a:t>
            </a:r>
            <a:endParaRPr/>
          </a:p>
        </p:txBody>
      </p:sp>
      <p:sp>
        <p:nvSpPr>
          <p:cNvPr id="231" name="Google Shape;231;p11"/>
          <p:cNvSpPr/>
          <p:nvPr/>
        </p:nvSpPr>
        <p:spPr>
          <a:xfrm rot="-5400000">
            <a:off x="2575480" y="-620425"/>
            <a:ext cx="1286609" cy="643756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2" name="Google Shape;232;p11"/>
          <p:cNvSpPr/>
          <p:nvPr/>
        </p:nvSpPr>
        <p:spPr>
          <a:xfrm>
            <a:off x="226563" y="498231"/>
            <a:ext cx="6061974" cy="420025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3" name="Google Shape;233;p11"/>
          <p:cNvSpPr/>
          <p:nvPr/>
        </p:nvSpPr>
        <p:spPr>
          <a:xfrm rot="5400000">
            <a:off x="5962835" y="2544073"/>
            <a:ext cx="1289304" cy="11428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234" name="Google Shape;234;p11"/>
          <p:cNvGraphicFramePr/>
          <p:nvPr/>
        </p:nvGraphicFramePr>
        <p:xfrm>
          <a:off x="548728" y="643893"/>
          <a:ext cx="3000000" cy="3000000"/>
        </p:xfrm>
        <a:graphic>
          <a:graphicData uri="http://schemas.openxmlformats.org/drawingml/2006/table">
            <a:tbl>
              <a:tblPr>
                <a:noFill/>
                <a:tableStyleId>{BFC44526-852C-49A2-B4FF-3E78E5C846BC}</a:tableStyleId>
              </a:tblPr>
              <a:tblGrid>
                <a:gridCol w="993350"/>
                <a:gridCol w="1165575"/>
                <a:gridCol w="1068475"/>
                <a:gridCol w="1068475"/>
                <a:gridCol w="1130750"/>
              </a:tblGrid>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Month</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Revenue</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Expenses</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Profit</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Profit Margin</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January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10 796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8 214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2 582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24%</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February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10 701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7 876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2 825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26%</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March</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10 657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8 284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2 373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22%</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April</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10 742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8 624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2 118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20%</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May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10 696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7 869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2 827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26%</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June</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10 822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8 467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2 355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22%</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July</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11 087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8 084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3 003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27%</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August</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10 739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8 647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2 092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19%</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September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10 922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8 398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2 524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23%</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October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10 779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8 368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2 411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22%</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November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11 062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8 505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2 557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23%</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December</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10 855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8 459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2 396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22%</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Total</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129 858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99 795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30 063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txBody>
                  <a:tcPr marT="7325" marB="0" marR="7325" marL="0" anchor="b"/>
                </a:tc>
              </a:tr>
              <a:tr h="260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rPr>
                        <a:t>Average</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10 822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8 316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         2 505 </a:t>
                      </a:r>
                      <a:endParaRPr b="0" i="0" sz="1400" u="none" cap="none" strike="noStrike">
                        <a:solidFill>
                          <a:schemeClr val="dk1"/>
                        </a:solidFill>
                        <a:latin typeface="Arial"/>
                        <a:ea typeface="Arial"/>
                        <a:cs typeface="Arial"/>
                        <a:sym typeface="Arial"/>
                      </a:endParaRPr>
                    </a:p>
                  </a:txBody>
                  <a:tcPr marT="7325" marB="0" marR="7325" marL="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solidFill>
                            <a:schemeClr val="dk1"/>
                          </a:solidFill>
                        </a:rPr>
                        <a:t>23,14%</a:t>
                      </a:r>
                      <a:endParaRPr b="0" i="0" sz="1400" u="none" cap="none" strike="noStrike">
                        <a:solidFill>
                          <a:schemeClr val="dk1"/>
                        </a:solidFill>
                        <a:latin typeface="Arial"/>
                        <a:ea typeface="Arial"/>
                        <a:cs typeface="Arial"/>
                        <a:sym typeface="Arial"/>
                      </a:endParaRPr>
                    </a:p>
                  </a:txBody>
                  <a:tcPr marT="7325" marB="0" marR="7325" marL="0" anchor="b"/>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2"/>
          <p:cNvSpPr txBox="1"/>
          <p:nvPr>
            <p:ph type="title"/>
          </p:nvPr>
        </p:nvSpPr>
        <p:spPr>
          <a:xfrm>
            <a:off x="628650" y="517715"/>
            <a:ext cx="7886700" cy="342902"/>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47138"/>
              <a:buNone/>
            </a:pPr>
            <a:r>
              <a:rPr lang="en-US">
                <a:latin typeface="Arial"/>
                <a:ea typeface="Arial"/>
                <a:cs typeface="Arial"/>
                <a:sym typeface="Arial"/>
              </a:rPr>
              <a:t>2025-2026 Forcasts</a:t>
            </a:r>
            <a:endParaRPr/>
          </a:p>
        </p:txBody>
      </p:sp>
      <p:graphicFrame>
        <p:nvGraphicFramePr>
          <p:cNvPr id="240" name="Google Shape;240;p12"/>
          <p:cNvGraphicFramePr/>
          <p:nvPr/>
        </p:nvGraphicFramePr>
        <p:xfrm>
          <a:off x="556839" y="1683024"/>
          <a:ext cx="3000000" cy="3000000"/>
        </p:xfrm>
        <a:graphic>
          <a:graphicData uri="http://schemas.openxmlformats.org/drawingml/2006/table">
            <a:tbl>
              <a:tblPr>
                <a:noFill/>
                <a:tableStyleId>{012B5892-5A1E-4A2F-9F4B-223AD3C87A17}</a:tableStyleId>
              </a:tblPr>
              <a:tblGrid>
                <a:gridCol w="1492125"/>
                <a:gridCol w="1776525"/>
                <a:gridCol w="1106700"/>
                <a:gridCol w="1143100"/>
                <a:gridCol w="1150375"/>
                <a:gridCol w="1361525"/>
              </a:tblGrid>
              <a:tr h="1778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Year</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Scenario</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Revenue</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Expenses</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Profit</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Profit Margin</a:t>
                      </a:r>
                      <a:endParaRPr b="0" i="0" sz="1400" u="none" cap="none" strike="noStrike">
                        <a:solidFill>
                          <a:srgbClr val="000000"/>
                        </a:solidFill>
                        <a:latin typeface="Arial"/>
                        <a:ea typeface="Arial"/>
                        <a:cs typeface="Arial"/>
                        <a:sym typeface="Arial"/>
                      </a:endParaRPr>
                    </a:p>
                  </a:txBody>
                  <a:tcPr marT="6350" marB="0" marR="6350" marL="6350" anchor="b"/>
                </a:tc>
              </a:tr>
              <a:tr h="2658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2025 (Expected)</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Stable growth</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138 000 </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106 000 </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32 000 </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23,2%</a:t>
                      </a:r>
                      <a:endParaRPr b="0" i="0" sz="1400" u="none" cap="none" strike="noStrike">
                        <a:solidFill>
                          <a:srgbClr val="000000"/>
                        </a:solidFill>
                        <a:latin typeface="Arial"/>
                        <a:ea typeface="Arial"/>
                        <a:cs typeface="Arial"/>
                        <a:sym typeface="Arial"/>
                      </a:endParaRPr>
                    </a:p>
                  </a:txBody>
                  <a:tcPr marT="6350" marB="0" marR="6350" marL="6350" anchor="b"/>
                </a:tc>
              </a:tr>
              <a:tr h="144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2026 (Target)</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Expansion Phase</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155 000 </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$ 122 000    </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 $      33 000 </a:t>
                      </a:r>
                      <a:endParaRPr b="0" i="0" sz="1400" u="none" cap="none" strike="noStrike">
                        <a:solidFill>
                          <a:srgbClr val="000000"/>
                        </a:solidFill>
                        <a:latin typeface="Arial"/>
                        <a:ea typeface="Arial"/>
                        <a:cs typeface="Arial"/>
                        <a:sym typeface="Arial"/>
                      </a:endParaRPr>
                    </a:p>
                  </a:txBody>
                  <a:tcPr marT="6350" marB="0" marR="6350" marL="6350" anchor="b"/>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21,3%</a:t>
                      </a:r>
                      <a:endParaRPr b="0" i="0" sz="1400" u="none" cap="none" strike="noStrike">
                        <a:solidFill>
                          <a:srgbClr val="000000"/>
                        </a:solidFill>
                        <a:latin typeface="Arial"/>
                        <a:ea typeface="Arial"/>
                        <a:cs typeface="Arial"/>
                        <a:sym typeface="Arial"/>
                      </a:endParaRPr>
                    </a:p>
                  </a:txBody>
                  <a:tcPr marT="6350" marB="0" marR="6350" marL="6350" anchor="b"/>
                </a:tc>
              </a:tr>
            </a:tbl>
          </a:graphicData>
        </a:graphic>
      </p:graphicFrame>
      <p:sp>
        <p:nvSpPr>
          <p:cNvPr id="241" name="Google Shape;241;p12"/>
          <p:cNvSpPr txBox="1"/>
          <p:nvPr>
            <p:ph idx="1" type="body"/>
          </p:nvPr>
        </p:nvSpPr>
        <p:spPr>
          <a:xfrm>
            <a:off x="628650" y="1100370"/>
            <a:ext cx="7886700" cy="342901"/>
          </a:xfrm>
          <a:prstGeom prst="rect">
            <a:avLst/>
          </a:prstGeom>
          <a:noFill/>
          <a:ln>
            <a:noFill/>
          </a:ln>
        </p:spPr>
        <p:txBody>
          <a:bodyPr anchorCtr="0" anchor="t" bIns="34275" lIns="68575" spcFirstLastPara="1" rIns="68575" wrap="square" tIns="34275">
            <a:normAutofit fontScale="92500" lnSpcReduction="10000"/>
          </a:bodyPr>
          <a:lstStyle/>
          <a:p>
            <a:pPr indent="0" lvl="0" marL="0" rtl="0" algn="l">
              <a:lnSpc>
                <a:spcPct val="90000"/>
              </a:lnSpc>
              <a:spcBef>
                <a:spcPts val="800"/>
              </a:spcBef>
              <a:spcAft>
                <a:spcPts val="0"/>
              </a:spcAft>
              <a:buSzPct val="108108"/>
              <a:buNone/>
            </a:pPr>
            <a:r>
              <a:rPr b="1" lang="en-US" sz="1400"/>
              <a:t>Forcast assumes new depot in kasumbalesa or Fungurume and extended poultry supply chain</a:t>
            </a:r>
            <a:endParaRPr b="1" sz="1400"/>
          </a:p>
        </p:txBody>
      </p:sp>
      <p:sp>
        <p:nvSpPr>
          <p:cNvPr id="242" name="Google Shape;242;p12"/>
          <p:cNvSpPr txBox="1"/>
          <p:nvPr/>
        </p:nvSpPr>
        <p:spPr>
          <a:xfrm>
            <a:off x="556839" y="2565977"/>
            <a:ext cx="4689446" cy="1197168"/>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80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Assumptions:</a:t>
            </a:r>
            <a:endParaRPr/>
          </a:p>
          <a:p>
            <a:pPr indent="-285750" lvl="0" marL="285750" marR="0" rtl="0" algn="l">
              <a:lnSpc>
                <a:spcPct val="9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7% annual market growth</a:t>
            </a:r>
            <a:endParaRPr/>
          </a:p>
          <a:p>
            <a:pPr indent="-285750" lvl="0" marL="285750" marR="0" rtl="0" algn="l">
              <a:lnSpc>
                <a:spcPct val="9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46% Client base increase</a:t>
            </a:r>
            <a:endParaRPr/>
          </a:p>
          <a:p>
            <a:pPr indent="-285750" lvl="0" marL="285750" marR="0" rtl="0" algn="l">
              <a:lnSpc>
                <a:spcPct val="9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Moderate cost inflation offset by economies of scale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sp>
        <p:nvSpPr>
          <p:cNvPr id="247" name="Google Shape;247;p13"/>
          <p:cNvSpPr/>
          <p:nvPr/>
        </p:nvSpPr>
        <p:spPr>
          <a:xfrm>
            <a:off x="0" y="0"/>
            <a:ext cx="9143999" cy="51430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8" name="Google Shape;248;p13"/>
          <p:cNvSpPr txBox="1"/>
          <p:nvPr>
            <p:ph type="title"/>
          </p:nvPr>
        </p:nvSpPr>
        <p:spPr>
          <a:xfrm>
            <a:off x="6950931" y="1517332"/>
            <a:ext cx="1852218" cy="21345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400"/>
              <a:buNone/>
            </a:pPr>
            <a:r>
              <a:rPr lang="en-US" sz="2800">
                <a:solidFill>
                  <a:schemeClr val="dk1"/>
                </a:solidFill>
                <a:latin typeface="Arial"/>
                <a:ea typeface="Arial"/>
                <a:cs typeface="Arial"/>
                <a:sym typeface="Arial"/>
              </a:rPr>
              <a:t>Risk Factors and Mitigation</a:t>
            </a:r>
            <a:endParaRPr/>
          </a:p>
        </p:txBody>
      </p:sp>
      <p:sp>
        <p:nvSpPr>
          <p:cNvPr id="249" name="Google Shape;249;p13"/>
          <p:cNvSpPr/>
          <p:nvPr/>
        </p:nvSpPr>
        <p:spPr>
          <a:xfrm rot="-5400000">
            <a:off x="2575480" y="-620425"/>
            <a:ext cx="1286609" cy="643756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0" name="Google Shape;250;p13"/>
          <p:cNvSpPr/>
          <p:nvPr/>
        </p:nvSpPr>
        <p:spPr>
          <a:xfrm>
            <a:off x="226563" y="498231"/>
            <a:ext cx="6061974" cy="420025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1" name="Google Shape;251;p13"/>
          <p:cNvSpPr/>
          <p:nvPr/>
        </p:nvSpPr>
        <p:spPr>
          <a:xfrm rot="5400000">
            <a:off x="5962835" y="2544073"/>
            <a:ext cx="1289304" cy="11428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252" name="Google Shape;252;p13"/>
          <p:cNvGraphicFramePr/>
          <p:nvPr/>
        </p:nvGraphicFramePr>
        <p:xfrm>
          <a:off x="408928" y="1239236"/>
          <a:ext cx="3000000" cy="3000000"/>
        </p:xfrm>
        <a:graphic>
          <a:graphicData uri="http://schemas.openxmlformats.org/drawingml/2006/table">
            <a:tbl>
              <a:tblPr bandRow="1" firstRow="1">
                <a:noFill/>
                <a:tableStyleId>{BFC44526-852C-49A2-B4FF-3E78E5C846BC}</a:tableStyleId>
              </a:tblPr>
              <a:tblGrid>
                <a:gridCol w="1831900"/>
                <a:gridCol w="1951125"/>
                <a:gridCol w="1923200"/>
              </a:tblGrid>
              <a:tr h="346925">
                <a:tc>
                  <a:txBody>
                    <a:bodyPr/>
                    <a:lstStyle/>
                    <a:p>
                      <a:pPr indent="0" lvl="0" marL="0" marR="0" rtl="0" algn="l">
                        <a:lnSpc>
                          <a:spcPct val="100000"/>
                        </a:lnSpc>
                        <a:spcBef>
                          <a:spcPts val="0"/>
                        </a:spcBef>
                        <a:spcAft>
                          <a:spcPts val="0"/>
                        </a:spcAft>
                        <a:buNone/>
                      </a:pPr>
                      <a:r>
                        <a:rPr lang="en-US" sz="1300" u="none" cap="none" strike="noStrike"/>
                        <a:t>Risk Factor</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Potential Impact</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Mitigation Strategy</a:t>
                      </a:r>
                      <a:endParaRPr sz="1300" u="none" cap="none" strike="noStrike">
                        <a:latin typeface="Arial"/>
                        <a:ea typeface="Arial"/>
                        <a:cs typeface="Arial"/>
                        <a:sym typeface="Arial"/>
                      </a:endParaRPr>
                    </a:p>
                  </a:txBody>
                  <a:tcPr marT="53650" marB="53650" marR="107300" marL="107300"/>
                </a:tc>
              </a:tr>
              <a:tr h="543650">
                <a:tc>
                  <a:txBody>
                    <a:bodyPr/>
                    <a:lstStyle/>
                    <a:p>
                      <a:pPr indent="0" lvl="0" marL="0" marR="0" rtl="0" algn="l">
                        <a:lnSpc>
                          <a:spcPct val="100000"/>
                        </a:lnSpc>
                        <a:spcBef>
                          <a:spcPts val="0"/>
                        </a:spcBef>
                        <a:spcAft>
                          <a:spcPts val="0"/>
                        </a:spcAft>
                        <a:buNone/>
                      </a:pPr>
                      <a:r>
                        <a:rPr lang="en-US" sz="1300" u="none" cap="none" strike="noStrike"/>
                        <a:t>Supplier price fluctuations</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Reduced profit margin</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Secure contracts, diversify sourcing</a:t>
                      </a:r>
                      <a:endParaRPr sz="1300" u="none" cap="none" strike="noStrike">
                        <a:latin typeface="Arial"/>
                        <a:ea typeface="Arial"/>
                        <a:cs typeface="Arial"/>
                        <a:sym typeface="Arial"/>
                      </a:endParaRPr>
                    </a:p>
                  </a:txBody>
                  <a:tcPr marT="53650" marB="53650" marR="107300" marL="107300"/>
                </a:tc>
              </a:tr>
              <a:tr h="543650">
                <a:tc>
                  <a:txBody>
                    <a:bodyPr/>
                    <a:lstStyle/>
                    <a:p>
                      <a:pPr indent="0" lvl="0" marL="0" marR="0" rtl="0" algn="l">
                        <a:lnSpc>
                          <a:spcPct val="100000"/>
                        </a:lnSpc>
                        <a:spcBef>
                          <a:spcPts val="0"/>
                        </a:spcBef>
                        <a:spcAft>
                          <a:spcPts val="0"/>
                        </a:spcAft>
                        <a:buNone/>
                      </a:pPr>
                      <a:r>
                        <a:rPr lang="en-US" sz="1300" u="none" cap="none" strike="noStrike"/>
                        <a:t>Seasonal cash flow variation</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Stock or delivery delays</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Maintain safety stock and flexible pricing</a:t>
                      </a:r>
                      <a:endParaRPr sz="1300" u="none" cap="none" strike="noStrike">
                        <a:latin typeface="Arial"/>
                        <a:ea typeface="Arial"/>
                        <a:cs typeface="Arial"/>
                        <a:sym typeface="Arial"/>
                      </a:endParaRPr>
                    </a:p>
                  </a:txBody>
                  <a:tcPr marT="53650" marB="53650" marR="107300" marL="107300"/>
                </a:tc>
              </a:tr>
              <a:tr h="740375">
                <a:tc>
                  <a:txBody>
                    <a:bodyPr/>
                    <a:lstStyle/>
                    <a:p>
                      <a:pPr indent="0" lvl="0" marL="0" marR="0" rtl="0" algn="l">
                        <a:lnSpc>
                          <a:spcPct val="100000"/>
                        </a:lnSpc>
                        <a:spcBef>
                          <a:spcPts val="0"/>
                        </a:spcBef>
                        <a:spcAft>
                          <a:spcPts val="0"/>
                        </a:spcAft>
                        <a:buNone/>
                      </a:pPr>
                      <a:r>
                        <a:rPr lang="en-US" sz="1300" u="none" cap="none" strike="noStrike"/>
                        <a:t>Fuel/Transport costs</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Increased expenses</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Optimize delivery routes, shared transport</a:t>
                      </a:r>
                      <a:endParaRPr sz="1300" u="none" cap="none" strike="noStrike">
                        <a:latin typeface="Arial"/>
                        <a:ea typeface="Arial"/>
                        <a:cs typeface="Arial"/>
                        <a:sym typeface="Arial"/>
                      </a:endParaRPr>
                    </a:p>
                  </a:txBody>
                  <a:tcPr marT="53650" marB="53650" marR="107300" marL="107300"/>
                </a:tc>
              </a:tr>
              <a:tr h="543650">
                <a:tc>
                  <a:txBody>
                    <a:bodyPr/>
                    <a:lstStyle/>
                    <a:p>
                      <a:pPr indent="0" lvl="0" marL="0" marR="0" rtl="0" algn="l">
                        <a:lnSpc>
                          <a:spcPct val="100000"/>
                        </a:lnSpc>
                        <a:spcBef>
                          <a:spcPts val="0"/>
                        </a:spcBef>
                        <a:spcAft>
                          <a:spcPts val="0"/>
                        </a:spcAft>
                        <a:buNone/>
                      </a:pPr>
                      <a:r>
                        <a:rPr lang="en-US" sz="1300" u="none" cap="none" strike="noStrike"/>
                        <a:t>Market competition</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Pressure on sales</a:t>
                      </a:r>
                      <a:endParaRPr sz="1300" u="none" cap="none" strike="noStrike">
                        <a:latin typeface="Arial"/>
                        <a:ea typeface="Arial"/>
                        <a:cs typeface="Arial"/>
                        <a:sym typeface="Arial"/>
                      </a:endParaRPr>
                    </a:p>
                  </a:txBody>
                  <a:tcPr marT="53650" marB="53650" marR="107300" marL="107300"/>
                </a:tc>
                <a:tc>
                  <a:txBody>
                    <a:bodyPr/>
                    <a:lstStyle/>
                    <a:p>
                      <a:pPr indent="0" lvl="0" marL="0" marR="0" rtl="0" algn="l">
                        <a:lnSpc>
                          <a:spcPct val="100000"/>
                        </a:lnSpc>
                        <a:spcBef>
                          <a:spcPts val="0"/>
                        </a:spcBef>
                        <a:spcAft>
                          <a:spcPts val="0"/>
                        </a:spcAft>
                        <a:buNone/>
                      </a:pPr>
                      <a:r>
                        <a:rPr lang="en-US" sz="1300" u="none" cap="none" strike="noStrike"/>
                        <a:t>Strengthen customer relations, fast delivery</a:t>
                      </a:r>
                      <a:endParaRPr sz="1300" u="none" cap="none" strike="noStrike">
                        <a:latin typeface="Arial"/>
                        <a:ea typeface="Arial"/>
                        <a:cs typeface="Arial"/>
                        <a:sym typeface="Arial"/>
                      </a:endParaRPr>
                    </a:p>
                  </a:txBody>
                  <a:tcPr marT="53650" marB="53650" marR="107300" marL="1073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sp>
        <p:nvSpPr>
          <p:cNvPr id="257" name="Google Shape;257;p14"/>
          <p:cNvSpPr txBox="1"/>
          <p:nvPr>
            <p:ph type="title"/>
          </p:nvPr>
        </p:nvSpPr>
        <p:spPr>
          <a:xfrm>
            <a:off x="657519" y="556043"/>
            <a:ext cx="2591866" cy="121215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1400"/>
              <a:buNone/>
            </a:pPr>
            <a:r>
              <a:rPr b="1" lang="en-US" sz="2400">
                <a:solidFill>
                  <a:schemeClr val="dk1"/>
                </a:solidFill>
                <a:latin typeface="Arial"/>
                <a:ea typeface="Arial"/>
                <a:cs typeface="Arial"/>
                <a:sym typeface="Arial"/>
              </a:rPr>
              <a:t>Management Team</a:t>
            </a:r>
            <a:endParaRPr/>
          </a:p>
        </p:txBody>
      </p:sp>
      <p:sp>
        <p:nvSpPr>
          <p:cNvPr id="258" name="Google Shape;258;p14"/>
          <p:cNvSpPr txBox="1"/>
          <p:nvPr/>
        </p:nvSpPr>
        <p:spPr>
          <a:xfrm>
            <a:off x="657519" y="1900107"/>
            <a:ext cx="2591866" cy="2585874"/>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800"/>
              </a:spcBef>
              <a:spcAft>
                <a:spcPts val="0"/>
              </a:spcAft>
              <a:buClr>
                <a:schemeClr val="dk1"/>
              </a:buClr>
              <a:buSzPts val="1400"/>
              <a:buFont typeface="Arial"/>
              <a:buNone/>
            </a:pPr>
            <a:r>
              <a:rPr b="1" i="0" lang="en-US" sz="1500" u="none" cap="none" strike="noStrike">
                <a:solidFill>
                  <a:schemeClr val="dk1"/>
                </a:solidFill>
                <a:latin typeface="Arial"/>
                <a:ea typeface="Arial"/>
                <a:cs typeface="Arial"/>
                <a:sym typeface="Arial"/>
              </a:rPr>
              <a:t>Training plan (2025-2026): With INPP &amp; FAO on digital sales and inventory</a:t>
            </a:r>
            <a:endParaRPr/>
          </a:p>
          <a:p>
            <a:pPr indent="0" lvl="0" marL="0" marR="0" rtl="0" algn="l">
              <a:lnSpc>
                <a:spcPct val="90000"/>
              </a:lnSpc>
              <a:spcBef>
                <a:spcPts val="800"/>
              </a:spcBef>
              <a:spcAft>
                <a:spcPts val="0"/>
              </a:spcAft>
              <a:buClr>
                <a:schemeClr val="dk1"/>
              </a:buClr>
              <a:buSzPts val="1400"/>
              <a:buFont typeface="Arial"/>
              <a:buNone/>
            </a:pPr>
            <a:r>
              <a:rPr b="1" i="0" lang="en-US" sz="1500" u="none" cap="none" strike="noStrike">
                <a:solidFill>
                  <a:schemeClr val="dk1"/>
                </a:solidFill>
                <a:latin typeface="Arial"/>
                <a:ea typeface="Arial"/>
                <a:cs typeface="Arial"/>
                <a:sym typeface="Arial"/>
              </a:rPr>
              <a:t>Philosophy: « We grow by empowering our people »</a:t>
            </a:r>
            <a:endParaRPr/>
          </a:p>
        </p:txBody>
      </p:sp>
      <p:grpSp>
        <p:nvGrpSpPr>
          <p:cNvPr id="259" name="Google Shape;259;p14"/>
          <p:cNvGrpSpPr/>
          <p:nvPr/>
        </p:nvGrpSpPr>
        <p:grpSpPr>
          <a:xfrm flipH="1">
            <a:off x="9051478" y="0"/>
            <a:ext cx="92522" cy="5143500"/>
            <a:chOff x="12068638" y="0"/>
            <a:chExt cx="123362" cy="6858000"/>
          </a:xfrm>
        </p:grpSpPr>
        <p:sp>
          <p:nvSpPr>
            <p:cNvPr id="260" name="Google Shape;260;p14"/>
            <p:cNvSpPr/>
            <p:nvPr/>
          </p:nvSpPr>
          <p:spPr>
            <a:xfrm>
              <a:off x="12068638" y="0"/>
              <a:ext cx="123362" cy="6858000"/>
            </a:xfrm>
            <a:prstGeom prst="rect">
              <a:avLst/>
            </a:prstGeom>
            <a:gradFill>
              <a:gsLst>
                <a:gs pos="0">
                  <a:schemeClr val="accent2"/>
                </a:gs>
                <a:gs pos="100000">
                  <a:schemeClr val="accent5"/>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1" name="Google Shape;261;p14"/>
            <p:cNvSpPr/>
            <p:nvPr/>
          </p:nvSpPr>
          <p:spPr>
            <a:xfrm>
              <a:off x="12068638" y="3527553"/>
              <a:ext cx="123362" cy="3330447"/>
            </a:xfrm>
            <a:prstGeom prst="rect">
              <a:avLst/>
            </a:prstGeom>
            <a:gradFill>
              <a:gsLst>
                <a:gs pos="0">
                  <a:srgbClr val="D86CCC">
                    <a:alpha val="0"/>
                  </a:srgbClr>
                </a:gs>
                <a:gs pos="19000">
                  <a:srgbClr val="D86CCC">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aphicFrame>
        <p:nvGraphicFramePr>
          <p:cNvPr id="262" name="Google Shape;262;p14"/>
          <p:cNvGraphicFramePr/>
          <p:nvPr/>
        </p:nvGraphicFramePr>
        <p:xfrm>
          <a:off x="3740754" y="1256636"/>
          <a:ext cx="3000000" cy="3000000"/>
        </p:xfrm>
        <a:graphic>
          <a:graphicData uri="http://schemas.openxmlformats.org/drawingml/2006/table">
            <a:tbl>
              <a:tblPr bandRow="1" firstRow="1">
                <a:noFill/>
                <a:tableStyleId>{BFC44526-852C-49A2-B4FF-3E78E5C846BC}</a:tableStyleId>
              </a:tblPr>
              <a:tblGrid>
                <a:gridCol w="874050"/>
                <a:gridCol w="1381525"/>
                <a:gridCol w="1476950"/>
                <a:gridCol w="1059475"/>
              </a:tblGrid>
              <a:tr h="337275">
                <a:tc>
                  <a:txBody>
                    <a:bodyPr/>
                    <a:lstStyle/>
                    <a:p>
                      <a:pPr indent="0" lvl="0" marL="0" marR="0" rtl="0" algn="l">
                        <a:lnSpc>
                          <a:spcPct val="100000"/>
                        </a:lnSpc>
                        <a:spcBef>
                          <a:spcPts val="0"/>
                        </a:spcBef>
                        <a:spcAft>
                          <a:spcPts val="0"/>
                        </a:spcAft>
                        <a:buNone/>
                      </a:pPr>
                      <a:r>
                        <a:rPr b="1" lang="en-US" sz="800" u="none" cap="none" strike="noStrike">
                          <a:solidFill>
                            <a:schemeClr val="dk1"/>
                          </a:solidFill>
                        </a:rPr>
                        <a:t>NAME</a:t>
                      </a:r>
                      <a:endParaRPr b="1" sz="800" u="none" cap="none" strike="noStrike">
                        <a:solidFill>
                          <a:schemeClr val="dk1"/>
                        </a:solidFill>
                      </a:endParaRPr>
                    </a:p>
                  </a:txBody>
                  <a:tcPr marT="93700" marB="93700" marR="93700" marL="93700"/>
                </a:tc>
                <a:tc>
                  <a:txBody>
                    <a:bodyPr/>
                    <a:lstStyle/>
                    <a:p>
                      <a:pPr indent="0" lvl="0" marL="0" marR="0" rtl="0" algn="l">
                        <a:lnSpc>
                          <a:spcPct val="100000"/>
                        </a:lnSpc>
                        <a:spcBef>
                          <a:spcPts val="0"/>
                        </a:spcBef>
                        <a:spcAft>
                          <a:spcPts val="0"/>
                        </a:spcAft>
                        <a:buNone/>
                      </a:pPr>
                      <a:r>
                        <a:rPr b="1" lang="en-US" sz="800" u="none" cap="none" strike="noStrike">
                          <a:solidFill>
                            <a:schemeClr val="dk1"/>
                          </a:solidFill>
                        </a:rPr>
                        <a:t>ROLE</a:t>
                      </a:r>
                      <a:endParaRPr b="1" sz="800" u="none" cap="none" strike="noStrike">
                        <a:solidFill>
                          <a:schemeClr val="dk1"/>
                        </a:solidFill>
                      </a:endParaRPr>
                    </a:p>
                  </a:txBody>
                  <a:tcPr marT="93700" marB="93700" marR="93700" marL="93700"/>
                </a:tc>
                <a:tc>
                  <a:txBody>
                    <a:bodyPr/>
                    <a:lstStyle/>
                    <a:p>
                      <a:pPr indent="0" lvl="0" marL="0" marR="0" rtl="0" algn="l">
                        <a:lnSpc>
                          <a:spcPct val="100000"/>
                        </a:lnSpc>
                        <a:spcBef>
                          <a:spcPts val="0"/>
                        </a:spcBef>
                        <a:spcAft>
                          <a:spcPts val="0"/>
                        </a:spcAft>
                        <a:buNone/>
                      </a:pPr>
                      <a:r>
                        <a:rPr b="1" lang="en-US" sz="800" u="none" cap="none" strike="noStrike">
                          <a:solidFill>
                            <a:schemeClr val="dk1"/>
                          </a:solidFill>
                        </a:rPr>
                        <a:t>EXPERIENCE</a:t>
                      </a:r>
                      <a:endParaRPr b="1" sz="800" u="none" cap="none" strike="noStrike">
                        <a:solidFill>
                          <a:schemeClr val="dk1"/>
                        </a:solidFill>
                      </a:endParaRPr>
                    </a:p>
                  </a:txBody>
                  <a:tcPr marT="93700" marB="93700" marR="93700" marL="93700"/>
                </a:tc>
                <a:tc>
                  <a:txBody>
                    <a:bodyPr/>
                    <a:lstStyle/>
                    <a:p>
                      <a:pPr indent="0" lvl="0" marL="0" marR="0" rtl="0" algn="l">
                        <a:lnSpc>
                          <a:spcPct val="100000"/>
                        </a:lnSpc>
                        <a:spcBef>
                          <a:spcPts val="0"/>
                        </a:spcBef>
                        <a:spcAft>
                          <a:spcPts val="0"/>
                        </a:spcAft>
                        <a:buNone/>
                      </a:pPr>
                      <a:r>
                        <a:rPr b="1" lang="en-US" sz="800" u="none" cap="none" strike="noStrike">
                          <a:solidFill>
                            <a:schemeClr val="dk1"/>
                          </a:solidFill>
                        </a:rPr>
                        <a:t>STRENGTH</a:t>
                      </a:r>
                      <a:endParaRPr b="1" sz="800" u="none" cap="none" strike="noStrike">
                        <a:solidFill>
                          <a:schemeClr val="dk1"/>
                        </a:solidFill>
                      </a:endParaRPr>
                    </a:p>
                  </a:txBody>
                  <a:tcPr marT="93700" marB="93700" marR="93700" marL="93700"/>
                </a:tc>
              </a:tr>
              <a:tr h="949725">
                <a:tc>
                  <a:txBody>
                    <a:bodyPr/>
                    <a:lstStyle/>
                    <a:p>
                      <a:pPr indent="0" lvl="0" marL="0" marR="0" rtl="0" algn="l">
                        <a:lnSpc>
                          <a:spcPct val="100000"/>
                        </a:lnSpc>
                        <a:spcBef>
                          <a:spcPts val="0"/>
                        </a:spcBef>
                        <a:spcAft>
                          <a:spcPts val="0"/>
                        </a:spcAft>
                        <a:buNone/>
                      </a:pPr>
                      <a:r>
                        <a:rPr lang="en-US" sz="1100" u="none" cap="none" strike="noStrike">
                          <a:solidFill>
                            <a:schemeClr val="dk1"/>
                          </a:solidFill>
                        </a:rPr>
                        <a:t>Yoane Kabambire</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Founder &amp; CEO</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5+ years in logistics, sales and customers relationship, and agribusiness leadership</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Leadership &amp; Innovation</a:t>
                      </a:r>
                      <a:endParaRPr sz="1100" u="none" cap="none" strike="noStrike">
                        <a:solidFill>
                          <a:schemeClr val="dk1"/>
                        </a:solidFill>
                      </a:endParaRPr>
                    </a:p>
                  </a:txBody>
                  <a:tcPr marT="29500" marB="62450" marR="59025" marL="59025"/>
                </a:tc>
              </a:tr>
              <a:tr h="450075">
                <a:tc>
                  <a:txBody>
                    <a:bodyPr/>
                    <a:lstStyle/>
                    <a:p>
                      <a:pPr indent="0" lvl="0" marL="0" marR="0" rtl="0" algn="l">
                        <a:lnSpc>
                          <a:spcPct val="100000"/>
                        </a:lnSpc>
                        <a:spcBef>
                          <a:spcPts val="0"/>
                        </a:spcBef>
                        <a:spcAft>
                          <a:spcPts val="0"/>
                        </a:spcAft>
                        <a:buNone/>
                      </a:pPr>
                      <a:r>
                        <a:rPr lang="en-US" sz="1100" u="none" cap="none" strike="noStrike">
                          <a:solidFill>
                            <a:schemeClr val="dk1"/>
                          </a:solidFill>
                        </a:rPr>
                        <a:t>4 Depot Managers</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Operations &amp; and client satisfaction.</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Retails management backgrounds</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Reliability &amp; Efficiency</a:t>
                      </a:r>
                      <a:endParaRPr sz="1100" u="none" cap="none" strike="noStrike">
                        <a:solidFill>
                          <a:schemeClr val="dk1"/>
                        </a:solidFill>
                      </a:endParaRPr>
                    </a:p>
                  </a:txBody>
                  <a:tcPr marT="29500" marB="62450" marR="59025" marL="59025"/>
                </a:tc>
              </a:tr>
              <a:tr h="450075">
                <a:tc>
                  <a:txBody>
                    <a:bodyPr/>
                    <a:lstStyle/>
                    <a:p>
                      <a:pPr indent="0" lvl="0" marL="0" marR="0" rtl="0" algn="l">
                        <a:lnSpc>
                          <a:spcPct val="100000"/>
                        </a:lnSpc>
                        <a:spcBef>
                          <a:spcPts val="0"/>
                        </a:spcBef>
                        <a:spcAft>
                          <a:spcPts val="0"/>
                        </a:spcAft>
                        <a:buNone/>
                      </a:pPr>
                      <a:r>
                        <a:rPr lang="en-US" sz="1100" u="none" cap="none" strike="noStrike">
                          <a:solidFill>
                            <a:schemeClr val="dk1"/>
                          </a:solidFill>
                        </a:rPr>
                        <a:t>6 Sales Agents</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Client acquisition &amp; delivery</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Agricultural promotion</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Proactive, client focused</a:t>
                      </a:r>
                      <a:endParaRPr sz="1100" u="none" cap="none" strike="noStrike">
                        <a:solidFill>
                          <a:schemeClr val="dk1"/>
                        </a:solidFill>
                      </a:endParaRPr>
                    </a:p>
                  </a:txBody>
                  <a:tcPr marT="29500" marB="62450" marR="59025" marL="59025"/>
                </a:tc>
              </a:tr>
              <a:tr h="450075">
                <a:tc>
                  <a:txBody>
                    <a:bodyPr/>
                    <a:lstStyle/>
                    <a:p>
                      <a:pPr indent="0" lvl="0" marL="0" marR="0" rtl="0" algn="l">
                        <a:lnSpc>
                          <a:spcPct val="100000"/>
                        </a:lnSpc>
                        <a:spcBef>
                          <a:spcPts val="0"/>
                        </a:spcBef>
                        <a:spcAft>
                          <a:spcPts val="0"/>
                        </a:spcAft>
                        <a:buNone/>
                      </a:pPr>
                      <a:r>
                        <a:rPr lang="en-US" sz="1100" u="none" cap="none" strike="noStrike">
                          <a:solidFill>
                            <a:schemeClr val="dk1"/>
                          </a:solidFill>
                        </a:rPr>
                        <a:t>3 Logistics partners</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Supply chain &amp; Transport</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Experience suppliers</a:t>
                      </a:r>
                      <a:endParaRPr sz="1100" u="none" cap="none" strike="noStrike">
                        <a:solidFill>
                          <a:schemeClr val="dk1"/>
                        </a:solidFill>
                      </a:endParaRPr>
                    </a:p>
                  </a:txBody>
                  <a:tcPr marT="29500" marB="62450" marR="59025" marL="59025"/>
                </a:tc>
                <a:tc>
                  <a:txBody>
                    <a:bodyPr/>
                    <a:lstStyle/>
                    <a:p>
                      <a:pPr indent="0" lvl="0" marL="0" marR="0" rtl="0" algn="l">
                        <a:lnSpc>
                          <a:spcPct val="100000"/>
                        </a:lnSpc>
                        <a:spcBef>
                          <a:spcPts val="0"/>
                        </a:spcBef>
                        <a:spcAft>
                          <a:spcPts val="0"/>
                        </a:spcAft>
                        <a:buNone/>
                      </a:pPr>
                      <a:r>
                        <a:rPr lang="en-US" sz="1100" u="none" cap="none" strike="noStrike">
                          <a:solidFill>
                            <a:schemeClr val="dk1"/>
                          </a:solidFill>
                        </a:rPr>
                        <a:t>Timely, flexible routes</a:t>
                      </a:r>
                      <a:endParaRPr sz="1100" u="none" cap="none" strike="noStrike">
                        <a:solidFill>
                          <a:schemeClr val="dk1"/>
                        </a:solidFill>
                      </a:endParaRPr>
                    </a:p>
                  </a:txBody>
                  <a:tcPr marT="29500" marB="62450" marR="59025" marL="590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p15"/>
          <p:cNvSpPr txBox="1"/>
          <p:nvPr>
            <p:ph type="title"/>
          </p:nvPr>
        </p:nvSpPr>
        <p:spPr>
          <a:xfrm>
            <a:off x="657519" y="556043"/>
            <a:ext cx="2591866" cy="121215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SzPts val="1400"/>
              <a:buNone/>
            </a:pPr>
            <a:r>
              <a:rPr b="1" lang="en-US" sz="2400">
                <a:latin typeface="Arial"/>
                <a:ea typeface="Arial"/>
                <a:cs typeface="Arial"/>
                <a:sym typeface="Arial"/>
              </a:rPr>
              <a:t>Use of Prize Money</a:t>
            </a:r>
            <a:endParaRPr/>
          </a:p>
        </p:txBody>
      </p:sp>
      <p:sp>
        <p:nvSpPr>
          <p:cNvPr id="268" name="Google Shape;268;p15"/>
          <p:cNvSpPr txBox="1"/>
          <p:nvPr>
            <p:ph idx="1" type="body"/>
          </p:nvPr>
        </p:nvSpPr>
        <p:spPr>
          <a:xfrm>
            <a:off x="657519" y="1900107"/>
            <a:ext cx="2591866" cy="2585874"/>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b="1" lang="en-US" sz="1200"/>
              <a:t>Why we believe in this Business</a:t>
            </a:r>
            <a:endParaRPr/>
          </a:p>
          <a:p>
            <a:pPr indent="0" lvl="0" marL="0" rtl="0" algn="l">
              <a:lnSpc>
                <a:spcPct val="90000"/>
              </a:lnSpc>
              <a:spcBef>
                <a:spcPts val="800"/>
              </a:spcBef>
              <a:spcAft>
                <a:spcPts val="0"/>
              </a:spcAft>
              <a:buSzPts val="1400"/>
              <a:buNone/>
            </a:pPr>
            <a:r>
              <a:rPr lang="en-US" sz="1200"/>
              <a:t>Our model has proven demand and operational efficiency in the Haut-Katanga region. With a growing network of agents and depots, the prize money will accelerate our digital presence, distribution capacity, and supply reliability. This initiative directly contributes to local employment, rural income stability, and food supply efficiency, making it both financially sustainable and socially impactful.</a:t>
            </a:r>
            <a:endParaRPr/>
          </a:p>
        </p:txBody>
      </p:sp>
      <p:grpSp>
        <p:nvGrpSpPr>
          <p:cNvPr id="269" name="Google Shape;269;p15"/>
          <p:cNvGrpSpPr/>
          <p:nvPr/>
        </p:nvGrpSpPr>
        <p:grpSpPr>
          <a:xfrm flipH="1">
            <a:off x="9051478" y="0"/>
            <a:ext cx="92522" cy="5143500"/>
            <a:chOff x="12068638" y="0"/>
            <a:chExt cx="123362" cy="6858000"/>
          </a:xfrm>
        </p:grpSpPr>
        <p:sp>
          <p:nvSpPr>
            <p:cNvPr id="270" name="Google Shape;270;p15"/>
            <p:cNvSpPr/>
            <p:nvPr/>
          </p:nvSpPr>
          <p:spPr>
            <a:xfrm>
              <a:off x="12068638" y="0"/>
              <a:ext cx="123362" cy="6858000"/>
            </a:xfrm>
            <a:prstGeom prst="rect">
              <a:avLst/>
            </a:prstGeom>
            <a:gradFill>
              <a:gsLst>
                <a:gs pos="0">
                  <a:schemeClr val="accent2"/>
                </a:gs>
                <a:gs pos="100000">
                  <a:schemeClr val="accent5"/>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1" name="Google Shape;271;p15"/>
            <p:cNvSpPr/>
            <p:nvPr/>
          </p:nvSpPr>
          <p:spPr>
            <a:xfrm>
              <a:off x="12068638" y="3527553"/>
              <a:ext cx="123362" cy="3330447"/>
            </a:xfrm>
            <a:prstGeom prst="rect">
              <a:avLst/>
            </a:prstGeom>
            <a:gradFill>
              <a:gsLst>
                <a:gs pos="0">
                  <a:srgbClr val="D86CCC">
                    <a:alpha val="0"/>
                  </a:srgbClr>
                </a:gs>
                <a:gs pos="19000">
                  <a:srgbClr val="D86CCC">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aphicFrame>
        <p:nvGraphicFramePr>
          <p:cNvPr id="272" name="Google Shape;272;p15"/>
          <p:cNvGraphicFramePr/>
          <p:nvPr/>
        </p:nvGraphicFramePr>
        <p:xfrm>
          <a:off x="3740754" y="978317"/>
          <a:ext cx="3000000" cy="3000000"/>
        </p:xfrm>
        <a:graphic>
          <a:graphicData uri="http://schemas.openxmlformats.org/drawingml/2006/table">
            <a:tbl>
              <a:tblPr bandRow="1" firstRow="1">
                <a:noFill/>
                <a:tableStyleId>{BFC44526-852C-49A2-B4FF-3E78E5C846BC}</a:tableStyleId>
              </a:tblPr>
              <a:tblGrid>
                <a:gridCol w="1025875"/>
                <a:gridCol w="548925"/>
                <a:gridCol w="2167175"/>
                <a:gridCol w="1050025"/>
              </a:tblGrid>
              <a:tr h="338975">
                <a:tc>
                  <a:txBody>
                    <a:bodyPr/>
                    <a:lstStyle/>
                    <a:p>
                      <a:pPr indent="0" lvl="0" marL="0" marR="0" rtl="0" algn="l">
                        <a:lnSpc>
                          <a:spcPct val="100000"/>
                        </a:lnSpc>
                        <a:spcBef>
                          <a:spcPts val="0"/>
                        </a:spcBef>
                        <a:spcAft>
                          <a:spcPts val="0"/>
                        </a:spcAft>
                        <a:buNone/>
                      </a:pPr>
                      <a:r>
                        <a:rPr lang="en-US" sz="900" u="none" cap="none" strike="noStrike"/>
                        <a:t>Use </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Amount (USD)</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Objective &amp; Impact on Growth</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Quarter of Implementation</a:t>
                      </a:r>
                      <a:endParaRPr sz="900" u="none" cap="none" strike="noStrike"/>
                    </a:p>
                  </a:txBody>
                  <a:tcPr marT="16850" marB="16850" marR="33725" marL="33725"/>
                </a:tc>
              </a:tr>
              <a:tr h="611525">
                <a:tc>
                  <a:txBody>
                    <a:bodyPr/>
                    <a:lstStyle/>
                    <a:p>
                      <a:pPr indent="0" lvl="0" marL="0" marR="0" rtl="0" algn="l">
                        <a:lnSpc>
                          <a:spcPct val="100000"/>
                        </a:lnSpc>
                        <a:spcBef>
                          <a:spcPts val="0"/>
                        </a:spcBef>
                        <a:spcAft>
                          <a:spcPts val="0"/>
                        </a:spcAft>
                        <a:buNone/>
                      </a:pPr>
                      <a:r>
                        <a:rPr lang="en-US" sz="900" u="none" cap="none" strike="noStrike"/>
                        <a:t>Stock increase</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3,000</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Expand inventory to meet growing farmer and cooperative demand,ensuring regular availability, reducing stock-outs , and increasing sales by +30%</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Q1-Early 2026</a:t>
                      </a:r>
                      <a:endParaRPr sz="900" u="none" cap="none" strike="noStrike"/>
                    </a:p>
                  </a:txBody>
                  <a:tcPr marT="16850" marB="16850" marR="33725" marL="33725"/>
                </a:tc>
              </a:tr>
              <a:tr h="1020325">
                <a:tc>
                  <a:txBody>
                    <a:bodyPr/>
                    <a:lstStyle/>
                    <a:p>
                      <a:pPr indent="0" lvl="0" marL="0" marR="0" rtl="0" algn="l">
                        <a:lnSpc>
                          <a:spcPct val="100000"/>
                        </a:lnSpc>
                        <a:spcBef>
                          <a:spcPts val="0"/>
                        </a:spcBef>
                        <a:spcAft>
                          <a:spcPts val="0"/>
                        </a:spcAft>
                        <a:buNone/>
                      </a:pPr>
                      <a:r>
                        <a:rPr lang="en-US" sz="900" u="none" cap="none" strike="noStrike"/>
                        <a:t>Marketing &amp; Communication</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450</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Develop a professional website (250 USD) to strengthen visibility and facilitate online orders. Invest the remaining 200 USD in social media compaigns (Facebook, Tik-Tok, Instagram) and local Flyers/Posters to enhance awareness and customer acquisition</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Q2-Mid 2026</a:t>
                      </a:r>
                      <a:endParaRPr sz="900" u="none" cap="none" strike="noStrike"/>
                    </a:p>
                  </a:txBody>
                  <a:tcPr marT="16850" marB="16850" marR="33725" marL="33725"/>
                </a:tc>
              </a:tr>
              <a:tr h="611525">
                <a:tc>
                  <a:txBody>
                    <a:bodyPr/>
                    <a:lstStyle/>
                    <a:p>
                      <a:pPr indent="0" lvl="0" marL="0" marR="0" rtl="0" algn="l">
                        <a:lnSpc>
                          <a:spcPct val="100000"/>
                        </a:lnSpc>
                        <a:spcBef>
                          <a:spcPts val="0"/>
                        </a:spcBef>
                        <a:spcAft>
                          <a:spcPts val="0"/>
                        </a:spcAft>
                        <a:buNone/>
                      </a:pPr>
                      <a:r>
                        <a:rPr lang="en-US" sz="900" u="none" cap="none" strike="noStrike"/>
                        <a:t>Rent Guarantee</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550</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Secure a central depot for 12 months, improving accesibility,reduicing logistics costs, and boosting trust with clients and  suppliers</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Q3-Mid 2026</a:t>
                      </a:r>
                      <a:endParaRPr sz="900" u="none" cap="none" strike="noStrike"/>
                    </a:p>
                  </a:txBody>
                  <a:tcPr marT="16850" marB="16850" marR="33725" marL="33725"/>
                </a:tc>
              </a:tr>
              <a:tr h="611525">
                <a:tc>
                  <a:txBody>
                    <a:bodyPr/>
                    <a:lstStyle/>
                    <a:p>
                      <a:pPr indent="0" lvl="0" marL="0" marR="0" rtl="0" algn="l">
                        <a:lnSpc>
                          <a:spcPct val="100000"/>
                        </a:lnSpc>
                        <a:spcBef>
                          <a:spcPts val="0"/>
                        </a:spcBef>
                        <a:spcAft>
                          <a:spcPts val="0"/>
                        </a:spcAft>
                        <a:buNone/>
                      </a:pPr>
                      <a:r>
                        <a:rPr lang="en-US" sz="900" u="none" cap="none" strike="noStrike"/>
                        <a:t>Capital &amp; Internal rotation</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10,750</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Support daily operations (transportation, working capital, staff incentives) and reinvest in fast moving items to sustain business growth</a:t>
                      </a:r>
                      <a:endParaRPr sz="900" u="none" cap="none" strike="noStrike"/>
                    </a:p>
                  </a:txBody>
                  <a:tcPr marT="16850" marB="16850" marR="33725" marL="33725"/>
                </a:tc>
                <a:tc>
                  <a:txBody>
                    <a:bodyPr/>
                    <a:lstStyle/>
                    <a:p>
                      <a:pPr indent="0" lvl="0" marL="0" marR="0" rtl="0" algn="l">
                        <a:lnSpc>
                          <a:spcPct val="100000"/>
                        </a:lnSpc>
                        <a:spcBef>
                          <a:spcPts val="0"/>
                        </a:spcBef>
                        <a:spcAft>
                          <a:spcPts val="0"/>
                        </a:spcAft>
                        <a:buNone/>
                      </a:pPr>
                      <a:r>
                        <a:rPr lang="en-US" sz="900" u="none" cap="none" strike="noStrike"/>
                        <a:t>Continuous -2026</a:t>
                      </a:r>
                      <a:endParaRPr sz="900" u="none" cap="none" strike="noStrike"/>
                    </a:p>
                  </a:txBody>
                  <a:tcPr marT="16850" marB="16850" marR="33725" marL="337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p16"/>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standing in front of a building with bags and a motorcycle" id="278" name="Google Shape;278;p16"/>
          <p:cNvPicPr preferRelativeResize="0"/>
          <p:nvPr/>
        </p:nvPicPr>
        <p:blipFill rotWithShape="1">
          <a:blip r:embed="rId3">
            <a:alphaModFix/>
          </a:blip>
          <a:srcRect b="14396" l="0" r="0" t="18452"/>
          <a:stretch/>
        </p:blipFill>
        <p:spPr>
          <a:xfrm>
            <a:off x="20" y="961"/>
            <a:ext cx="9143980" cy="514253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sp>
        <p:nvSpPr>
          <p:cNvPr id="283" name="Google Shape;283;p17"/>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standing in a store&#10;&#10;AI-generated content may be incorrect." id="284" name="Google Shape;284;p17"/>
          <p:cNvPicPr preferRelativeResize="0"/>
          <p:nvPr/>
        </p:nvPicPr>
        <p:blipFill rotWithShape="1">
          <a:blip r:embed="rId3">
            <a:alphaModFix/>
          </a:blip>
          <a:srcRect b="18965" l="0" r="0" t="13883"/>
          <a:stretch/>
        </p:blipFill>
        <p:spPr>
          <a:xfrm>
            <a:off x="20" y="961"/>
            <a:ext cx="9143980" cy="514253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8" name="Shape 288"/>
        <p:cNvGrpSpPr/>
        <p:nvPr/>
      </p:nvGrpSpPr>
      <p:grpSpPr>
        <a:xfrm>
          <a:off x="0" y="0"/>
          <a:ext cx="0" cy="0"/>
          <a:chOff x="0" y="0"/>
          <a:chExt cx="0" cy="0"/>
        </a:xfrm>
      </p:grpSpPr>
      <p:sp>
        <p:nvSpPr>
          <p:cNvPr id="289" name="Google Shape;289;p18"/>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standing next to another person in a store&#10;&#10;AI-generated content may be incorrect." id="290" name="Google Shape;290;p18"/>
          <p:cNvPicPr preferRelativeResize="0"/>
          <p:nvPr/>
        </p:nvPicPr>
        <p:blipFill rotWithShape="1">
          <a:blip r:embed="rId3">
            <a:alphaModFix/>
          </a:blip>
          <a:srcRect b="31976" l="0" r="0" t="871"/>
          <a:stretch/>
        </p:blipFill>
        <p:spPr>
          <a:xfrm>
            <a:off x="20" y="961"/>
            <a:ext cx="9143980" cy="514253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4" name="Shape 294"/>
        <p:cNvGrpSpPr/>
        <p:nvPr/>
      </p:nvGrpSpPr>
      <p:grpSpPr>
        <a:xfrm>
          <a:off x="0" y="0"/>
          <a:ext cx="0" cy="0"/>
          <a:chOff x="0" y="0"/>
          <a:chExt cx="0" cy="0"/>
        </a:xfrm>
      </p:grpSpPr>
      <p:sp>
        <p:nvSpPr>
          <p:cNvPr id="295" name="Google Shape;295;p19"/>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sitting on a ladder in a room with many bags and bags" id="296" name="Google Shape;296;p19"/>
          <p:cNvPicPr preferRelativeResize="0"/>
          <p:nvPr/>
        </p:nvPicPr>
        <p:blipFill rotWithShape="1">
          <a:blip r:embed="rId3">
            <a:alphaModFix/>
          </a:blip>
          <a:srcRect b="13942" l="0" r="0" t="18906"/>
          <a:stretch/>
        </p:blipFill>
        <p:spPr>
          <a:xfrm>
            <a:off x="20" y="961"/>
            <a:ext cx="9143980" cy="514253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sp>
        <p:nvSpPr>
          <p:cNvPr id="301" name="Google Shape;301;p20"/>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couple of men standing in a small store" id="302" name="Google Shape;302;p20"/>
          <p:cNvPicPr preferRelativeResize="0"/>
          <p:nvPr/>
        </p:nvPicPr>
        <p:blipFill rotWithShape="1">
          <a:blip r:embed="rId3">
            <a:alphaModFix/>
          </a:blip>
          <a:srcRect b="14619" l="0" r="0" t="18228"/>
          <a:stretch/>
        </p:blipFill>
        <p:spPr>
          <a:xfrm>
            <a:off x="20" y="961"/>
            <a:ext cx="9143980" cy="514253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 name="Shape 306"/>
        <p:cNvGrpSpPr/>
        <p:nvPr/>
      </p:nvGrpSpPr>
      <p:grpSpPr>
        <a:xfrm>
          <a:off x="0" y="0"/>
          <a:ext cx="0" cy="0"/>
          <a:chOff x="0" y="0"/>
          <a:chExt cx="0" cy="0"/>
        </a:xfrm>
      </p:grpSpPr>
      <p:sp>
        <p:nvSpPr>
          <p:cNvPr id="307" name="Google Shape;307;p21"/>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holding a can of food&#10;&#10;AI-generated content may be incorrect." id="308" name="Google Shape;308;p21"/>
          <p:cNvPicPr preferRelativeResize="0"/>
          <p:nvPr/>
        </p:nvPicPr>
        <p:blipFill rotWithShape="1">
          <a:blip r:embed="rId3">
            <a:alphaModFix/>
          </a:blip>
          <a:srcRect b="32848" l="0" r="0" t="0"/>
          <a:stretch/>
        </p:blipFill>
        <p:spPr>
          <a:xfrm>
            <a:off x="20" y="961"/>
            <a:ext cx="9143980" cy="514253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22"/>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Two men standing in a small store" id="314" name="Google Shape;314;p22"/>
          <p:cNvPicPr preferRelativeResize="0"/>
          <p:nvPr/>
        </p:nvPicPr>
        <p:blipFill rotWithShape="1">
          <a:blip r:embed="rId3">
            <a:alphaModFix/>
          </a:blip>
          <a:srcRect b="32848" l="0" r="0" t="0"/>
          <a:stretch/>
        </p:blipFill>
        <p:spPr>
          <a:xfrm>
            <a:off x="20" y="961"/>
            <a:ext cx="9143980" cy="514253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8" name="Shape 318"/>
        <p:cNvGrpSpPr/>
        <p:nvPr/>
      </p:nvGrpSpPr>
      <p:grpSpPr>
        <a:xfrm>
          <a:off x="0" y="0"/>
          <a:ext cx="0" cy="0"/>
          <a:chOff x="0" y="0"/>
          <a:chExt cx="0" cy="0"/>
        </a:xfrm>
      </p:grpSpPr>
      <p:sp>
        <p:nvSpPr>
          <p:cNvPr id="319" name="Google Shape;319;p23"/>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group of people standing outside a building&#10;&#10;AI-generated content may be incorrect." id="320" name="Google Shape;320;p23"/>
          <p:cNvPicPr preferRelativeResize="0"/>
          <p:nvPr/>
        </p:nvPicPr>
        <p:blipFill rotWithShape="1">
          <a:blip r:embed="rId3">
            <a:alphaModFix/>
          </a:blip>
          <a:srcRect b="22354" l="0" r="0" t="10494"/>
          <a:stretch/>
        </p:blipFill>
        <p:spPr>
          <a:xfrm>
            <a:off x="20" y="961"/>
            <a:ext cx="9143980" cy="514253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4" name="Shape 324"/>
        <p:cNvGrpSpPr/>
        <p:nvPr/>
      </p:nvGrpSpPr>
      <p:grpSpPr>
        <a:xfrm>
          <a:off x="0" y="0"/>
          <a:ext cx="0" cy="0"/>
          <a:chOff x="0" y="0"/>
          <a:chExt cx="0" cy="0"/>
        </a:xfrm>
      </p:grpSpPr>
      <p:sp>
        <p:nvSpPr>
          <p:cNvPr id="325" name="Google Shape;325;p24"/>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motorcycle parked outside a building&#10;&#10;AI-generated content may be incorrect." id="326" name="Google Shape;326;p24"/>
          <p:cNvPicPr preferRelativeResize="0"/>
          <p:nvPr/>
        </p:nvPicPr>
        <p:blipFill rotWithShape="1">
          <a:blip r:embed="rId3">
            <a:alphaModFix/>
          </a:blip>
          <a:srcRect b="10592" l="0" r="0" t="22256"/>
          <a:stretch/>
        </p:blipFill>
        <p:spPr>
          <a:xfrm>
            <a:off x="20" y="961"/>
            <a:ext cx="9143980" cy="514253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 name="Shape 330"/>
        <p:cNvGrpSpPr/>
        <p:nvPr/>
      </p:nvGrpSpPr>
      <p:grpSpPr>
        <a:xfrm>
          <a:off x="0" y="0"/>
          <a:ext cx="0" cy="0"/>
          <a:chOff x="0" y="0"/>
          <a:chExt cx="0" cy="0"/>
        </a:xfrm>
      </p:grpSpPr>
      <p:sp>
        <p:nvSpPr>
          <p:cNvPr id="331" name="Google Shape;331;p2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standing next to a stack of bags" id="332" name="Google Shape;332;p25"/>
          <p:cNvPicPr preferRelativeResize="0"/>
          <p:nvPr/>
        </p:nvPicPr>
        <p:blipFill rotWithShape="1">
          <a:blip r:embed="rId3">
            <a:alphaModFix/>
          </a:blip>
          <a:srcRect b="12321" l="0" r="0" t="20527"/>
          <a:stretch/>
        </p:blipFill>
        <p:spPr>
          <a:xfrm>
            <a:off x="20" y="961"/>
            <a:ext cx="9143980" cy="514253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sp>
        <p:nvSpPr>
          <p:cNvPr id="337" name="Google Shape;337;p26"/>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standing in a store&#10;&#10;AI-generated content may be incorrect." id="338" name="Google Shape;338;p26"/>
          <p:cNvPicPr preferRelativeResize="0"/>
          <p:nvPr/>
        </p:nvPicPr>
        <p:blipFill rotWithShape="1">
          <a:blip r:embed="rId3">
            <a:alphaModFix/>
          </a:blip>
          <a:srcRect b="16340" l="0" r="0" t="16509"/>
          <a:stretch/>
        </p:blipFill>
        <p:spPr>
          <a:xfrm>
            <a:off x="20" y="961"/>
            <a:ext cx="9143980" cy="51425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2" name="Shape 342"/>
        <p:cNvGrpSpPr/>
        <p:nvPr/>
      </p:nvGrpSpPr>
      <p:grpSpPr>
        <a:xfrm>
          <a:off x="0" y="0"/>
          <a:ext cx="0" cy="0"/>
          <a:chOff x="0" y="0"/>
          <a:chExt cx="0" cy="0"/>
        </a:xfrm>
      </p:grpSpPr>
      <p:sp>
        <p:nvSpPr>
          <p:cNvPr id="343" name="Google Shape;343;p27"/>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erson standing in a small store&#10;&#10;AI-generated content may be incorrect." id="344" name="Google Shape;344;p27"/>
          <p:cNvPicPr preferRelativeResize="0"/>
          <p:nvPr/>
        </p:nvPicPr>
        <p:blipFill rotWithShape="1">
          <a:blip r:embed="rId3">
            <a:alphaModFix/>
          </a:blip>
          <a:srcRect b="10236" l="0" r="0" t="22611"/>
          <a:stretch/>
        </p:blipFill>
        <p:spPr>
          <a:xfrm>
            <a:off x="20" y="961"/>
            <a:ext cx="9143980" cy="514253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8"/>
          <p:cNvSpPr txBox="1"/>
          <p:nvPr>
            <p:ph type="title"/>
          </p:nvPr>
        </p:nvSpPr>
        <p:spPr>
          <a:xfrm>
            <a:off x="628650" y="273844"/>
            <a:ext cx="7886700" cy="240358"/>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47138"/>
              <a:buNone/>
            </a:pPr>
            <a:r>
              <a:rPr b="1" lang="en-US">
                <a:latin typeface="Arial"/>
                <a:ea typeface="Arial"/>
                <a:cs typeface="Arial"/>
                <a:sym typeface="Arial"/>
              </a:rPr>
              <a:t>Business Registration/Licenses</a:t>
            </a:r>
            <a:endParaRPr b="1">
              <a:latin typeface="Arial"/>
              <a:ea typeface="Arial"/>
              <a:cs typeface="Arial"/>
              <a:sym typeface="Arial"/>
            </a:endParaRPr>
          </a:p>
        </p:txBody>
      </p:sp>
      <p:pic>
        <p:nvPicPr>
          <p:cNvPr descr="A document with a signature" id="350" name="Google Shape;350;p28"/>
          <p:cNvPicPr preferRelativeResize="0"/>
          <p:nvPr/>
        </p:nvPicPr>
        <p:blipFill rotWithShape="1">
          <a:blip r:embed="rId3">
            <a:alphaModFix/>
          </a:blip>
          <a:srcRect b="0" l="0" r="0" t="0"/>
          <a:stretch/>
        </p:blipFill>
        <p:spPr>
          <a:xfrm rot="-5400000">
            <a:off x="2749674" y="0"/>
            <a:ext cx="3644652"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A close-up of a document&#10;&#10;AI-generated content may be incorrect." id="355" name="Google Shape;355;p29"/>
          <p:cNvPicPr preferRelativeResize="0"/>
          <p:nvPr/>
        </p:nvPicPr>
        <p:blipFill rotWithShape="1">
          <a:blip r:embed="rId3">
            <a:alphaModFix/>
          </a:blip>
          <a:srcRect b="0" l="0" r="0" t="0"/>
          <a:stretch/>
        </p:blipFill>
        <p:spPr>
          <a:xfrm rot="-5400000">
            <a:off x="2745655" y="0"/>
            <a:ext cx="3652689" cy="5143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descr="A document with signature on it" id="360" name="Google Shape;360;p30"/>
          <p:cNvPicPr preferRelativeResize="0"/>
          <p:nvPr/>
        </p:nvPicPr>
        <p:blipFill rotWithShape="1">
          <a:blip r:embed="rId3">
            <a:alphaModFix/>
          </a:blip>
          <a:srcRect b="0" l="0" r="0" t="0"/>
          <a:stretch/>
        </p:blipFill>
        <p:spPr>
          <a:xfrm rot="-5400000">
            <a:off x="2745655" y="0"/>
            <a:ext cx="3652689" cy="5143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A document with signature on it&#10;&#10;AI-generated content may be incorrect." id="365" name="Google Shape;365;p31"/>
          <p:cNvPicPr preferRelativeResize="0"/>
          <p:nvPr/>
        </p:nvPicPr>
        <p:blipFill rotWithShape="1">
          <a:blip r:embed="rId3">
            <a:alphaModFix/>
          </a:blip>
          <a:srcRect b="0" l="0" r="0" t="0"/>
          <a:stretch/>
        </p:blipFill>
        <p:spPr>
          <a:xfrm rot="-5400000">
            <a:off x="2747665" y="0"/>
            <a:ext cx="3648670"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descr="A close-up of a document&#10;&#10;AI-generated content may be incorrect." id="370" name="Google Shape;370;p32"/>
          <p:cNvPicPr preferRelativeResize="0"/>
          <p:nvPr/>
        </p:nvPicPr>
        <p:blipFill rotWithShape="1">
          <a:blip r:embed="rId3">
            <a:alphaModFix/>
          </a:blip>
          <a:srcRect b="0" l="0" r="0" t="0"/>
          <a:stretch/>
        </p:blipFill>
        <p:spPr>
          <a:xfrm rot="-5400000">
            <a:off x="2747665" y="0"/>
            <a:ext cx="3648670" cy="5143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descr="A close-up of a document" id="375" name="Google Shape;375;p33"/>
          <p:cNvPicPr preferRelativeResize="0"/>
          <p:nvPr/>
        </p:nvPicPr>
        <p:blipFill rotWithShape="1">
          <a:blip r:embed="rId3">
            <a:alphaModFix/>
          </a:blip>
          <a:srcRect b="0" l="0" r="0" t="0"/>
          <a:stretch/>
        </p:blipFill>
        <p:spPr>
          <a:xfrm rot="-5400000">
            <a:off x="2751683" y="-411125"/>
            <a:ext cx="3640634" cy="5143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descr="A close up of a card" id="380" name="Google Shape;380;p34"/>
          <p:cNvPicPr preferRelativeResize="0"/>
          <p:nvPr/>
        </p:nvPicPr>
        <p:blipFill rotWithShape="1">
          <a:blip r:embed="rId3">
            <a:alphaModFix/>
          </a:blip>
          <a:srcRect b="0" l="0" r="0" t="0"/>
          <a:stretch/>
        </p:blipFill>
        <p:spPr>
          <a:xfrm rot="-5400000">
            <a:off x="2927315" y="-895533"/>
            <a:ext cx="3289369" cy="7886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84" name="Shape 384"/>
        <p:cNvGrpSpPr/>
        <p:nvPr/>
      </p:nvGrpSpPr>
      <p:grpSpPr>
        <a:xfrm>
          <a:off x="0" y="0"/>
          <a:ext cx="0" cy="0"/>
          <a:chOff x="0" y="0"/>
          <a:chExt cx="0" cy="0"/>
        </a:xfrm>
      </p:grpSpPr>
      <p:sp>
        <p:nvSpPr>
          <p:cNvPr id="385" name="Google Shape;385;p35"/>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6" name="Google Shape;386;p35"/>
          <p:cNvSpPr txBox="1"/>
          <p:nvPr>
            <p:ph type="title"/>
          </p:nvPr>
        </p:nvSpPr>
        <p:spPr>
          <a:xfrm>
            <a:off x="628650" y="465556"/>
            <a:ext cx="7886700" cy="99417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400"/>
              <a:buNone/>
            </a:pPr>
            <a:r>
              <a:rPr b="1" lang="en-US" sz="4400">
                <a:solidFill>
                  <a:srgbClr val="FFFFFF"/>
                </a:solidFill>
                <a:latin typeface="Arial"/>
                <a:ea typeface="Arial"/>
                <a:cs typeface="Arial"/>
                <a:sym typeface="Arial"/>
              </a:rPr>
              <a:t>Conclusion</a:t>
            </a:r>
            <a:endParaRPr/>
          </a:p>
        </p:txBody>
      </p:sp>
      <p:cxnSp>
        <p:nvCxnSpPr>
          <p:cNvPr id="387" name="Google Shape;387;p35"/>
          <p:cNvCxnSpPr/>
          <p:nvPr/>
        </p:nvCxnSpPr>
        <p:spPr>
          <a:xfrm rot="10800000">
            <a:off x="571500" y="619743"/>
            <a:ext cx="0" cy="685800"/>
          </a:xfrm>
          <a:prstGeom prst="straightConnector1">
            <a:avLst/>
          </a:prstGeom>
          <a:noFill/>
          <a:ln cap="flat" cmpd="sng" w="19050">
            <a:solidFill>
              <a:srgbClr val="FFFFFF">
                <a:alpha val="80000"/>
              </a:srgbClr>
            </a:solidFill>
            <a:prstDash val="solid"/>
            <a:round/>
            <a:headEnd len="sm" w="sm" type="none"/>
            <a:tailEnd len="sm" w="sm" type="none"/>
          </a:ln>
        </p:spPr>
      </p:cxnSp>
      <p:sp>
        <p:nvSpPr>
          <p:cNvPr id="388" name="Google Shape;388;p35"/>
          <p:cNvSpPr txBox="1"/>
          <p:nvPr/>
        </p:nvSpPr>
        <p:spPr>
          <a:xfrm>
            <a:off x="4692015" y="1699758"/>
            <a:ext cx="3823335" cy="99417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800"/>
              </a:spcBef>
              <a:spcAft>
                <a:spcPts val="0"/>
              </a:spcAft>
              <a:buClr>
                <a:schemeClr val="dk1"/>
              </a:buClr>
              <a:buSzPts val="1400"/>
              <a:buFont typeface="Arial"/>
              <a:buNone/>
            </a:pPr>
            <a:r>
              <a:rPr b="0" i="1" lang="en-US" sz="1800" u="none" cap="none" strike="noStrike">
                <a:solidFill>
                  <a:srgbClr val="FFFFFF"/>
                </a:solidFill>
                <a:latin typeface="Arial"/>
                <a:ea typeface="Arial"/>
                <a:cs typeface="Arial"/>
                <a:sym typeface="Arial"/>
              </a:rPr>
              <a:t>“-This is not just a business; it’s a bridge between farmers and their future-”</a:t>
            </a:r>
            <a:endParaRPr/>
          </a:p>
        </p:txBody>
      </p:sp>
      <p:pic>
        <p:nvPicPr>
          <p:cNvPr descr="A logo for a farm&#10;&#10;AI-generated content may be incorrect." id="389" name="Google Shape;389;p35"/>
          <p:cNvPicPr preferRelativeResize="0"/>
          <p:nvPr/>
        </p:nvPicPr>
        <p:blipFill rotWithShape="1">
          <a:blip r:embed="rId3">
            <a:alphaModFix/>
          </a:blip>
          <a:srcRect b="18453" l="16910" r="16223" t="17425"/>
          <a:stretch/>
        </p:blipFill>
        <p:spPr>
          <a:xfrm>
            <a:off x="5641470" y="2693930"/>
            <a:ext cx="1779334" cy="1706336"/>
          </a:xfrm>
          <a:prstGeom prst="rect">
            <a:avLst/>
          </a:prstGeom>
          <a:noFill/>
          <a:ln>
            <a:noFill/>
          </a:ln>
        </p:spPr>
      </p:pic>
      <p:grpSp>
        <p:nvGrpSpPr>
          <p:cNvPr id="390" name="Google Shape;390;p35"/>
          <p:cNvGrpSpPr/>
          <p:nvPr/>
        </p:nvGrpSpPr>
        <p:grpSpPr>
          <a:xfrm>
            <a:off x="628650" y="1700859"/>
            <a:ext cx="3823335" cy="2930760"/>
            <a:chOff x="0" y="1101"/>
            <a:chExt cx="3823335" cy="2930760"/>
          </a:xfrm>
        </p:grpSpPr>
        <p:sp>
          <p:nvSpPr>
            <p:cNvPr id="391" name="Google Shape;391;p35"/>
            <p:cNvSpPr/>
            <p:nvPr/>
          </p:nvSpPr>
          <p:spPr>
            <a:xfrm>
              <a:off x="0" y="1101"/>
              <a:ext cx="3823335" cy="95004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5"/>
            <p:cNvSpPr txBox="1"/>
            <p:nvPr/>
          </p:nvSpPr>
          <p:spPr>
            <a:xfrm>
              <a:off x="46377" y="47478"/>
              <a:ext cx="3730581" cy="857286"/>
            </a:xfrm>
            <a:prstGeom prst="rect">
              <a:avLst/>
            </a:prstGeom>
            <a:noFill/>
            <a:ln>
              <a:noFill/>
            </a:ln>
          </p:spPr>
          <p:txBody>
            <a:bodyPr anchorCtr="0" anchor="ctr" bIns="53325" lIns="53325" spcFirstLastPara="1" rIns="53325" wrap="square" tIns="53325">
              <a:no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MWANA MBOKA LOGISTICS SARLU bridges rural supply gaps through an efficient, digital, and community-based distribution model</a:t>
              </a:r>
              <a:endParaRPr b="0" i="0" sz="1400" u="none" cap="none" strike="noStrike">
                <a:solidFill>
                  <a:schemeClr val="lt1"/>
                </a:solidFill>
                <a:latin typeface="Arial"/>
                <a:ea typeface="Arial"/>
                <a:cs typeface="Arial"/>
                <a:sym typeface="Arial"/>
              </a:endParaRPr>
            </a:p>
          </p:txBody>
        </p:sp>
        <p:sp>
          <p:nvSpPr>
            <p:cNvPr id="393" name="Google Shape;393;p35"/>
            <p:cNvSpPr/>
            <p:nvPr/>
          </p:nvSpPr>
          <p:spPr>
            <a:xfrm>
              <a:off x="0" y="991461"/>
              <a:ext cx="3823335" cy="95004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5"/>
            <p:cNvSpPr txBox="1"/>
            <p:nvPr/>
          </p:nvSpPr>
          <p:spPr>
            <a:xfrm>
              <a:off x="46377" y="1037838"/>
              <a:ext cx="3730581" cy="857286"/>
            </a:xfrm>
            <a:prstGeom prst="rect">
              <a:avLst/>
            </a:prstGeom>
            <a:noFill/>
            <a:ln>
              <a:noFill/>
            </a:ln>
          </p:spPr>
          <p:txBody>
            <a:bodyPr anchorCtr="0" anchor="ctr" bIns="53325" lIns="53325" spcFirstLastPara="1" rIns="53325" wrap="square" tIns="53325">
              <a:noAutofit/>
            </a:bodyPr>
            <a:lstStyle/>
            <a:p>
              <a:pPr indent="0" lvl="0" marL="0" marR="0" rtl="0" algn="l">
                <a:lnSpc>
                  <a:spcPct val="9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With BYU support , we will scale operations, expand our depot network, and strengthen rural supply chains driving both profit and social impact</a:t>
              </a:r>
              <a:endParaRPr b="0" i="0" sz="1400" u="none" cap="none" strike="noStrike">
                <a:solidFill>
                  <a:schemeClr val="lt1"/>
                </a:solidFill>
                <a:latin typeface="Arial"/>
                <a:ea typeface="Arial"/>
                <a:cs typeface="Arial"/>
                <a:sym typeface="Arial"/>
              </a:endParaRPr>
            </a:p>
          </p:txBody>
        </p:sp>
        <p:sp>
          <p:nvSpPr>
            <p:cNvPr id="395" name="Google Shape;395;p35"/>
            <p:cNvSpPr/>
            <p:nvPr/>
          </p:nvSpPr>
          <p:spPr>
            <a:xfrm>
              <a:off x="0" y="1981821"/>
              <a:ext cx="3823335" cy="95004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5"/>
            <p:cNvSpPr txBox="1"/>
            <p:nvPr/>
          </p:nvSpPr>
          <p:spPr>
            <a:xfrm>
              <a:off x="46377" y="2028198"/>
              <a:ext cx="3730581" cy="857286"/>
            </a:xfrm>
            <a:prstGeom prst="rect">
              <a:avLst/>
            </a:prstGeom>
            <a:noFill/>
            <a:ln>
              <a:noFill/>
            </a:ln>
          </p:spPr>
          <p:txBody>
            <a:bodyPr anchorCtr="0" anchor="ctr" bIns="53325" lIns="53325" spcFirstLastPara="1" rIns="53325" wrap="square" tIns="53325">
              <a:noAutofit/>
            </a:bodyPr>
            <a:lstStyle/>
            <a:p>
              <a:pPr indent="0" lvl="0" marL="0" marR="0" rtl="0" algn="l">
                <a:lnSpc>
                  <a:spcPct val="90000"/>
                </a:lnSpc>
                <a:spcBef>
                  <a:spcPts val="0"/>
                </a:spcBef>
                <a:spcAft>
                  <a:spcPts val="0"/>
                </a:spcAft>
                <a:buClr>
                  <a:srgbClr val="000000"/>
                </a:buClr>
                <a:buSzPts val="1400"/>
                <a:buFont typeface="Arial"/>
                <a:buNone/>
              </a:pPr>
              <a:r>
                <a:rPr b="1" i="1" lang="en-US" sz="1400" u="none" cap="none" strike="noStrike">
                  <a:solidFill>
                    <a:schemeClr val="lt1"/>
                  </a:solidFill>
                  <a:latin typeface="Arial"/>
                  <a:ea typeface="Arial"/>
                  <a:cs typeface="Arial"/>
                  <a:sym typeface="Arial"/>
                </a:rPr>
                <a:t>“Empowering farmers today to feed Africa tomorrow”</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2025-10-23T01:20:26Z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42804ae1-d2e9-40b7-a4a3-45811234298b</vt:lpwstr>
  </property>
  <property fmtid="{D5CDD505-2E9C-101B-9397-08002B2CF9AE}" pid="7" name="MSIP_Label_defa4170-0d19-0005-0004-bc88714345d2_ActionId">
    <vt:lpwstr>750b0e07-bde9-415e-bbf8-4a54f151afa3</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
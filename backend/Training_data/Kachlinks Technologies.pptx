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Lst>
  <p:sldSz cy="6858000" cx="12192000"/>
  <p:notesSz cx="6858000" cy="9144000"/>
  <p:embeddedFontLst>
    <p:embeddedFont>
      <p:font typeface="Play"/>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Play-regular.fntdata"/><Relationship Id="rId25" Type="http://schemas.openxmlformats.org/officeDocument/2006/relationships/slide" Target="slides/slide21.xml"/><Relationship Id="rId27" Type="http://schemas.openxmlformats.org/officeDocument/2006/relationships/font" Target="fonts/Play-bold.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1" name="Google Shape;91;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5" name="Google Shape;105;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7" name="Google Shape;127;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4" name="Google Shape;164;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3" name="Google Shape;213;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4" name="Google Shape;224;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1" name="Google Shape;231;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7" name="Google Shape;237;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4" name="Google Shape;254;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0" name="Google Shape;260;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26" name="Google Shape;26;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0"/>
          <p:cNvSpPr/>
          <p:nvPr>
            <p:ph idx="2" type="pic"/>
          </p:nvPr>
        </p:nvSpPr>
        <p:spPr>
          <a:xfrm>
            <a:off x="5183188" y="987425"/>
            <a:ext cx="6172200" cy="4873625"/>
          </a:xfrm>
          <a:prstGeom prst="rect">
            <a:avLst/>
          </a:prstGeom>
          <a:noFill/>
          <a:ln>
            <a:noFill/>
          </a:ln>
        </p:spPr>
      </p:sp>
      <p:sp>
        <p:nvSpPr>
          <p:cNvPr id="64" name="Google Shape;64;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 Id="rId4" Type="http://schemas.openxmlformats.org/officeDocument/2006/relationships/image" Target="../media/image14.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9.png"/><Relationship Id="rId6" Type="http://schemas.openxmlformats.org/officeDocument/2006/relationships/image" Target="../media/image7.png"/><Relationship Id="rId7" Type="http://schemas.openxmlformats.org/officeDocument/2006/relationships/image" Target="../media/image2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5.jpg"/><Relationship Id="rId4" Type="http://schemas.openxmlformats.org/officeDocument/2006/relationships/image" Target="../media/image27.jpg"/><Relationship Id="rId5" Type="http://schemas.openxmlformats.org/officeDocument/2006/relationships/image" Target="../media/image3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1.jpg"/><Relationship Id="rId4" Type="http://schemas.openxmlformats.org/officeDocument/2006/relationships/image" Target="../media/image24.jpg"/><Relationship Id="rId5" Type="http://schemas.openxmlformats.org/officeDocument/2006/relationships/image" Target="../media/image23.jpg"/><Relationship Id="rId6" Type="http://schemas.openxmlformats.org/officeDocument/2006/relationships/image" Target="../media/image29.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6.jpg"/><Relationship Id="rId4" Type="http://schemas.openxmlformats.org/officeDocument/2006/relationships/image" Target="../media/image28.jpg"/><Relationship Id="rId5" Type="http://schemas.openxmlformats.org/officeDocument/2006/relationships/image" Target="../media/image30.jpg"/><Relationship Id="rId6" Type="http://schemas.openxmlformats.org/officeDocument/2006/relationships/image" Target="../media/image19.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3" name="Shape 83"/>
        <p:cNvGrpSpPr/>
        <p:nvPr/>
      </p:nvGrpSpPr>
      <p:grpSpPr>
        <a:xfrm>
          <a:off x="0" y="0"/>
          <a:ext cx="0" cy="0"/>
          <a:chOff x="0" y="0"/>
          <a:chExt cx="0" cy="0"/>
        </a:xfrm>
      </p:grpSpPr>
      <p:sp>
        <p:nvSpPr>
          <p:cNvPr id="84" name="Google Shape;84;p1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Play"/>
              <a:buNone/>
            </a:pPr>
            <a:r>
              <a:rPr lang="en-US" sz="4000">
                <a:latin typeface="Arial"/>
                <a:ea typeface="Arial"/>
                <a:cs typeface="Arial"/>
                <a:sym typeface="Arial"/>
              </a:rPr>
              <a:t>BYU Management Society</a:t>
            </a:r>
            <a:br>
              <a:rPr lang="en-US" sz="4000">
                <a:latin typeface="Arial"/>
                <a:ea typeface="Arial"/>
                <a:cs typeface="Arial"/>
                <a:sym typeface="Arial"/>
              </a:rPr>
            </a:br>
            <a:r>
              <a:rPr lang="en-US" sz="4000">
                <a:latin typeface="Arial"/>
                <a:ea typeface="Arial"/>
                <a:cs typeface="Arial"/>
                <a:sym typeface="Arial"/>
              </a:rPr>
              <a:t>Africa Business Plan Competition</a:t>
            </a:r>
            <a:br>
              <a:rPr lang="en-US" sz="4000">
                <a:latin typeface="Arial"/>
                <a:ea typeface="Arial"/>
                <a:cs typeface="Arial"/>
                <a:sym typeface="Arial"/>
              </a:rPr>
            </a:br>
            <a:r>
              <a:rPr lang="en-US" sz="4000">
                <a:latin typeface="Arial"/>
                <a:ea typeface="Arial"/>
                <a:cs typeface="Arial"/>
                <a:sym typeface="Arial"/>
              </a:rPr>
              <a:t>2026</a:t>
            </a:r>
            <a:endParaRPr>
              <a:latin typeface="Arial"/>
              <a:ea typeface="Arial"/>
              <a:cs typeface="Arial"/>
              <a:sym typeface="Arial"/>
            </a:endParaRPr>
          </a:p>
        </p:txBody>
      </p:sp>
      <p:sp>
        <p:nvSpPr>
          <p:cNvPr id="85" name="Google Shape;85;p13"/>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a:p>
            <a:pPr indent="0" lvl="0" marL="0" rtl="0" algn="ctr">
              <a:lnSpc>
                <a:spcPct val="90000"/>
              </a:lnSpc>
              <a:spcBef>
                <a:spcPts val="1000"/>
              </a:spcBef>
              <a:spcAft>
                <a:spcPts val="0"/>
              </a:spcAft>
              <a:buClr>
                <a:srgbClr val="0070C0"/>
              </a:buClr>
              <a:buSzPts val="3600"/>
              <a:buNone/>
            </a:pPr>
            <a:r>
              <a:rPr b="1" lang="en-US" sz="3600">
                <a:solidFill>
                  <a:srgbClr val="0070C0"/>
                </a:solidFill>
              </a:rPr>
              <a:t>Kachlinks Technologies Aba</a:t>
            </a:r>
            <a:endParaRPr/>
          </a:p>
        </p:txBody>
      </p:sp>
      <p:grpSp>
        <p:nvGrpSpPr>
          <p:cNvPr id="86" name="Google Shape;86;p13"/>
          <p:cNvGrpSpPr/>
          <p:nvPr/>
        </p:nvGrpSpPr>
        <p:grpSpPr>
          <a:xfrm>
            <a:off x="6004170" y="5857539"/>
            <a:ext cx="5957276" cy="770000"/>
            <a:chOff x="6004170" y="5847770"/>
            <a:chExt cx="5957276" cy="770000"/>
          </a:xfrm>
        </p:grpSpPr>
        <p:pic>
          <p:nvPicPr>
            <p:cNvPr descr="Shape  Description automatically generated" id="87" name="Google Shape;87;p13"/>
            <p:cNvPicPr preferRelativeResize="0"/>
            <p:nvPr/>
          </p:nvPicPr>
          <p:blipFill rotWithShape="1">
            <a:blip r:embed="rId4">
              <a:alphaModFix/>
            </a:blip>
            <a:srcRect b="0" l="0" r="0" t="0"/>
            <a:stretch/>
          </p:blipFill>
          <p:spPr>
            <a:xfrm>
              <a:off x="6004170" y="5847770"/>
              <a:ext cx="5957276" cy="770000"/>
            </a:xfrm>
            <a:prstGeom prst="rect">
              <a:avLst/>
            </a:prstGeom>
            <a:noFill/>
            <a:ln>
              <a:noFill/>
            </a:ln>
          </p:spPr>
        </p:pic>
        <p:pic>
          <p:nvPicPr>
            <p:cNvPr id="88" name="Google Shape;88;p13"/>
            <p:cNvPicPr preferRelativeResize="0"/>
            <p:nvPr/>
          </p:nvPicPr>
          <p:blipFill rotWithShape="1">
            <a:blip r:embed="rId5">
              <a:alphaModFix/>
            </a:blip>
            <a:srcRect b="0" l="0" r="0" t="0"/>
            <a:stretch/>
          </p:blipFill>
          <p:spPr>
            <a:xfrm>
              <a:off x="6756399" y="6114936"/>
              <a:ext cx="4931507" cy="352898"/>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4"/>
          <p:cNvSpPr txBox="1"/>
          <p:nvPr>
            <p:ph type="ctrTitle"/>
          </p:nvPr>
        </p:nvSpPr>
        <p:spPr>
          <a:xfrm>
            <a:off x="230909" y="230461"/>
            <a:ext cx="4712963" cy="75026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Play"/>
              <a:buNone/>
            </a:pPr>
            <a:r>
              <a:rPr b="1" lang="en-US" sz="2200">
                <a:solidFill>
                  <a:srgbClr val="0F4861"/>
                </a:solidFill>
                <a:latin typeface="Arial"/>
                <a:ea typeface="Arial"/>
                <a:cs typeface="Arial"/>
                <a:sym typeface="Arial"/>
              </a:rPr>
              <a:t>Problem or Customer Pain Point</a:t>
            </a:r>
            <a:endParaRPr b="1" sz="2200">
              <a:solidFill>
                <a:srgbClr val="0F4861"/>
              </a:solidFill>
              <a:latin typeface="Arial"/>
              <a:ea typeface="Arial"/>
              <a:cs typeface="Arial"/>
              <a:sym typeface="Arial"/>
            </a:endParaRPr>
          </a:p>
        </p:txBody>
      </p:sp>
      <p:grpSp>
        <p:nvGrpSpPr>
          <p:cNvPr id="94" name="Google Shape;94;p14"/>
          <p:cNvGrpSpPr/>
          <p:nvPr/>
        </p:nvGrpSpPr>
        <p:grpSpPr>
          <a:xfrm>
            <a:off x="262212" y="1381071"/>
            <a:ext cx="10802338" cy="4491901"/>
            <a:chOff x="0" y="76307"/>
            <a:chExt cx="10802338" cy="4491901"/>
          </a:xfrm>
        </p:grpSpPr>
        <p:sp>
          <p:nvSpPr>
            <p:cNvPr id="95" name="Google Shape;95;p14"/>
            <p:cNvSpPr/>
            <p:nvPr/>
          </p:nvSpPr>
          <p:spPr>
            <a:xfrm>
              <a:off x="0" y="76307"/>
              <a:ext cx="10802338" cy="888030"/>
            </a:xfrm>
            <a:prstGeom prst="roundRect">
              <a:avLst>
                <a:gd fmla="val 16667" name="adj"/>
              </a:avLst>
            </a:prstGeom>
            <a:solidFill>
              <a:srgbClr val="12608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4"/>
            <p:cNvSpPr txBox="1"/>
            <p:nvPr/>
          </p:nvSpPr>
          <p:spPr>
            <a:xfrm>
              <a:off x="43350" y="119657"/>
              <a:ext cx="10715638" cy="801330"/>
            </a:xfrm>
            <a:prstGeom prst="rect">
              <a:avLst/>
            </a:prstGeom>
            <a:noFill/>
            <a:ln>
              <a:noFill/>
            </a:ln>
          </p:spPr>
          <p:txBody>
            <a:bodyPr anchorCtr="0" anchor="ctr" bIns="87625" lIns="87625" spcFirstLastPara="1" rIns="87625" wrap="square" tIns="87625">
              <a:noAutofit/>
            </a:bodyPr>
            <a:lstStyle/>
            <a:p>
              <a:pPr indent="0" lvl="0" marL="0" marR="0" rtl="0" algn="l">
                <a:lnSpc>
                  <a:spcPct val="90000"/>
                </a:lnSpc>
                <a:spcBef>
                  <a:spcPts val="0"/>
                </a:spcBef>
                <a:spcAft>
                  <a:spcPts val="0"/>
                </a:spcAft>
                <a:buClr>
                  <a:srgbClr val="000000"/>
                </a:buClr>
                <a:buSzPts val="2300"/>
                <a:buFont typeface="Arial"/>
                <a:buNone/>
              </a:pPr>
              <a:r>
                <a:rPr b="1" i="0" lang="en-US" sz="2300" u="none" cap="none" strike="noStrike">
                  <a:solidFill>
                    <a:schemeClr val="lt1"/>
                  </a:solidFill>
                  <a:latin typeface="Arial"/>
                  <a:ea typeface="Arial"/>
                  <a:cs typeface="Arial"/>
                  <a:sym typeface="Arial"/>
                </a:rPr>
                <a:t>Aba the commercial hub of the eastern Nigeria has a population of approximately 1,230,000.</a:t>
              </a:r>
              <a:endParaRPr b="0" i="0" sz="2300" u="none" cap="none" strike="noStrike">
                <a:solidFill>
                  <a:schemeClr val="lt1"/>
                </a:solidFill>
                <a:latin typeface="Arial"/>
                <a:ea typeface="Arial"/>
                <a:cs typeface="Arial"/>
                <a:sym typeface="Arial"/>
              </a:endParaRPr>
            </a:p>
          </p:txBody>
        </p:sp>
        <p:sp>
          <p:nvSpPr>
            <p:cNvPr id="97" name="Google Shape;97;p14"/>
            <p:cNvSpPr/>
            <p:nvPr/>
          </p:nvSpPr>
          <p:spPr>
            <a:xfrm>
              <a:off x="0" y="1030577"/>
              <a:ext cx="10802338" cy="888030"/>
            </a:xfrm>
            <a:prstGeom prst="roundRect">
              <a:avLst>
                <a:gd fmla="val 16667" name="adj"/>
              </a:avLst>
            </a:prstGeom>
            <a:solidFill>
              <a:srgbClr val="12608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4"/>
            <p:cNvSpPr txBox="1"/>
            <p:nvPr/>
          </p:nvSpPr>
          <p:spPr>
            <a:xfrm>
              <a:off x="43350" y="1073927"/>
              <a:ext cx="10715638" cy="801330"/>
            </a:xfrm>
            <a:prstGeom prst="rect">
              <a:avLst/>
            </a:prstGeom>
            <a:noFill/>
            <a:ln>
              <a:noFill/>
            </a:ln>
          </p:spPr>
          <p:txBody>
            <a:bodyPr anchorCtr="0" anchor="ctr" bIns="87625" lIns="87625" spcFirstLastPara="1" rIns="87625" wrap="square" tIns="87625">
              <a:noAutofit/>
            </a:bodyPr>
            <a:lstStyle/>
            <a:p>
              <a:pPr indent="0" lvl="0" marL="0" marR="0" rtl="0" algn="l">
                <a:lnSpc>
                  <a:spcPct val="90000"/>
                </a:lnSpc>
                <a:spcBef>
                  <a:spcPts val="0"/>
                </a:spcBef>
                <a:spcAft>
                  <a:spcPts val="0"/>
                </a:spcAft>
                <a:buClr>
                  <a:srgbClr val="000000"/>
                </a:buClr>
                <a:buSzPts val="2300"/>
                <a:buFont typeface="Arial"/>
                <a:buNone/>
              </a:pPr>
              <a:r>
                <a:rPr b="1" i="0" lang="en-US" sz="2300" u="none" cap="none" strike="noStrike">
                  <a:solidFill>
                    <a:schemeClr val="lt1"/>
                  </a:solidFill>
                  <a:latin typeface="Arial"/>
                  <a:ea typeface="Arial"/>
                  <a:cs typeface="Arial"/>
                  <a:sym typeface="Arial"/>
                </a:rPr>
                <a:t>However, this city is in short of reliable  Print Services :</a:t>
              </a:r>
              <a:endParaRPr b="0" i="0" sz="2300" u="none" cap="none" strike="noStrike">
                <a:solidFill>
                  <a:schemeClr val="lt1"/>
                </a:solidFill>
                <a:latin typeface="Arial"/>
                <a:ea typeface="Arial"/>
                <a:cs typeface="Arial"/>
                <a:sym typeface="Arial"/>
              </a:endParaRPr>
            </a:p>
          </p:txBody>
        </p:sp>
        <p:sp>
          <p:nvSpPr>
            <p:cNvPr id="99" name="Google Shape;99;p14"/>
            <p:cNvSpPr/>
            <p:nvPr/>
          </p:nvSpPr>
          <p:spPr>
            <a:xfrm>
              <a:off x="0" y="1918608"/>
              <a:ext cx="10802338" cy="176157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4"/>
            <p:cNvSpPr txBox="1"/>
            <p:nvPr/>
          </p:nvSpPr>
          <p:spPr>
            <a:xfrm>
              <a:off x="0" y="1918608"/>
              <a:ext cx="10802338" cy="1761570"/>
            </a:xfrm>
            <a:prstGeom prst="rect">
              <a:avLst/>
            </a:prstGeom>
            <a:noFill/>
            <a:ln>
              <a:noFill/>
            </a:ln>
          </p:spPr>
          <p:txBody>
            <a:bodyPr anchorCtr="0" anchor="t" bIns="29200" lIns="342950" spcFirstLastPara="1" rIns="163575" wrap="square" tIns="29200">
              <a:noAutofit/>
            </a:bodyPr>
            <a:lstStyle/>
            <a:p>
              <a:pPr indent="-171450" lvl="1" marL="171450" marR="0" rtl="0" algn="l">
                <a:lnSpc>
                  <a:spcPct val="9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Photo Prints, Enlargement and Framing.</a:t>
              </a:r>
              <a:endParaRPr b="0" i="0" sz="1800" u="none" cap="none" strike="noStrike">
                <a:solidFill>
                  <a:srgbClr val="000000"/>
                </a:solidFill>
                <a:latin typeface="Arial"/>
                <a:ea typeface="Arial"/>
                <a:cs typeface="Arial"/>
                <a:sym typeface="Arial"/>
              </a:endParaRPr>
            </a:p>
            <a:p>
              <a:pPr indent="-171450" lvl="1" marL="171450" marR="0" rtl="0" algn="l">
                <a:lnSpc>
                  <a:spcPct val="90000"/>
                </a:lnSpc>
                <a:spcBef>
                  <a:spcPts val="36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Cut and Print SAV.</a:t>
              </a:r>
              <a:endParaRPr b="0" i="0" sz="1800" u="none" cap="none" strike="noStrike">
                <a:solidFill>
                  <a:srgbClr val="000000"/>
                </a:solidFill>
                <a:latin typeface="Arial"/>
                <a:ea typeface="Arial"/>
                <a:cs typeface="Arial"/>
                <a:sym typeface="Arial"/>
              </a:endParaRPr>
            </a:p>
            <a:p>
              <a:pPr indent="-171450" lvl="1" marL="171450" marR="0" rtl="0" algn="l">
                <a:lnSpc>
                  <a:spcPct val="90000"/>
                </a:lnSpc>
                <a:spcBef>
                  <a:spcPts val="36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Photo book.  </a:t>
              </a:r>
              <a:endParaRPr b="0" i="0" sz="1800" u="none" cap="none" strike="noStrike">
                <a:solidFill>
                  <a:srgbClr val="000000"/>
                </a:solidFill>
                <a:latin typeface="Arial"/>
                <a:ea typeface="Arial"/>
                <a:cs typeface="Arial"/>
                <a:sym typeface="Arial"/>
              </a:endParaRPr>
            </a:p>
            <a:p>
              <a:pPr indent="-171450" lvl="1" marL="171450" marR="0" rtl="0" algn="l">
                <a:lnSpc>
                  <a:spcPct val="90000"/>
                </a:lnSpc>
                <a:spcBef>
                  <a:spcPts val="36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Reliable Paper prints</a:t>
              </a:r>
              <a:endParaRPr b="0" i="0" sz="1800" u="none" cap="none" strike="noStrike">
                <a:solidFill>
                  <a:srgbClr val="000000"/>
                </a:solidFill>
                <a:latin typeface="Arial"/>
                <a:ea typeface="Arial"/>
                <a:cs typeface="Arial"/>
                <a:sym typeface="Arial"/>
              </a:endParaRPr>
            </a:p>
            <a:p>
              <a:pPr indent="-171450" lvl="1" marL="171450" marR="0" rtl="0" algn="l">
                <a:lnSpc>
                  <a:spcPct val="90000"/>
                </a:lnSpc>
                <a:spcBef>
                  <a:spcPts val="36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Advance Branding Technology.</a:t>
              </a:r>
              <a:endParaRPr b="0" i="0" sz="1800" u="none" cap="none" strike="noStrike">
                <a:solidFill>
                  <a:srgbClr val="000000"/>
                </a:solidFill>
                <a:latin typeface="Arial"/>
                <a:ea typeface="Arial"/>
                <a:cs typeface="Arial"/>
                <a:sym typeface="Arial"/>
              </a:endParaRPr>
            </a:p>
            <a:p>
              <a:pPr indent="-171450" lvl="1" marL="171450" marR="0" rtl="0" algn="l">
                <a:lnSpc>
                  <a:spcPct val="90000"/>
                </a:lnSpc>
                <a:spcBef>
                  <a:spcPts val="36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Detailed Software Developers</a:t>
              </a:r>
              <a:endParaRPr/>
            </a:p>
          </p:txBody>
        </p:sp>
        <p:sp>
          <p:nvSpPr>
            <p:cNvPr id="101" name="Google Shape;101;p14"/>
            <p:cNvSpPr/>
            <p:nvPr/>
          </p:nvSpPr>
          <p:spPr>
            <a:xfrm>
              <a:off x="0" y="3680178"/>
              <a:ext cx="10802338" cy="888030"/>
            </a:xfrm>
            <a:prstGeom prst="roundRect">
              <a:avLst>
                <a:gd fmla="val 16667" name="adj"/>
              </a:avLst>
            </a:prstGeom>
            <a:solidFill>
              <a:srgbClr val="12608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4"/>
            <p:cNvSpPr txBox="1"/>
            <p:nvPr/>
          </p:nvSpPr>
          <p:spPr>
            <a:xfrm>
              <a:off x="43350" y="3723528"/>
              <a:ext cx="10715638" cy="801330"/>
            </a:xfrm>
            <a:prstGeom prst="rect">
              <a:avLst/>
            </a:prstGeom>
            <a:noFill/>
            <a:ln>
              <a:noFill/>
            </a:ln>
          </p:spPr>
          <p:txBody>
            <a:bodyPr anchorCtr="0" anchor="ctr" bIns="87625" lIns="87625" spcFirstLastPara="1" rIns="87625" wrap="square" tIns="87625">
              <a:noAutofit/>
            </a:bodyPr>
            <a:lstStyle/>
            <a:p>
              <a:pPr indent="0" lvl="0" marL="0" marR="0" rtl="0" algn="l">
                <a:lnSpc>
                  <a:spcPct val="90000"/>
                </a:lnSpc>
                <a:spcBef>
                  <a:spcPts val="0"/>
                </a:spcBef>
                <a:spcAft>
                  <a:spcPts val="0"/>
                </a:spcAft>
                <a:buClr>
                  <a:srgbClr val="000000"/>
                </a:buClr>
                <a:buSzPts val="2300"/>
                <a:buFont typeface="Arial"/>
                <a:buNone/>
              </a:pPr>
              <a:r>
                <a:rPr b="1" i="0" lang="en-US" sz="2300" u="none" cap="none" strike="noStrike">
                  <a:solidFill>
                    <a:schemeClr val="lt1"/>
                  </a:solidFill>
                  <a:latin typeface="Arial"/>
                  <a:ea typeface="Arial"/>
                  <a:cs typeface="Arial"/>
                  <a:sym typeface="Arial"/>
                </a:rPr>
                <a:t>As a result, residents are compelled to patronize companies in Lagos for these services.  As a result of this, they incur high travel or waybill costs.</a:t>
              </a:r>
              <a:endParaRPr b="0" i="0" sz="2300" u="none" cap="none" strike="noStrike">
                <a:solidFill>
                  <a:schemeClr val="lt1"/>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5"/>
          <p:cNvSpPr txBox="1"/>
          <p:nvPr>
            <p:ph type="ctrTitle"/>
          </p:nvPr>
        </p:nvSpPr>
        <p:spPr>
          <a:xfrm>
            <a:off x="342172" y="750493"/>
            <a:ext cx="5753828" cy="411681"/>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85185"/>
              <a:buFont typeface="Play"/>
              <a:buNone/>
            </a:pPr>
            <a:r>
              <a:rPr b="1" lang="en-US" sz="2400">
                <a:solidFill>
                  <a:srgbClr val="0F4861"/>
                </a:solidFill>
                <a:latin typeface="Arial"/>
                <a:ea typeface="Arial"/>
                <a:cs typeface="Arial"/>
                <a:sym typeface="Arial"/>
              </a:rPr>
              <a:t>Business Venture, Product, or Service</a:t>
            </a:r>
            <a:endParaRPr b="1" sz="2400">
              <a:solidFill>
                <a:srgbClr val="0F4861"/>
              </a:solidFill>
              <a:latin typeface="Arial"/>
              <a:ea typeface="Arial"/>
              <a:cs typeface="Arial"/>
              <a:sym typeface="Arial"/>
            </a:endParaRPr>
          </a:p>
        </p:txBody>
      </p:sp>
      <p:sp>
        <p:nvSpPr>
          <p:cNvPr id="108" name="Google Shape;108;p15"/>
          <p:cNvSpPr txBox="1"/>
          <p:nvPr/>
        </p:nvSpPr>
        <p:spPr>
          <a:xfrm>
            <a:off x="974303" y="1340768"/>
            <a:ext cx="4329609" cy="1152128"/>
          </a:xfrm>
          <a:prstGeom prst="rect">
            <a:avLst/>
          </a:prstGeom>
          <a:noFill/>
          <a:ln>
            <a:noFill/>
          </a:ln>
        </p:spPr>
        <p:txBody>
          <a:bodyPr anchorCtr="0" anchor="t" bIns="45700" lIns="91425" spcFirstLastPara="1" rIns="91425" wrap="square" tIns="45700">
            <a:noAutofit/>
          </a:bodyPr>
          <a:lstStyle/>
          <a:p>
            <a:pPr indent="0" lvl="0" marL="0" marR="82550" rtl="0" algn="l">
              <a:lnSpc>
                <a:spcPct val="112000"/>
              </a:lnSpc>
              <a:spcBef>
                <a:spcPts val="1000"/>
              </a:spcBef>
              <a:spcAft>
                <a:spcPts val="0"/>
              </a:spcAft>
              <a:buClr>
                <a:srgbClr val="000000"/>
              </a:buClr>
              <a:buSzPts val="1400"/>
              <a:buFont typeface="Arial"/>
              <a:buNone/>
            </a:pPr>
            <a:r>
              <a:rPr b="1" i="0" lang="en-US" sz="1800" u="none" cap="none" strike="noStrike">
                <a:solidFill>
                  <a:srgbClr val="000000"/>
                </a:solidFill>
                <a:latin typeface="Arial"/>
                <a:ea typeface="Arial"/>
                <a:cs typeface="Arial"/>
                <a:sym typeface="Arial"/>
              </a:rPr>
              <a:t>DIGITAL PRINTING SERVICES</a:t>
            </a:r>
            <a:endParaRPr/>
          </a:p>
          <a:p>
            <a:pPr indent="0" lvl="0" marL="0" marR="0" rtl="0" algn="l">
              <a:lnSpc>
                <a:spcPct val="90000"/>
              </a:lnSpc>
              <a:spcBef>
                <a:spcPts val="120"/>
              </a:spcBef>
              <a:spcAft>
                <a:spcPts val="0"/>
              </a:spcAft>
              <a:buClr>
                <a:schemeClr val="dk1"/>
              </a:buClr>
              <a:buSzPts val="2400"/>
              <a:buFont typeface="Arial"/>
              <a:buNone/>
            </a:pPr>
            <a:r>
              <a:t/>
            </a:r>
            <a:endParaRPr b="0" i="0" sz="1800" u="none" cap="none" strike="noStrike">
              <a:solidFill>
                <a:schemeClr val="dk1"/>
              </a:solidFill>
              <a:latin typeface="Arial"/>
              <a:ea typeface="Arial"/>
              <a:cs typeface="Arial"/>
              <a:sym typeface="Arial"/>
            </a:endParaRPr>
          </a:p>
        </p:txBody>
      </p:sp>
      <p:pic>
        <p:nvPicPr>
          <p:cNvPr id="109" name="Google Shape;109;p15"/>
          <p:cNvPicPr preferRelativeResize="0"/>
          <p:nvPr/>
        </p:nvPicPr>
        <p:blipFill rotWithShape="1">
          <a:blip r:embed="rId3">
            <a:alphaModFix/>
          </a:blip>
          <a:srcRect b="0" l="0" r="0" t="0"/>
          <a:stretch/>
        </p:blipFill>
        <p:spPr>
          <a:xfrm>
            <a:off x="839416" y="1988840"/>
            <a:ext cx="3256529" cy="3256529"/>
          </a:xfrm>
          <a:prstGeom prst="rect">
            <a:avLst/>
          </a:prstGeom>
          <a:noFill/>
          <a:ln>
            <a:noFill/>
          </a:ln>
        </p:spPr>
      </p:pic>
      <p:grpSp>
        <p:nvGrpSpPr>
          <p:cNvPr id="110" name="Google Shape;110;p15"/>
          <p:cNvGrpSpPr/>
          <p:nvPr/>
        </p:nvGrpSpPr>
        <p:grpSpPr>
          <a:xfrm>
            <a:off x="5438799" y="1683607"/>
            <a:ext cx="6489849" cy="3440520"/>
            <a:chOff x="0" y="321096"/>
            <a:chExt cx="6489849" cy="3440520"/>
          </a:xfrm>
        </p:grpSpPr>
        <p:sp>
          <p:nvSpPr>
            <p:cNvPr id="111" name="Google Shape;111;p15"/>
            <p:cNvSpPr/>
            <p:nvPr/>
          </p:nvSpPr>
          <p:spPr>
            <a:xfrm>
              <a:off x="0" y="321096"/>
              <a:ext cx="6489849" cy="444600"/>
            </a:xfrm>
            <a:prstGeom prst="roundRect">
              <a:avLst>
                <a:gd fmla="val 16667" name="adj"/>
              </a:avLst>
            </a:prstGeom>
            <a:solidFill>
              <a:srgbClr val="12608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5"/>
            <p:cNvSpPr txBox="1"/>
            <p:nvPr/>
          </p:nvSpPr>
          <p:spPr>
            <a:xfrm>
              <a:off x="21704" y="342800"/>
              <a:ext cx="6446441" cy="401192"/>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rgbClr val="000000"/>
                </a:buClr>
                <a:buSzPts val="1900"/>
                <a:buFont typeface="Arial"/>
                <a:buNone/>
              </a:pPr>
              <a:r>
                <a:rPr b="1" i="0" lang="en-US" sz="1900" u="none" cap="none" strike="noStrike">
                  <a:solidFill>
                    <a:schemeClr val="lt1"/>
                  </a:solidFill>
                  <a:latin typeface="Arial"/>
                  <a:ea typeface="Arial"/>
                  <a:cs typeface="Arial"/>
                  <a:sym typeface="Arial"/>
                </a:rPr>
                <a:t>SYNTETHIC PHOTO BOOK .</a:t>
              </a:r>
              <a:endParaRPr b="0" i="0" sz="1900" u="none" cap="none" strike="noStrike">
                <a:solidFill>
                  <a:schemeClr val="lt1"/>
                </a:solidFill>
                <a:latin typeface="Arial"/>
                <a:ea typeface="Arial"/>
                <a:cs typeface="Arial"/>
                <a:sym typeface="Arial"/>
              </a:endParaRPr>
            </a:p>
          </p:txBody>
        </p:sp>
        <p:sp>
          <p:nvSpPr>
            <p:cNvPr id="113" name="Google Shape;113;p15"/>
            <p:cNvSpPr/>
            <p:nvPr/>
          </p:nvSpPr>
          <p:spPr>
            <a:xfrm>
              <a:off x="0" y="820416"/>
              <a:ext cx="6489849" cy="444600"/>
            </a:xfrm>
            <a:prstGeom prst="roundRect">
              <a:avLst>
                <a:gd fmla="val 16667" name="adj"/>
              </a:avLst>
            </a:prstGeom>
            <a:solidFill>
              <a:srgbClr val="12608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5"/>
            <p:cNvSpPr txBox="1"/>
            <p:nvPr/>
          </p:nvSpPr>
          <p:spPr>
            <a:xfrm>
              <a:off x="21704" y="842120"/>
              <a:ext cx="6446441" cy="401192"/>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rgbClr val="000000"/>
                </a:buClr>
                <a:buSzPts val="1900"/>
                <a:buFont typeface="Arial"/>
                <a:buNone/>
              </a:pPr>
              <a:r>
                <a:rPr b="1" i="0" lang="en-US" sz="1900" u="none" cap="none" strike="noStrike">
                  <a:solidFill>
                    <a:schemeClr val="lt1"/>
                  </a:solidFill>
                  <a:latin typeface="Arial"/>
                  <a:ea typeface="Arial"/>
                  <a:cs typeface="Arial"/>
                  <a:sym typeface="Arial"/>
                </a:rPr>
                <a:t>PRINT AND CUT SAV.</a:t>
              </a:r>
              <a:endParaRPr b="0" i="0" sz="1900" u="none" cap="none" strike="noStrike">
                <a:solidFill>
                  <a:schemeClr val="lt1"/>
                </a:solidFill>
                <a:latin typeface="Arial"/>
                <a:ea typeface="Arial"/>
                <a:cs typeface="Arial"/>
                <a:sym typeface="Arial"/>
              </a:endParaRPr>
            </a:p>
          </p:txBody>
        </p:sp>
        <p:sp>
          <p:nvSpPr>
            <p:cNvPr id="115" name="Google Shape;115;p15"/>
            <p:cNvSpPr/>
            <p:nvPr/>
          </p:nvSpPr>
          <p:spPr>
            <a:xfrm>
              <a:off x="0" y="1319736"/>
              <a:ext cx="6489849" cy="444600"/>
            </a:xfrm>
            <a:prstGeom prst="roundRect">
              <a:avLst>
                <a:gd fmla="val 16667" name="adj"/>
              </a:avLst>
            </a:prstGeom>
            <a:solidFill>
              <a:srgbClr val="12608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5"/>
            <p:cNvSpPr txBox="1"/>
            <p:nvPr/>
          </p:nvSpPr>
          <p:spPr>
            <a:xfrm>
              <a:off x="21704" y="1341440"/>
              <a:ext cx="6446441" cy="401192"/>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rgbClr val="000000"/>
                </a:buClr>
                <a:buSzPts val="1900"/>
                <a:buFont typeface="Arial"/>
                <a:buNone/>
              </a:pPr>
              <a:r>
                <a:rPr b="1" i="0" lang="en-US" sz="1900" u="none" cap="none" strike="noStrike">
                  <a:solidFill>
                    <a:schemeClr val="lt1"/>
                  </a:solidFill>
                  <a:latin typeface="Arial"/>
                  <a:ea typeface="Arial"/>
                  <a:cs typeface="Arial"/>
                  <a:sym typeface="Arial"/>
                </a:rPr>
                <a:t>DTG PRINTS.</a:t>
              </a:r>
              <a:endParaRPr b="0" i="0" sz="1900" u="none" cap="none" strike="noStrike">
                <a:solidFill>
                  <a:schemeClr val="lt1"/>
                </a:solidFill>
                <a:latin typeface="Arial"/>
                <a:ea typeface="Arial"/>
                <a:cs typeface="Arial"/>
                <a:sym typeface="Arial"/>
              </a:endParaRPr>
            </a:p>
          </p:txBody>
        </p:sp>
        <p:sp>
          <p:nvSpPr>
            <p:cNvPr id="117" name="Google Shape;117;p15"/>
            <p:cNvSpPr/>
            <p:nvPr/>
          </p:nvSpPr>
          <p:spPr>
            <a:xfrm>
              <a:off x="0" y="1819056"/>
              <a:ext cx="6489849" cy="444600"/>
            </a:xfrm>
            <a:prstGeom prst="roundRect">
              <a:avLst>
                <a:gd fmla="val 16667" name="adj"/>
              </a:avLst>
            </a:prstGeom>
            <a:solidFill>
              <a:srgbClr val="12608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5"/>
            <p:cNvSpPr txBox="1"/>
            <p:nvPr/>
          </p:nvSpPr>
          <p:spPr>
            <a:xfrm>
              <a:off x="21704" y="1840760"/>
              <a:ext cx="6446441" cy="401192"/>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rgbClr val="000000"/>
                </a:buClr>
                <a:buSzPts val="1900"/>
                <a:buFont typeface="Arial"/>
                <a:buNone/>
              </a:pPr>
              <a:r>
                <a:rPr b="1" i="0" lang="en-US" sz="1900" u="none" cap="none" strike="noStrike">
                  <a:solidFill>
                    <a:schemeClr val="lt1"/>
                  </a:solidFill>
                  <a:latin typeface="Arial"/>
                  <a:ea typeface="Arial"/>
                  <a:cs typeface="Arial"/>
                  <a:sym typeface="Arial"/>
                </a:rPr>
                <a:t>SYNTETHIC PHOTO ENLARGEMENT AND FRAMING.</a:t>
              </a:r>
              <a:endParaRPr b="0" i="0" sz="1900" u="none" cap="none" strike="noStrike">
                <a:solidFill>
                  <a:schemeClr val="lt1"/>
                </a:solidFill>
                <a:latin typeface="Arial"/>
                <a:ea typeface="Arial"/>
                <a:cs typeface="Arial"/>
                <a:sym typeface="Arial"/>
              </a:endParaRPr>
            </a:p>
          </p:txBody>
        </p:sp>
        <p:sp>
          <p:nvSpPr>
            <p:cNvPr id="119" name="Google Shape;119;p15"/>
            <p:cNvSpPr/>
            <p:nvPr/>
          </p:nvSpPr>
          <p:spPr>
            <a:xfrm>
              <a:off x="0" y="2318376"/>
              <a:ext cx="6489849" cy="444600"/>
            </a:xfrm>
            <a:prstGeom prst="roundRect">
              <a:avLst>
                <a:gd fmla="val 16667" name="adj"/>
              </a:avLst>
            </a:prstGeom>
            <a:solidFill>
              <a:srgbClr val="12608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5"/>
            <p:cNvSpPr txBox="1"/>
            <p:nvPr/>
          </p:nvSpPr>
          <p:spPr>
            <a:xfrm>
              <a:off x="21704" y="2340080"/>
              <a:ext cx="6446441" cy="401192"/>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rgbClr val="000000"/>
                </a:buClr>
                <a:buSzPts val="1900"/>
                <a:buFont typeface="Arial"/>
                <a:buNone/>
              </a:pPr>
              <a:r>
                <a:rPr b="1" i="0" lang="en-US" sz="1900" u="none" cap="none" strike="noStrike">
                  <a:solidFill>
                    <a:schemeClr val="lt1"/>
                  </a:solidFill>
                  <a:latin typeface="Arial"/>
                  <a:ea typeface="Arial"/>
                  <a:cs typeface="Arial"/>
                  <a:sym typeface="Arial"/>
                </a:rPr>
                <a:t>BROCHURE PRINTING</a:t>
              </a:r>
              <a:endParaRPr b="0" i="0" sz="1900" u="none" cap="none" strike="noStrike">
                <a:solidFill>
                  <a:schemeClr val="lt1"/>
                </a:solidFill>
                <a:latin typeface="Arial"/>
                <a:ea typeface="Arial"/>
                <a:cs typeface="Arial"/>
                <a:sym typeface="Arial"/>
              </a:endParaRPr>
            </a:p>
          </p:txBody>
        </p:sp>
        <p:sp>
          <p:nvSpPr>
            <p:cNvPr id="121" name="Google Shape;121;p15"/>
            <p:cNvSpPr/>
            <p:nvPr/>
          </p:nvSpPr>
          <p:spPr>
            <a:xfrm>
              <a:off x="0" y="2817696"/>
              <a:ext cx="6489849" cy="444600"/>
            </a:xfrm>
            <a:prstGeom prst="roundRect">
              <a:avLst>
                <a:gd fmla="val 16667" name="adj"/>
              </a:avLst>
            </a:prstGeom>
            <a:solidFill>
              <a:srgbClr val="12608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5"/>
            <p:cNvSpPr txBox="1"/>
            <p:nvPr/>
          </p:nvSpPr>
          <p:spPr>
            <a:xfrm>
              <a:off x="21704" y="2839400"/>
              <a:ext cx="6446441" cy="401192"/>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rgbClr val="000000"/>
                </a:buClr>
                <a:buSzPts val="1900"/>
                <a:buFont typeface="Arial"/>
                <a:buNone/>
              </a:pPr>
              <a:r>
                <a:rPr b="1" i="0" lang="en-US" sz="1900" u="none" cap="none" strike="noStrike">
                  <a:solidFill>
                    <a:schemeClr val="lt1"/>
                  </a:solidFill>
                  <a:latin typeface="Arial"/>
                  <a:ea typeface="Arial"/>
                  <a:cs typeface="Arial"/>
                  <a:sym typeface="Arial"/>
                </a:rPr>
                <a:t>OLD PICTURE RESTORING.</a:t>
              </a:r>
              <a:endParaRPr b="0" i="0" sz="1900" u="none" cap="none" strike="noStrike">
                <a:solidFill>
                  <a:schemeClr val="lt1"/>
                </a:solidFill>
                <a:latin typeface="Arial"/>
                <a:ea typeface="Arial"/>
                <a:cs typeface="Arial"/>
                <a:sym typeface="Arial"/>
              </a:endParaRPr>
            </a:p>
          </p:txBody>
        </p:sp>
        <p:sp>
          <p:nvSpPr>
            <p:cNvPr id="123" name="Google Shape;123;p15"/>
            <p:cNvSpPr/>
            <p:nvPr/>
          </p:nvSpPr>
          <p:spPr>
            <a:xfrm>
              <a:off x="0" y="3317016"/>
              <a:ext cx="6489849" cy="444600"/>
            </a:xfrm>
            <a:prstGeom prst="roundRect">
              <a:avLst>
                <a:gd fmla="val 16667" name="adj"/>
              </a:avLst>
            </a:prstGeom>
            <a:solidFill>
              <a:srgbClr val="12608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5"/>
            <p:cNvSpPr txBox="1"/>
            <p:nvPr/>
          </p:nvSpPr>
          <p:spPr>
            <a:xfrm>
              <a:off x="21704" y="3338720"/>
              <a:ext cx="6446441" cy="401192"/>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rgbClr val="000000"/>
                </a:buClr>
                <a:buSzPts val="1900"/>
                <a:buFont typeface="Arial"/>
                <a:buNone/>
              </a:pPr>
              <a:r>
                <a:rPr b="1" i="0" lang="en-US" sz="1900" u="none" cap="none" strike="noStrike">
                  <a:solidFill>
                    <a:schemeClr val="lt1"/>
                  </a:solidFill>
                  <a:latin typeface="Arial"/>
                  <a:ea typeface="Arial"/>
                  <a:cs typeface="Arial"/>
                  <a:sym typeface="Arial"/>
                </a:rPr>
                <a:t>SOFTWARE DEVELOPMENT.</a:t>
              </a:r>
              <a:endParaRPr b="0" i="0" sz="1900" u="none" cap="none" strike="noStrike">
                <a:solidFill>
                  <a:schemeClr val="lt1"/>
                </a:solidFill>
                <a:latin typeface="Arial"/>
                <a:ea typeface="Arial"/>
                <a:cs typeface="Arial"/>
                <a:sym typeface="Aria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6"/>
          <p:cNvSpPr txBox="1"/>
          <p:nvPr>
            <p:ph type="ctrTitle"/>
          </p:nvPr>
        </p:nvSpPr>
        <p:spPr>
          <a:xfrm>
            <a:off x="3071664" y="164270"/>
            <a:ext cx="5073003" cy="60625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Play"/>
              <a:buNone/>
            </a:pPr>
            <a:r>
              <a:rPr lang="en-US" sz="2200">
                <a:solidFill>
                  <a:srgbClr val="0F4861"/>
                </a:solidFill>
                <a:latin typeface="Arial"/>
                <a:ea typeface="Arial"/>
                <a:cs typeface="Arial"/>
                <a:sym typeface="Arial"/>
              </a:rPr>
              <a:t>Market Size &amp; Growth</a:t>
            </a:r>
            <a:endParaRPr sz="2200">
              <a:solidFill>
                <a:srgbClr val="0F4861"/>
              </a:solidFill>
              <a:latin typeface="Arial"/>
              <a:ea typeface="Arial"/>
              <a:cs typeface="Arial"/>
              <a:sym typeface="Arial"/>
            </a:endParaRPr>
          </a:p>
        </p:txBody>
      </p:sp>
      <p:sp>
        <p:nvSpPr>
          <p:cNvPr id="130" name="Google Shape;130;p16"/>
          <p:cNvSpPr txBox="1"/>
          <p:nvPr/>
        </p:nvSpPr>
        <p:spPr>
          <a:xfrm>
            <a:off x="515380" y="1124744"/>
            <a:ext cx="11161240" cy="5923209"/>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chemeClr val="dk1"/>
              </a:buClr>
              <a:buSzPts val="4000"/>
              <a:buFont typeface="Play"/>
              <a:buNone/>
            </a:pPr>
            <a:r>
              <a:rPr b="1" i="0" lang="en-US" sz="2400" u="none" cap="none" strike="noStrike">
                <a:solidFill>
                  <a:schemeClr val="dk1"/>
                </a:solidFill>
                <a:latin typeface="Arial"/>
                <a:ea typeface="Arial"/>
                <a:cs typeface="Arial"/>
                <a:sym typeface="Arial"/>
              </a:rPr>
              <a:t>Our Target Market are people living in Aba which are approximately 1,230,00.</a:t>
            </a:r>
            <a:endParaRPr/>
          </a:p>
          <a:p>
            <a:pPr indent="0" lvl="0" marL="0" marR="0" rtl="0" algn="l">
              <a:lnSpc>
                <a:spcPct val="90000"/>
              </a:lnSpc>
              <a:spcBef>
                <a:spcPts val="0"/>
              </a:spcBef>
              <a:spcAft>
                <a:spcPts val="0"/>
              </a:spcAft>
              <a:buClr>
                <a:schemeClr val="dk1"/>
              </a:buClr>
              <a:buSzPts val="4000"/>
              <a:buFont typeface="Play"/>
              <a:buNone/>
            </a:pPr>
            <a:r>
              <a:rPr b="1" i="0" lang="en-US" sz="2400" u="none" cap="none" strike="noStrike">
                <a:solidFill>
                  <a:schemeClr val="dk1"/>
                </a:solidFill>
                <a:latin typeface="Arial"/>
                <a:ea typeface="Arial"/>
                <a:cs typeface="Arial"/>
                <a:sym typeface="Arial"/>
              </a:rPr>
              <a:t>And The Entire South East and South  South parts of Nigeria with a population of over 5 million people.</a:t>
            </a:r>
            <a:endParaRPr/>
          </a:p>
          <a:p>
            <a:pPr indent="0" lvl="0" marL="0" marR="0" rtl="0" algn="l">
              <a:lnSpc>
                <a:spcPct val="90000"/>
              </a:lnSpc>
              <a:spcBef>
                <a:spcPts val="0"/>
              </a:spcBef>
              <a:spcAft>
                <a:spcPts val="0"/>
              </a:spcAft>
              <a:buClr>
                <a:schemeClr val="dk1"/>
              </a:buClr>
              <a:buSzPts val="4000"/>
              <a:buFont typeface="Play"/>
              <a:buNone/>
            </a:pPr>
            <a:r>
              <a:t/>
            </a:r>
            <a:endParaRPr b="1"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4000"/>
              <a:buFont typeface="Play"/>
              <a:buNone/>
            </a:pPr>
            <a:r>
              <a:rPr b="1" i="0" lang="en-US" sz="2400" u="none" cap="none" strike="noStrike">
                <a:solidFill>
                  <a:schemeClr val="dk1"/>
                </a:solidFill>
                <a:latin typeface="Arial"/>
                <a:ea typeface="Arial"/>
                <a:cs typeface="Arial"/>
                <a:sym typeface="Arial"/>
              </a:rPr>
              <a:t>Our Services targets the adult population starting from Aba the commercial nerve center of South East and South South parts of Nigeria.</a:t>
            </a:r>
            <a:endParaRPr/>
          </a:p>
          <a:p>
            <a:pPr indent="0" lvl="0" marL="0" marR="0" rtl="0" algn="l">
              <a:lnSpc>
                <a:spcPct val="90000"/>
              </a:lnSpc>
              <a:spcBef>
                <a:spcPts val="0"/>
              </a:spcBef>
              <a:spcAft>
                <a:spcPts val="0"/>
              </a:spcAft>
              <a:buClr>
                <a:schemeClr val="dk1"/>
              </a:buClr>
              <a:buSzPts val="4000"/>
              <a:buFont typeface="Play"/>
              <a:buNone/>
            </a:pPr>
            <a:r>
              <a:t/>
            </a:r>
            <a:endParaRPr b="1"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4000"/>
              <a:buFont typeface="Play"/>
              <a:buNone/>
            </a:pPr>
            <a:r>
              <a:rPr b="1" i="0" lang="en-US" sz="2400" u="none" cap="none" strike="noStrike">
                <a:solidFill>
                  <a:schemeClr val="dk1"/>
                </a:solidFill>
                <a:latin typeface="Arial"/>
                <a:ea typeface="Arial"/>
                <a:cs typeface="Arial"/>
                <a:sym typeface="Arial"/>
              </a:rPr>
              <a:t>We intend to use the best materials for the production of photobooks, brochures and all prints.</a:t>
            </a:r>
            <a:endParaRPr/>
          </a:p>
          <a:p>
            <a:pPr indent="0" lvl="0" marL="0" marR="0" rtl="0" algn="l">
              <a:lnSpc>
                <a:spcPct val="90000"/>
              </a:lnSpc>
              <a:spcBef>
                <a:spcPts val="0"/>
              </a:spcBef>
              <a:spcAft>
                <a:spcPts val="0"/>
              </a:spcAft>
              <a:buClr>
                <a:schemeClr val="dk1"/>
              </a:buClr>
              <a:buSzPts val="4000"/>
              <a:buFont typeface="Play"/>
              <a:buNone/>
            </a:pPr>
            <a:r>
              <a:t/>
            </a:r>
            <a:endParaRPr b="1"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4000"/>
              <a:buFont typeface="Play"/>
              <a:buNone/>
            </a:pPr>
            <a:r>
              <a:rPr b="1" i="0" lang="en-US" sz="2400" u="none" cap="none" strike="noStrike">
                <a:solidFill>
                  <a:schemeClr val="dk1"/>
                </a:solidFill>
                <a:latin typeface="Arial"/>
                <a:ea typeface="Arial"/>
                <a:cs typeface="Arial"/>
                <a:sym typeface="Arial"/>
              </a:rPr>
              <a:t>Example of this is using synthetic papers, this is because of its durability.</a:t>
            </a:r>
            <a:endParaRPr/>
          </a:p>
          <a:p>
            <a:pPr indent="0" lvl="0" marL="0" marR="0" rtl="0" algn="l">
              <a:lnSpc>
                <a:spcPct val="90000"/>
              </a:lnSpc>
              <a:spcBef>
                <a:spcPts val="0"/>
              </a:spcBef>
              <a:spcAft>
                <a:spcPts val="0"/>
              </a:spcAft>
              <a:buClr>
                <a:schemeClr val="dk1"/>
              </a:buClr>
              <a:buSzPts val="4000"/>
              <a:buFont typeface="Play"/>
              <a:buNone/>
            </a:pPr>
            <a:r>
              <a:t/>
            </a:r>
            <a:endParaRPr b="1"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4000"/>
              <a:buFont typeface="Play"/>
              <a:buNone/>
            </a:pPr>
            <a:r>
              <a:rPr b="1" i="0" lang="en-US" sz="2400" u="none" cap="none" strike="noStrike">
                <a:solidFill>
                  <a:schemeClr val="dk1"/>
                </a:solidFill>
                <a:latin typeface="Arial"/>
                <a:ea typeface="Arial"/>
                <a:cs typeface="Arial"/>
                <a:sym typeface="Arial"/>
              </a:rPr>
              <a:t>Our fast production (24 hours max) as against the 5 days production timeline giving by most photo book and printing companies.</a:t>
            </a:r>
            <a:endParaRPr/>
          </a:p>
          <a:p>
            <a:pPr indent="0" lvl="0" marL="0" marR="0" rtl="0" algn="l">
              <a:lnSpc>
                <a:spcPct val="90000"/>
              </a:lnSpc>
              <a:spcBef>
                <a:spcPts val="0"/>
              </a:spcBef>
              <a:spcAft>
                <a:spcPts val="0"/>
              </a:spcAft>
              <a:buClr>
                <a:schemeClr val="dk1"/>
              </a:buClr>
              <a:buSzPts val="4000"/>
              <a:buFont typeface="Play"/>
              <a:buNone/>
            </a:pPr>
            <a:r>
              <a:rPr b="1" i="0" lang="en-US" sz="2400" u="none" cap="none" strike="noStrike">
                <a:solidFill>
                  <a:schemeClr val="dk1"/>
                </a:solidFill>
                <a:latin typeface="Arial"/>
                <a:ea typeface="Arial"/>
                <a:cs typeface="Arial"/>
                <a:sym typeface="Arial"/>
              </a:rPr>
              <a:t>Our partnership with Kachlinks exprees, Akpoaza rides etc will help us deliver this products when ready to the customers doorsteps within the eastern and south south parts of Nigeria.</a:t>
            </a:r>
            <a:endParaRPr/>
          </a:p>
          <a:p>
            <a:pPr indent="0" lvl="0" marL="0" marR="0" rtl="0" algn="l">
              <a:lnSpc>
                <a:spcPct val="90000"/>
              </a:lnSpc>
              <a:spcBef>
                <a:spcPts val="0"/>
              </a:spcBef>
              <a:spcAft>
                <a:spcPts val="0"/>
              </a:spcAft>
              <a:buClr>
                <a:schemeClr val="dk1"/>
              </a:buClr>
              <a:buSzPts val="4000"/>
              <a:buFont typeface="Play"/>
              <a:buNone/>
            </a:pPr>
            <a:r>
              <a:t/>
            </a:r>
            <a:endParaRPr b="1" i="0" sz="2400" u="none" cap="none" strike="noStrike">
              <a:solidFill>
                <a:schemeClr val="dk1"/>
              </a:solidFill>
              <a:latin typeface="Arial"/>
              <a:ea typeface="Arial"/>
              <a:cs typeface="Arial"/>
              <a:sym typeface="Arial"/>
            </a:endParaRPr>
          </a:p>
        </p:txBody>
      </p:sp>
      <p:sp>
        <p:nvSpPr>
          <p:cNvPr id="131" name="Google Shape;131;p16"/>
          <p:cNvSpPr txBox="1"/>
          <p:nvPr/>
        </p:nvSpPr>
        <p:spPr>
          <a:xfrm>
            <a:off x="584187" y="1953045"/>
            <a:ext cx="11161240" cy="432049"/>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chemeClr val="dk1"/>
              </a:buClr>
              <a:buSzPts val="4000"/>
              <a:buFont typeface="Play"/>
              <a:buNone/>
            </a:pPr>
            <a:r>
              <a:t/>
            </a:r>
            <a:endParaRPr b="1" i="0" sz="1800"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5" name="Shape 135"/>
        <p:cNvGrpSpPr/>
        <p:nvPr/>
      </p:nvGrpSpPr>
      <p:grpSpPr>
        <a:xfrm>
          <a:off x="0" y="0"/>
          <a:ext cx="0" cy="0"/>
          <a:chOff x="0" y="0"/>
          <a:chExt cx="0" cy="0"/>
        </a:xfrm>
      </p:grpSpPr>
      <p:sp>
        <p:nvSpPr>
          <p:cNvPr id="136" name="Google Shape;136;p17"/>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7" name="Google Shape;137;p17"/>
          <p:cNvSpPr/>
          <p:nvPr/>
        </p:nvSpPr>
        <p:spPr>
          <a:xfrm flipH="1">
            <a:off x="2" y="0"/>
            <a:ext cx="12191998" cy="1575955"/>
          </a:xfrm>
          <a:prstGeom prst="rect">
            <a:avLst/>
          </a:prstGeom>
          <a:gradFill>
            <a:gsLst>
              <a:gs pos="0">
                <a:srgbClr val="000000">
                  <a:alpha val="95686"/>
                </a:srgbClr>
              </a:gs>
              <a:gs pos="100000">
                <a:srgbClr val="0F4861"/>
              </a:gs>
            </a:gsLst>
            <a:lin ang="8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8" name="Google Shape;138;p17"/>
          <p:cNvSpPr/>
          <p:nvPr/>
        </p:nvSpPr>
        <p:spPr>
          <a:xfrm flipH="1" rot="10800000">
            <a:off x="8128857" y="0"/>
            <a:ext cx="4063143" cy="1576412"/>
          </a:xfrm>
          <a:prstGeom prst="rect">
            <a:avLst/>
          </a:prstGeom>
          <a:gradFill>
            <a:gsLst>
              <a:gs pos="0">
                <a:srgbClr val="0A3041">
                  <a:alpha val="67843"/>
                </a:srgbClr>
              </a:gs>
              <a:gs pos="19000">
                <a:srgbClr val="0A3041">
                  <a:alpha val="67843"/>
                </a:srgbClr>
              </a:gs>
              <a:gs pos="100000">
                <a:srgbClr val="156082">
                  <a:alpha val="78823"/>
                </a:srgbClr>
              </a:gs>
            </a:gsLst>
            <a:lin ang="19199999"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9" name="Google Shape;139;p17"/>
          <p:cNvSpPr/>
          <p:nvPr/>
        </p:nvSpPr>
        <p:spPr>
          <a:xfrm rot="5400000">
            <a:off x="5307777" y="-5307778"/>
            <a:ext cx="1576446" cy="12192002"/>
          </a:xfrm>
          <a:prstGeom prst="rect">
            <a:avLst/>
          </a:prstGeom>
          <a:gradFill>
            <a:gsLst>
              <a:gs pos="0">
                <a:srgbClr val="156082">
                  <a:alpha val="0"/>
                </a:srgbClr>
              </a:gs>
              <a:gs pos="23000">
                <a:srgbClr val="156082">
                  <a:alpha val="0"/>
                </a:srgbClr>
              </a:gs>
              <a:gs pos="99000">
                <a:srgbClr val="000000">
                  <a:alpha val="73725"/>
                </a:srgbClr>
              </a:gs>
              <a:gs pos="100000">
                <a:srgbClr val="000000">
                  <a:alpha val="73725"/>
                </a:srgbClr>
              </a:gs>
            </a:gsLst>
            <a:lin ang="20399999"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0" name="Google Shape;140;p17"/>
          <p:cNvSpPr txBox="1"/>
          <p:nvPr>
            <p:ph type="title"/>
          </p:nvPr>
        </p:nvSpPr>
        <p:spPr>
          <a:xfrm>
            <a:off x="1371597" y="348865"/>
            <a:ext cx="10044023" cy="87772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4000">
                <a:solidFill>
                  <a:srgbClr val="FFFFFF"/>
                </a:solidFill>
                <a:latin typeface="Arial"/>
                <a:ea typeface="Arial"/>
                <a:cs typeface="Arial"/>
                <a:sym typeface="Arial"/>
              </a:rPr>
              <a:t>Marketing Strategy</a:t>
            </a:r>
            <a:endParaRPr b="1" sz="4000">
              <a:solidFill>
                <a:srgbClr val="FFFFFF"/>
              </a:solidFill>
              <a:latin typeface="Arial"/>
              <a:ea typeface="Arial"/>
              <a:cs typeface="Arial"/>
              <a:sym typeface="Arial"/>
            </a:endParaRPr>
          </a:p>
        </p:txBody>
      </p:sp>
      <p:grpSp>
        <p:nvGrpSpPr>
          <p:cNvPr id="141" name="Google Shape;141;p17"/>
          <p:cNvGrpSpPr/>
          <p:nvPr/>
        </p:nvGrpSpPr>
        <p:grpSpPr>
          <a:xfrm>
            <a:off x="977970" y="3128981"/>
            <a:ext cx="10260000" cy="2160000"/>
            <a:chOff x="333914" y="1016402"/>
            <a:chExt cx="10260000" cy="2160000"/>
          </a:xfrm>
        </p:grpSpPr>
        <p:sp>
          <p:nvSpPr>
            <p:cNvPr id="142" name="Google Shape;142;p17"/>
            <p:cNvSpPr/>
            <p:nvPr/>
          </p:nvSpPr>
          <p:spPr>
            <a:xfrm>
              <a:off x="684914" y="1016402"/>
              <a:ext cx="1098000" cy="1098000"/>
            </a:xfrm>
            <a:prstGeom prst="ellipse">
              <a:avLst/>
            </a:prstGeom>
            <a:solidFill>
              <a:srgbClr val="E971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7"/>
            <p:cNvSpPr/>
            <p:nvPr/>
          </p:nvSpPr>
          <p:spPr>
            <a:xfrm>
              <a:off x="918914" y="1250402"/>
              <a:ext cx="630000" cy="630000"/>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7"/>
            <p:cNvSpPr/>
            <p:nvPr/>
          </p:nvSpPr>
          <p:spPr>
            <a:xfrm>
              <a:off x="333914" y="2456402"/>
              <a:ext cx="1800000" cy="72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7"/>
            <p:cNvSpPr txBox="1"/>
            <p:nvPr/>
          </p:nvSpPr>
          <p:spPr>
            <a:xfrm>
              <a:off x="333914" y="2456402"/>
              <a:ext cx="1800000" cy="7200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SOCIAL MEDIA ADVERTS:</a:t>
              </a:r>
              <a:endParaRPr b="0" i="0" sz="1800" u="none" cap="none" strike="noStrike">
                <a:solidFill>
                  <a:srgbClr val="000000"/>
                </a:solidFill>
                <a:latin typeface="Arial"/>
                <a:ea typeface="Arial"/>
                <a:cs typeface="Arial"/>
                <a:sym typeface="Arial"/>
              </a:endParaRPr>
            </a:p>
          </p:txBody>
        </p:sp>
        <p:sp>
          <p:nvSpPr>
            <p:cNvPr id="146" name="Google Shape;146;p17"/>
            <p:cNvSpPr/>
            <p:nvPr/>
          </p:nvSpPr>
          <p:spPr>
            <a:xfrm>
              <a:off x="2799914" y="1016402"/>
              <a:ext cx="1098000" cy="1098000"/>
            </a:xfrm>
            <a:prstGeom prst="ellipse">
              <a:avLst/>
            </a:prstGeom>
            <a:solidFill>
              <a:srgbClr val="176B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7"/>
            <p:cNvSpPr/>
            <p:nvPr/>
          </p:nvSpPr>
          <p:spPr>
            <a:xfrm>
              <a:off x="3033914" y="1250402"/>
              <a:ext cx="630000" cy="630000"/>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7"/>
            <p:cNvSpPr/>
            <p:nvPr/>
          </p:nvSpPr>
          <p:spPr>
            <a:xfrm>
              <a:off x="2448914" y="2456402"/>
              <a:ext cx="1800000" cy="72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7"/>
            <p:cNvSpPr txBox="1"/>
            <p:nvPr/>
          </p:nvSpPr>
          <p:spPr>
            <a:xfrm>
              <a:off x="2448914" y="2456402"/>
              <a:ext cx="1800000" cy="7200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COMMUNITY BASED AWARENESS</a:t>
              </a:r>
              <a:endParaRPr b="0" i="0" sz="1800" u="none" cap="none" strike="noStrike">
                <a:solidFill>
                  <a:srgbClr val="000000"/>
                </a:solidFill>
                <a:latin typeface="Arial"/>
                <a:ea typeface="Arial"/>
                <a:cs typeface="Arial"/>
                <a:sym typeface="Arial"/>
              </a:endParaRPr>
            </a:p>
          </p:txBody>
        </p:sp>
        <p:sp>
          <p:nvSpPr>
            <p:cNvPr id="150" name="Google Shape;150;p17"/>
            <p:cNvSpPr/>
            <p:nvPr/>
          </p:nvSpPr>
          <p:spPr>
            <a:xfrm>
              <a:off x="4914914" y="1016402"/>
              <a:ext cx="1098000" cy="1098000"/>
            </a:xfrm>
            <a:prstGeom prst="ellipse">
              <a:avLst/>
            </a:prstGeom>
            <a:solidFill>
              <a:srgbClr val="0C9ED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7"/>
            <p:cNvSpPr/>
            <p:nvPr/>
          </p:nvSpPr>
          <p:spPr>
            <a:xfrm>
              <a:off x="5148914" y="1250402"/>
              <a:ext cx="630000" cy="630000"/>
            </a:xfrm>
            <a:prstGeom prst="rect">
              <a:avLst/>
            </a:prstGeom>
            <a:blipFill rotWithShape="1">
              <a:blip r:embed="rId5">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7"/>
            <p:cNvSpPr/>
            <p:nvPr/>
          </p:nvSpPr>
          <p:spPr>
            <a:xfrm>
              <a:off x="4563914" y="2456402"/>
              <a:ext cx="1800000" cy="72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7"/>
            <p:cNvSpPr txBox="1"/>
            <p:nvPr/>
          </p:nvSpPr>
          <p:spPr>
            <a:xfrm>
              <a:off x="4563914" y="2456402"/>
              <a:ext cx="1800000" cy="7200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BILLBOARDS</a:t>
              </a:r>
              <a:endParaRPr b="0" i="0" sz="1800" u="none" cap="none" strike="noStrike">
                <a:solidFill>
                  <a:srgbClr val="000000"/>
                </a:solidFill>
                <a:latin typeface="Arial"/>
                <a:ea typeface="Arial"/>
                <a:cs typeface="Arial"/>
                <a:sym typeface="Arial"/>
              </a:endParaRPr>
            </a:p>
          </p:txBody>
        </p:sp>
        <p:sp>
          <p:nvSpPr>
            <p:cNvPr id="154" name="Google Shape;154;p17"/>
            <p:cNvSpPr/>
            <p:nvPr/>
          </p:nvSpPr>
          <p:spPr>
            <a:xfrm>
              <a:off x="7029914" y="1016402"/>
              <a:ext cx="1098000" cy="1098000"/>
            </a:xfrm>
            <a:prstGeom prst="ellipse">
              <a:avLst/>
            </a:prstGeom>
            <a:solidFill>
              <a:srgbClr val="A028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7"/>
            <p:cNvSpPr/>
            <p:nvPr/>
          </p:nvSpPr>
          <p:spPr>
            <a:xfrm>
              <a:off x="7263914" y="1250402"/>
              <a:ext cx="630000" cy="630000"/>
            </a:xfrm>
            <a:prstGeom prst="rect">
              <a:avLst/>
            </a:prstGeom>
            <a:blipFill rotWithShape="1">
              <a:blip r:embed="rId6">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7"/>
            <p:cNvSpPr/>
            <p:nvPr/>
          </p:nvSpPr>
          <p:spPr>
            <a:xfrm>
              <a:off x="6678914" y="2456402"/>
              <a:ext cx="1800000" cy="72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7"/>
            <p:cNvSpPr txBox="1"/>
            <p:nvPr/>
          </p:nvSpPr>
          <p:spPr>
            <a:xfrm>
              <a:off x="6678914" y="2456402"/>
              <a:ext cx="1800000" cy="7200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POSTERS AND PROMOTIONS</a:t>
              </a:r>
              <a:endParaRPr b="0" i="0" sz="1800" u="none" cap="none" strike="noStrike">
                <a:solidFill>
                  <a:srgbClr val="000000"/>
                </a:solidFill>
                <a:latin typeface="Arial"/>
                <a:ea typeface="Arial"/>
                <a:cs typeface="Arial"/>
                <a:sym typeface="Arial"/>
              </a:endParaRPr>
            </a:p>
          </p:txBody>
        </p:sp>
        <p:sp>
          <p:nvSpPr>
            <p:cNvPr id="158" name="Google Shape;158;p17"/>
            <p:cNvSpPr/>
            <p:nvPr/>
          </p:nvSpPr>
          <p:spPr>
            <a:xfrm>
              <a:off x="9144914" y="1016402"/>
              <a:ext cx="1098000" cy="1098000"/>
            </a:xfrm>
            <a:prstGeom prst="ellipse">
              <a:avLst/>
            </a:prstGeom>
            <a:solidFill>
              <a:srgbClr val="4EA6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7"/>
            <p:cNvSpPr/>
            <p:nvPr/>
          </p:nvSpPr>
          <p:spPr>
            <a:xfrm>
              <a:off x="9378914" y="1250402"/>
              <a:ext cx="630000" cy="630000"/>
            </a:xfrm>
            <a:prstGeom prst="rect">
              <a:avLst/>
            </a:prstGeom>
            <a:blipFill rotWithShape="1">
              <a:blip r:embed="rId7">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7"/>
            <p:cNvSpPr/>
            <p:nvPr/>
          </p:nvSpPr>
          <p:spPr>
            <a:xfrm>
              <a:off x="8793914" y="2456402"/>
              <a:ext cx="1800000" cy="72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7"/>
            <p:cNvSpPr txBox="1"/>
            <p:nvPr/>
          </p:nvSpPr>
          <p:spPr>
            <a:xfrm>
              <a:off x="8793914" y="2456402"/>
              <a:ext cx="1800000" cy="7200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EMAIL ADVERTS</a:t>
              </a:r>
              <a:endParaRPr b="0" i="0" sz="1800" u="none" cap="none" strike="noStrike">
                <a:solidFill>
                  <a:srgbClr val="000000"/>
                </a:solidFill>
                <a:latin typeface="Arial"/>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8"/>
          <p:cNvSpPr txBox="1"/>
          <p:nvPr>
            <p:ph type="ctrTitle"/>
          </p:nvPr>
        </p:nvSpPr>
        <p:spPr>
          <a:xfrm>
            <a:off x="4367808" y="116632"/>
            <a:ext cx="1976659" cy="255503"/>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4000"/>
              <a:buFont typeface="Play"/>
              <a:buNone/>
            </a:pPr>
            <a:r>
              <a:rPr lang="en-US" sz="2200">
                <a:solidFill>
                  <a:srgbClr val="0F4861"/>
                </a:solidFill>
                <a:latin typeface="Arial"/>
                <a:ea typeface="Arial"/>
                <a:cs typeface="Arial"/>
                <a:sym typeface="Arial"/>
              </a:rPr>
              <a:t>Financials</a:t>
            </a:r>
            <a:endParaRPr sz="2200">
              <a:solidFill>
                <a:srgbClr val="0F4861"/>
              </a:solidFill>
              <a:latin typeface="Arial"/>
              <a:ea typeface="Arial"/>
              <a:cs typeface="Arial"/>
              <a:sym typeface="Arial"/>
            </a:endParaRPr>
          </a:p>
        </p:txBody>
      </p:sp>
      <p:pic>
        <p:nvPicPr>
          <p:cNvPr id="167" name="Google Shape;167;p18"/>
          <p:cNvPicPr preferRelativeResize="0"/>
          <p:nvPr/>
        </p:nvPicPr>
        <p:blipFill rotWithShape="1">
          <a:blip r:embed="rId3">
            <a:alphaModFix/>
          </a:blip>
          <a:srcRect b="0" l="0" r="0" t="0"/>
          <a:stretch/>
        </p:blipFill>
        <p:spPr>
          <a:xfrm>
            <a:off x="1415480" y="548680"/>
            <a:ext cx="8947150" cy="53721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pic>
        <p:nvPicPr>
          <p:cNvPr id="172" name="Google Shape;172;p19"/>
          <p:cNvPicPr preferRelativeResize="0"/>
          <p:nvPr/>
        </p:nvPicPr>
        <p:blipFill rotWithShape="1">
          <a:blip r:embed="rId3">
            <a:alphaModFix/>
          </a:blip>
          <a:srcRect b="0" l="0" r="0" t="0"/>
          <a:stretch/>
        </p:blipFill>
        <p:spPr>
          <a:xfrm>
            <a:off x="1866900" y="330200"/>
            <a:ext cx="8458200" cy="6197600"/>
          </a:xfrm>
          <a:prstGeom prst="rect">
            <a:avLst/>
          </a:prstGeom>
          <a:noFill/>
          <a:ln>
            <a:noFill/>
          </a:ln>
        </p:spPr>
      </p:pic>
      <p:pic>
        <p:nvPicPr>
          <p:cNvPr id="173" name="Google Shape;173;p19"/>
          <p:cNvPicPr preferRelativeResize="0"/>
          <p:nvPr/>
        </p:nvPicPr>
        <p:blipFill rotWithShape="1">
          <a:blip r:embed="rId4">
            <a:alphaModFix/>
          </a:blip>
          <a:srcRect b="0" l="0" r="0" t="0"/>
          <a:stretch/>
        </p:blipFill>
        <p:spPr>
          <a:xfrm>
            <a:off x="5483225" y="3240088"/>
            <a:ext cx="1225550" cy="3746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pic>
        <p:nvPicPr>
          <p:cNvPr id="178" name="Google Shape;178;p20"/>
          <p:cNvPicPr preferRelativeResize="0"/>
          <p:nvPr/>
        </p:nvPicPr>
        <p:blipFill rotWithShape="1">
          <a:blip r:embed="rId3">
            <a:alphaModFix/>
          </a:blip>
          <a:srcRect b="0" l="0" r="0" t="0"/>
          <a:stretch/>
        </p:blipFill>
        <p:spPr>
          <a:xfrm>
            <a:off x="1152839" y="1"/>
            <a:ext cx="8416611" cy="692408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id="183" name="Google Shape;183;p21"/>
          <p:cNvPicPr preferRelativeResize="0"/>
          <p:nvPr/>
        </p:nvPicPr>
        <p:blipFill rotWithShape="1">
          <a:blip r:embed="rId3">
            <a:alphaModFix/>
          </a:blip>
          <a:srcRect b="0" l="0" r="0" t="0"/>
          <a:stretch/>
        </p:blipFill>
        <p:spPr>
          <a:xfrm>
            <a:off x="196850" y="571500"/>
            <a:ext cx="11798300" cy="5715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pic>
        <p:nvPicPr>
          <p:cNvPr id="188" name="Google Shape;188;p22"/>
          <p:cNvPicPr preferRelativeResize="0"/>
          <p:nvPr/>
        </p:nvPicPr>
        <p:blipFill rotWithShape="1">
          <a:blip r:embed="rId3">
            <a:alphaModFix/>
          </a:blip>
          <a:srcRect b="0" l="0" r="0" t="0"/>
          <a:stretch/>
        </p:blipFill>
        <p:spPr>
          <a:xfrm>
            <a:off x="1260475" y="571500"/>
            <a:ext cx="9671050" cy="5715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pic>
        <p:nvPicPr>
          <p:cNvPr id="193" name="Google Shape;193;p23"/>
          <p:cNvPicPr preferRelativeResize="0"/>
          <p:nvPr/>
        </p:nvPicPr>
        <p:blipFill rotWithShape="1">
          <a:blip r:embed="rId3">
            <a:alphaModFix/>
          </a:blip>
          <a:srcRect b="0" l="0" r="0" t="0"/>
          <a:stretch/>
        </p:blipFill>
        <p:spPr>
          <a:xfrm>
            <a:off x="1990725" y="244475"/>
            <a:ext cx="8210550" cy="63690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pic>
        <p:nvPicPr>
          <p:cNvPr id="198" name="Google Shape;198;p24"/>
          <p:cNvPicPr preferRelativeResize="0"/>
          <p:nvPr/>
        </p:nvPicPr>
        <p:blipFill rotWithShape="1">
          <a:blip r:embed="rId3">
            <a:alphaModFix/>
          </a:blip>
          <a:srcRect b="0" l="0" r="0" t="0"/>
          <a:stretch/>
        </p:blipFill>
        <p:spPr>
          <a:xfrm>
            <a:off x="1231900" y="682625"/>
            <a:ext cx="9715500" cy="54102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5"/>
          <p:cNvSpPr txBox="1"/>
          <p:nvPr/>
        </p:nvSpPr>
        <p:spPr>
          <a:xfrm>
            <a:off x="4367808" y="260648"/>
            <a:ext cx="338437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LAST THREE YEARS  REVENUE</a:t>
            </a:r>
            <a:endParaRPr b="0" i="0" sz="1400" u="none" cap="none" strike="noStrike">
              <a:solidFill>
                <a:srgbClr val="000000"/>
              </a:solidFill>
              <a:latin typeface="Arial"/>
              <a:ea typeface="Arial"/>
              <a:cs typeface="Arial"/>
              <a:sym typeface="Arial"/>
            </a:endParaRPr>
          </a:p>
        </p:txBody>
      </p:sp>
      <p:pic>
        <p:nvPicPr>
          <p:cNvPr id="204" name="Google Shape;204;p25"/>
          <p:cNvPicPr preferRelativeResize="0"/>
          <p:nvPr/>
        </p:nvPicPr>
        <p:blipFill rotWithShape="1">
          <a:blip r:embed="rId3">
            <a:alphaModFix/>
          </a:blip>
          <a:srcRect b="0" l="0" r="0" t="0"/>
          <a:stretch/>
        </p:blipFill>
        <p:spPr>
          <a:xfrm>
            <a:off x="335360" y="760535"/>
            <a:ext cx="11671200" cy="540476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pic>
        <p:nvPicPr>
          <p:cNvPr id="209" name="Google Shape;209;p26"/>
          <p:cNvPicPr preferRelativeResize="0"/>
          <p:nvPr/>
        </p:nvPicPr>
        <p:blipFill rotWithShape="1">
          <a:blip r:embed="rId3">
            <a:alphaModFix/>
          </a:blip>
          <a:srcRect b="0" l="0" r="0" t="0"/>
          <a:stretch/>
        </p:blipFill>
        <p:spPr>
          <a:xfrm>
            <a:off x="623392" y="908720"/>
            <a:ext cx="11305256" cy="3456384"/>
          </a:xfrm>
          <a:prstGeom prst="rect">
            <a:avLst/>
          </a:prstGeom>
          <a:noFill/>
          <a:ln>
            <a:noFill/>
          </a:ln>
        </p:spPr>
      </p:pic>
      <p:sp>
        <p:nvSpPr>
          <p:cNvPr id="210" name="Google Shape;210;p26"/>
          <p:cNvSpPr txBox="1"/>
          <p:nvPr/>
        </p:nvSpPr>
        <p:spPr>
          <a:xfrm>
            <a:off x="839416" y="4509120"/>
            <a:ext cx="9433048"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rgbClr val="000000"/>
                </a:solidFill>
                <a:latin typeface="Arial"/>
                <a:ea typeface="Arial"/>
                <a:cs typeface="Arial"/>
                <a:sym typeface="Arial"/>
              </a:rPr>
              <a:t>We Estimated a 10% Annual Growth, we are sure that the growth will be greater than the estimate. </a:t>
            </a:r>
            <a:endParaRPr/>
          </a:p>
          <a:p>
            <a:pPr indent="0" lvl="0" marL="0" marR="0" rtl="0" algn="l">
              <a:lnSpc>
                <a:spcPct val="100000"/>
              </a:lnSpc>
              <a:spcBef>
                <a:spcPts val="0"/>
              </a:spcBef>
              <a:spcAft>
                <a:spcPts val="0"/>
              </a:spcAft>
              <a:buNone/>
            </a:pPr>
            <a:r>
              <a:rPr b="0" i="0" lang="en-US" sz="1600" u="none" cap="none" strike="noStrike">
                <a:solidFill>
                  <a:srgbClr val="000000"/>
                </a:solidFill>
                <a:latin typeface="Arial"/>
                <a:ea typeface="Arial"/>
                <a:cs typeface="Arial"/>
                <a:sym typeface="Arial"/>
              </a:rPr>
              <a:t>This is because the large format image printer, the hot glue machine and the cutter will enable us triple</a:t>
            </a:r>
            <a:endParaRPr/>
          </a:p>
          <a:p>
            <a:pPr indent="0" lvl="0" marL="0" marR="0" rtl="0" algn="l">
              <a:lnSpc>
                <a:spcPct val="100000"/>
              </a:lnSpc>
              <a:spcBef>
                <a:spcPts val="0"/>
              </a:spcBef>
              <a:spcAft>
                <a:spcPts val="0"/>
              </a:spcAft>
              <a:buNone/>
            </a:pPr>
            <a:r>
              <a:rPr b="0" i="0" lang="en-US" sz="1600" u="none" cap="none" strike="noStrike">
                <a:solidFill>
                  <a:srgbClr val="000000"/>
                </a:solidFill>
                <a:latin typeface="Arial"/>
                <a:ea typeface="Arial"/>
                <a:cs typeface="Arial"/>
                <a:sym typeface="Arial"/>
              </a:rPr>
              <a:t>Production using same energy charges. with this we will not only increase production but minimize expenditure</a:t>
            </a:r>
            <a:endParaRPr/>
          </a:p>
          <a:p>
            <a:pPr indent="0" lvl="0" marL="0" marR="0" rtl="0" algn="l">
              <a:lnSpc>
                <a:spcPct val="100000"/>
              </a:lnSpc>
              <a:spcBef>
                <a:spcPts val="0"/>
              </a:spcBef>
              <a:spcAft>
                <a:spcPts val="0"/>
              </a:spcAft>
              <a:buNone/>
            </a:pPr>
            <a:r>
              <a:rPr b="0" i="0" lang="en-US" sz="1600" u="none" cap="none" strike="noStrike">
                <a:solidFill>
                  <a:srgbClr val="000000"/>
                </a:solidFill>
                <a:latin typeface="Arial"/>
                <a:ea typeface="Arial"/>
                <a:cs typeface="Arial"/>
                <a:sym typeface="Arial"/>
              </a:rPr>
              <a:t>And maximize profit.</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7"/>
          <p:cNvSpPr txBox="1"/>
          <p:nvPr>
            <p:ph type="ctrTitle"/>
          </p:nvPr>
        </p:nvSpPr>
        <p:spPr>
          <a:xfrm>
            <a:off x="4367808" y="218136"/>
            <a:ext cx="4280915" cy="216024"/>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4000"/>
              <a:buFont typeface="Play"/>
              <a:buNone/>
            </a:pPr>
            <a:r>
              <a:rPr b="1" lang="en-US" sz="2200">
                <a:solidFill>
                  <a:srgbClr val="0F4861"/>
                </a:solidFill>
                <a:latin typeface="Arial"/>
                <a:ea typeface="Arial"/>
                <a:cs typeface="Arial"/>
                <a:sym typeface="Arial"/>
              </a:rPr>
              <a:t>Management Team</a:t>
            </a:r>
            <a:endParaRPr b="1" sz="2200">
              <a:solidFill>
                <a:srgbClr val="0F4861"/>
              </a:solidFill>
              <a:latin typeface="Arial"/>
              <a:ea typeface="Arial"/>
              <a:cs typeface="Arial"/>
              <a:sym typeface="Arial"/>
            </a:endParaRPr>
          </a:p>
        </p:txBody>
      </p:sp>
      <p:sp>
        <p:nvSpPr>
          <p:cNvPr id="216" name="Google Shape;216;p27"/>
          <p:cNvSpPr txBox="1"/>
          <p:nvPr>
            <p:ph idx="1" type="subTitle"/>
          </p:nvPr>
        </p:nvSpPr>
        <p:spPr>
          <a:xfrm>
            <a:off x="7789615" y="2223330"/>
            <a:ext cx="3481064" cy="1655762"/>
          </a:xfrm>
          <a:prstGeom prst="rect">
            <a:avLst/>
          </a:prstGeom>
          <a:noFill/>
          <a:ln>
            <a:noFill/>
          </a:ln>
        </p:spPr>
        <p:txBody>
          <a:bodyPr anchorCtr="0" anchor="t" bIns="45700" lIns="91425" spcFirstLastPara="1" rIns="91425" wrap="square" tIns="45700">
            <a:normAutofit fontScale="25000" lnSpcReduction="20000"/>
          </a:bodyPr>
          <a:lstStyle/>
          <a:p>
            <a:pPr indent="-406400" lvl="0" marL="457200" rtl="0" algn="l">
              <a:lnSpc>
                <a:spcPct val="115000"/>
              </a:lnSpc>
              <a:spcBef>
                <a:spcPts val="1000"/>
              </a:spcBef>
              <a:spcAft>
                <a:spcPts val="0"/>
              </a:spcAft>
              <a:buSzPct val="120000"/>
              <a:buNone/>
            </a:pPr>
            <a:r>
              <a:rPr b="1" i="1" lang="en-US" sz="8000">
                <a:latin typeface="Arial"/>
                <a:ea typeface="Arial"/>
                <a:cs typeface="Arial"/>
                <a:sym typeface="Arial"/>
              </a:rPr>
              <a:t>Elizabeth Onyekachi</a:t>
            </a:r>
            <a:endParaRPr/>
          </a:p>
          <a:p>
            <a:pPr indent="-406400" lvl="0" marL="457200" rtl="0" algn="just">
              <a:lnSpc>
                <a:spcPct val="115000"/>
              </a:lnSpc>
              <a:spcBef>
                <a:spcPts val="1800"/>
              </a:spcBef>
              <a:spcAft>
                <a:spcPts val="0"/>
              </a:spcAft>
              <a:buSzPct val="120000"/>
              <a:buNone/>
            </a:pPr>
            <a:r>
              <a:rPr i="1" lang="en-US" sz="8000">
                <a:latin typeface="Arial"/>
                <a:ea typeface="Arial"/>
                <a:cs typeface="Arial"/>
                <a:sym typeface="Arial"/>
              </a:rPr>
              <a:t> is the business Manger,  she is a manager with many track records in the Design and  tech industry.</a:t>
            </a:r>
            <a:endParaRPr sz="8000">
              <a:latin typeface="Arial"/>
              <a:ea typeface="Arial"/>
              <a:cs typeface="Arial"/>
              <a:sym typeface="Arial"/>
            </a:endParaRPr>
          </a:p>
          <a:p>
            <a:pPr indent="-406400" lvl="0" marL="457200" rtl="0" algn="just">
              <a:lnSpc>
                <a:spcPct val="115000"/>
              </a:lnSpc>
              <a:spcBef>
                <a:spcPts val="1800"/>
              </a:spcBef>
              <a:spcAft>
                <a:spcPts val="0"/>
              </a:spcAft>
              <a:buSzPct val="120000"/>
              <a:buNone/>
            </a:pPr>
            <a:r>
              <a:t/>
            </a:r>
            <a:endParaRPr sz="8000">
              <a:latin typeface="Arial"/>
              <a:ea typeface="Arial"/>
              <a:cs typeface="Arial"/>
              <a:sym typeface="Arial"/>
            </a:endParaRPr>
          </a:p>
          <a:p>
            <a:pPr indent="0" lvl="0" marL="0" rtl="0" algn="ctr">
              <a:lnSpc>
                <a:spcPct val="90000"/>
              </a:lnSpc>
              <a:spcBef>
                <a:spcPts val="800"/>
              </a:spcBef>
              <a:spcAft>
                <a:spcPts val="0"/>
              </a:spcAft>
              <a:buClr>
                <a:schemeClr val="dk1"/>
              </a:buClr>
              <a:buSzPts val="2400"/>
              <a:buNone/>
            </a:pPr>
            <a:r>
              <a:t/>
            </a:r>
            <a:endParaRPr/>
          </a:p>
        </p:txBody>
      </p:sp>
      <p:sp>
        <p:nvSpPr>
          <p:cNvPr id="217" name="Google Shape;217;p27"/>
          <p:cNvSpPr txBox="1"/>
          <p:nvPr/>
        </p:nvSpPr>
        <p:spPr>
          <a:xfrm>
            <a:off x="3791744" y="2223330"/>
            <a:ext cx="3970354" cy="1655762"/>
          </a:xfrm>
          <a:prstGeom prst="rect">
            <a:avLst/>
          </a:prstGeom>
          <a:noFill/>
          <a:ln>
            <a:noFill/>
          </a:ln>
        </p:spPr>
        <p:txBody>
          <a:bodyPr anchorCtr="0" anchor="t" bIns="45700" lIns="91425" spcFirstLastPara="1" rIns="91425" wrap="square" tIns="45700">
            <a:normAutofit fontScale="25000" lnSpcReduction="20000"/>
          </a:bodyPr>
          <a:lstStyle/>
          <a:p>
            <a:pPr indent="-406400" lvl="0" marL="457200" marR="0" rtl="0" algn="ctr">
              <a:lnSpc>
                <a:spcPct val="115000"/>
              </a:lnSpc>
              <a:spcBef>
                <a:spcPts val="1000"/>
              </a:spcBef>
              <a:spcAft>
                <a:spcPts val="0"/>
              </a:spcAft>
              <a:buClr>
                <a:schemeClr val="dk1"/>
              </a:buClr>
              <a:buSzPct val="120000"/>
              <a:buFont typeface="Arial"/>
              <a:buNone/>
            </a:pPr>
            <a:r>
              <a:rPr b="1" i="1" lang="en-US" sz="8000" u="none" cap="none" strike="noStrike">
                <a:solidFill>
                  <a:schemeClr val="dk1"/>
                </a:solidFill>
                <a:latin typeface="Arial"/>
                <a:ea typeface="Arial"/>
                <a:cs typeface="Arial"/>
                <a:sym typeface="Arial"/>
              </a:rPr>
              <a:t>Esther Ogba</a:t>
            </a:r>
            <a:r>
              <a:rPr b="0" i="1" lang="en-US" sz="8000" u="none" cap="none" strike="noStrike">
                <a:solidFill>
                  <a:schemeClr val="dk1"/>
                </a:solidFill>
                <a:latin typeface="Arial"/>
                <a:ea typeface="Arial"/>
                <a:cs typeface="Arial"/>
                <a:sym typeface="Arial"/>
              </a:rPr>
              <a:t>  Chief Operator </a:t>
            </a:r>
            <a:endParaRPr b="0" i="0" sz="8000" u="none" cap="none" strike="noStrike">
              <a:solidFill>
                <a:schemeClr val="dk1"/>
              </a:solidFill>
              <a:latin typeface="Arial"/>
              <a:ea typeface="Arial"/>
              <a:cs typeface="Arial"/>
              <a:sym typeface="Arial"/>
            </a:endParaRPr>
          </a:p>
          <a:p>
            <a:pPr indent="-406400" lvl="0" marL="457200" marR="0" rtl="0" algn="ctr">
              <a:lnSpc>
                <a:spcPct val="115000"/>
              </a:lnSpc>
              <a:spcBef>
                <a:spcPts val="1800"/>
              </a:spcBef>
              <a:spcAft>
                <a:spcPts val="0"/>
              </a:spcAft>
              <a:buClr>
                <a:schemeClr val="dk1"/>
              </a:buClr>
              <a:buSzPct val="120000"/>
              <a:buFont typeface="Arial"/>
              <a:buNone/>
            </a:pPr>
            <a:r>
              <a:rPr b="0" i="1" lang="en-US" sz="8000" u="none" cap="none" strike="noStrike">
                <a:solidFill>
                  <a:schemeClr val="dk1"/>
                </a:solidFill>
                <a:latin typeface="Arial"/>
                <a:ea typeface="Arial"/>
                <a:cs typeface="Arial"/>
                <a:sym typeface="Arial"/>
              </a:rPr>
              <a:t>Miss Ogba is a graduate of computer science (HND) Abia State Polytechnic Aba, Some of her  skills includes: Graphics Design, Content creation, CTO and Print Machine Operation Etc .</a:t>
            </a:r>
            <a:endParaRPr b="0" i="0" sz="8000" u="none" cap="none" strike="noStrike">
              <a:solidFill>
                <a:schemeClr val="dk1"/>
              </a:solidFill>
              <a:latin typeface="Arial"/>
              <a:ea typeface="Arial"/>
              <a:cs typeface="Arial"/>
              <a:sym typeface="Arial"/>
            </a:endParaRPr>
          </a:p>
          <a:p>
            <a:pPr indent="0" lvl="0" marL="0" marR="0" rtl="0" algn="ctr">
              <a:lnSpc>
                <a:spcPct val="90000"/>
              </a:lnSpc>
              <a:spcBef>
                <a:spcPts val="8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218" name="Google Shape;218;p27"/>
          <p:cNvSpPr txBox="1"/>
          <p:nvPr/>
        </p:nvSpPr>
        <p:spPr>
          <a:xfrm>
            <a:off x="0" y="2223330"/>
            <a:ext cx="3791744" cy="3660956"/>
          </a:xfrm>
          <a:prstGeom prst="rect">
            <a:avLst/>
          </a:prstGeom>
          <a:noFill/>
          <a:ln>
            <a:noFill/>
          </a:ln>
        </p:spPr>
        <p:txBody>
          <a:bodyPr anchorCtr="0" anchor="t" bIns="45700" lIns="91425" spcFirstLastPara="1" rIns="91425" wrap="square" tIns="45700">
            <a:normAutofit fontScale="25000" lnSpcReduction="20000"/>
          </a:bodyPr>
          <a:lstStyle/>
          <a:p>
            <a:pPr indent="-406400" lvl="0" marL="457200" marR="0" rtl="0" algn="ctr">
              <a:lnSpc>
                <a:spcPct val="115000"/>
              </a:lnSpc>
              <a:spcBef>
                <a:spcPts val="1000"/>
              </a:spcBef>
              <a:spcAft>
                <a:spcPts val="0"/>
              </a:spcAft>
              <a:buClr>
                <a:schemeClr val="dk1"/>
              </a:buClr>
              <a:buSzPct val="120000"/>
              <a:buFont typeface="Arial"/>
              <a:buNone/>
            </a:pPr>
            <a:r>
              <a:rPr b="0" i="1" lang="en-US" sz="8000" u="none" cap="none" strike="noStrike">
                <a:solidFill>
                  <a:schemeClr val="dk1"/>
                </a:solidFill>
                <a:latin typeface="Arial"/>
                <a:ea typeface="Arial"/>
                <a:cs typeface="Arial"/>
                <a:sym typeface="Arial"/>
              </a:rPr>
              <a:t> </a:t>
            </a:r>
            <a:r>
              <a:rPr b="1" i="1" lang="en-US" sz="8000" u="none" cap="none" strike="noStrike">
                <a:solidFill>
                  <a:schemeClr val="dk1"/>
                </a:solidFill>
                <a:latin typeface="Arial"/>
                <a:ea typeface="Arial"/>
                <a:cs typeface="Arial"/>
                <a:sym typeface="Arial"/>
              </a:rPr>
              <a:t>Bright Chidozie Onyekachi </a:t>
            </a:r>
            <a:r>
              <a:rPr b="0" i="1" lang="en-US" sz="8000" u="none" cap="none" strike="noStrike">
                <a:solidFill>
                  <a:schemeClr val="dk1"/>
                </a:solidFill>
                <a:latin typeface="Arial"/>
                <a:ea typeface="Arial"/>
                <a:cs typeface="Arial"/>
                <a:sym typeface="Arial"/>
              </a:rPr>
              <a:t>(CTO)</a:t>
            </a:r>
            <a:endParaRPr b="0" i="0" sz="8000" u="none" cap="none" strike="noStrike">
              <a:solidFill>
                <a:schemeClr val="dk1"/>
              </a:solidFill>
              <a:latin typeface="Arial"/>
              <a:ea typeface="Arial"/>
              <a:cs typeface="Arial"/>
              <a:sym typeface="Arial"/>
            </a:endParaRPr>
          </a:p>
          <a:p>
            <a:pPr indent="-406400" lvl="0" marL="457200" marR="0" rtl="0" algn="ctr">
              <a:lnSpc>
                <a:spcPct val="115000"/>
              </a:lnSpc>
              <a:spcBef>
                <a:spcPts val="1800"/>
              </a:spcBef>
              <a:spcAft>
                <a:spcPts val="0"/>
              </a:spcAft>
              <a:buClr>
                <a:schemeClr val="dk1"/>
              </a:buClr>
              <a:buSzPct val="150000"/>
              <a:buFont typeface="Arial"/>
              <a:buNone/>
            </a:pPr>
            <a:r>
              <a:rPr b="0" i="1" lang="en-US" sz="6400" u="none" cap="none" strike="noStrike">
                <a:solidFill>
                  <a:schemeClr val="dk1"/>
                </a:solidFill>
                <a:latin typeface="Arial"/>
                <a:ea typeface="Arial"/>
                <a:cs typeface="Arial"/>
                <a:sym typeface="Arial"/>
              </a:rPr>
              <a:t>Mr Onyekachi is a graduate of computer science (HND) Abia State Polytechnic Aba,</a:t>
            </a:r>
            <a:endParaRPr b="0" i="0" sz="6400" u="none" cap="none" strike="noStrike">
              <a:solidFill>
                <a:schemeClr val="dk1"/>
              </a:solidFill>
              <a:latin typeface="Arial"/>
              <a:ea typeface="Arial"/>
              <a:cs typeface="Arial"/>
              <a:sym typeface="Arial"/>
            </a:endParaRPr>
          </a:p>
          <a:p>
            <a:pPr indent="-406400" lvl="0" marL="457200" marR="0" rtl="0" algn="ctr">
              <a:lnSpc>
                <a:spcPct val="115000"/>
              </a:lnSpc>
              <a:spcBef>
                <a:spcPts val="1800"/>
              </a:spcBef>
              <a:spcAft>
                <a:spcPts val="0"/>
              </a:spcAft>
              <a:buClr>
                <a:schemeClr val="dk1"/>
              </a:buClr>
              <a:buSzPct val="150000"/>
              <a:buFont typeface="Arial"/>
              <a:buNone/>
            </a:pPr>
            <a:r>
              <a:rPr b="0" i="1" lang="en-US" sz="6400" u="none" cap="none" strike="noStrike">
                <a:solidFill>
                  <a:schemeClr val="dk1"/>
                </a:solidFill>
                <a:latin typeface="Arial"/>
                <a:ea typeface="Arial"/>
                <a:cs typeface="Arial"/>
                <a:sym typeface="Arial"/>
              </a:rPr>
              <a:t>And currently enrolled for  BsC Software Development  in BYU Idaho (online).</a:t>
            </a:r>
            <a:endParaRPr b="0" i="0" sz="6400" u="none" cap="none" strike="noStrike">
              <a:solidFill>
                <a:schemeClr val="dk1"/>
              </a:solidFill>
              <a:latin typeface="Arial"/>
              <a:ea typeface="Arial"/>
              <a:cs typeface="Arial"/>
              <a:sym typeface="Arial"/>
            </a:endParaRPr>
          </a:p>
          <a:p>
            <a:pPr indent="-406400" lvl="0" marL="457200" marR="0" rtl="0" algn="ctr">
              <a:lnSpc>
                <a:spcPct val="115000"/>
              </a:lnSpc>
              <a:spcBef>
                <a:spcPts val="1800"/>
              </a:spcBef>
              <a:spcAft>
                <a:spcPts val="0"/>
              </a:spcAft>
              <a:buClr>
                <a:schemeClr val="dk1"/>
              </a:buClr>
              <a:buSzPct val="150000"/>
              <a:buFont typeface="Arial"/>
              <a:buNone/>
            </a:pPr>
            <a:r>
              <a:rPr b="0" i="1" lang="en-US" sz="6400" u="none" cap="none" strike="noStrike">
                <a:solidFill>
                  <a:schemeClr val="dk1"/>
                </a:solidFill>
                <a:latin typeface="Arial"/>
                <a:ea typeface="Arial"/>
                <a:cs typeface="Arial"/>
                <a:sym typeface="Arial"/>
              </a:rPr>
              <a:t>Some of his Tech skills includes : web development, mobile app development and graphics de</a:t>
            </a:r>
            <a:r>
              <a:rPr b="0" i="1" lang="en-US" sz="8000" u="none" cap="none" strike="noStrike">
                <a:solidFill>
                  <a:schemeClr val="dk1"/>
                </a:solidFill>
                <a:latin typeface="Arial"/>
                <a:ea typeface="Arial"/>
                <a:cs typeface="Arial"/>
                <a:sym typeface="Arial"/>
              </a:rPr>
              <a:t>sign etc. </a:t>
            </a:r>
            <a:endParaRPr b="0" i="0" sz="8000" u="none" cap="none" strike="noStrike">
              <a:solidFill>
                <a:schemeClr val="dk1"/>
              </a:solidFill>
              <a:latin typeface="Arial"/>
              <a:ea typeface="Arial"/>
              <a:cs typeface="Arial"/>
              <a:sym typeface="Arial"/>
            </a:endParaRPr>
          </a:p>
          <a:p>
            <a:pPr indent="0" lvl="0" marL="0" marR="0" rtl="0" algn="ctr">
              <a:lnSpc>
                <a:spcPct val="90000"/>
              </a:lnSpc>
              <a:spcBef>
                <a:spcPts val="8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pic>
        <p:nvPicPr>
          <p:cNvPr id="219" name="Google Shape;219;p27"/>
          <p:cNvPicPr preferRelativeResize="0"/>
          <p:nvPr/>
        </p:nvPicPr>
        <p:blipFill rotWithShape="1">
          <a:blip r:embed="rId3">
            <a:alphaModFix/>
          </a:blip>
          <a:srcRect b="0" l="0" r="0" t="0"/>
          <a:stretch/>
        </p:blipFill>
        <p:spPr>
          <a:xfrm>
            <a:off x="1055440" y="416116"/>
            <a:ext cx="1355411" cy="1807214"/>
          </a:xfrm>
          <a:prstGeom prst="rect">
            <a:avLst/>
          </a:prstGeom>
          <a:noFill/>
          <a:ln>
            <a:noFill/>
          </a:ln>
        </p:spPr>
      </p:pic>
      <p:pic>
        <p:nvPicPr>
          <p:cNvPr id="220" name="Google Shape;220;p27"/>
          <p:cNvPicPr preferRelativeResize="0"/>
          <p:nvPr/>
        </p:nvPicPr>
        <p:blipFill rotWithShape="1">
          <a:blip r:embed="rId4">
            <a:alphaModFix/>
          </a:blip>
          <a:srcRect b="0" l="0" r="0" t="0"/>
          <a:stretch/>
        </p:blipFill>
        <p:spPr>
          <a:xfrm rot="-5400000">
            <a:off x="8026780" y="530080"/>
            <a:ext cx="2240868" cy="1493912"/>
          </a:xfrm>
          <a:prstGeom prst="rect">
            <a:avLst/>
          </a:prstGeom>
          <a:noFill/>
          <a:ln>
            <a:noFill/>
          </a:ln>
        </p:spPr>
      </p:pic>
      <p:pic>
        <p:nvPicPr>
          <p:cNvPr id="221" name="Google Shape;221;p27"/>
          <p:cNvPicPr preferRelativeResize="0"/>
          <p:nvPr/>
        </p:nvPicPr>
        <p:blipFill rotWithShape="1">
          <a:blip r:embed="rId5">
            <a:alphaModFix/>
          </a:blip>
          <a:srcRect b="0" l="0" r="0" t="0"/>
          <a:stretch/>
        </p:blipFill>
        <p:spPr>
          <a:xfrm rot="5400000">
            <a:off x="4752760" y="628569"/>
            <a:ext cx="1991882" cy="149391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8"/>
          <p:cNvSpPr txBox="1"/>
          <p:nvPr>
            <p:ph type="ctrTitle"/>
          </p:nvPr>
        </p:nvSpPr>
        <p:spPr>
          <a:xfrm>
            <a:off x="2766327" y="213822"/>
            <a:ext cx="4968552" cy="432048"/>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4000"/>
              <a:buFont typeface="Play"/>
              <a:buNone/>
            </a:pPr>
            <a:r>
              <a:rPr b="1" lang="en-US" sz="2200">
                <a:solidFill>
                  <a:srgbClr val="0F4861"/>
                </a:solidFill>
                <a:latin typeface="Arial"/>
                <a:ea typeface="Arial"/>
                <a:cs typeface="Arial"/>
                <a:sym typeface="Arial"/>
              </a:rPr>
              <a:t>What will prize money be used for?</a:t>
            </a:r>
            <a:endParaRPr b="1" sz="2200">
              <a:solidFill>
                <a:srgbClr val="0F4861"/>
              </a:solidFill>
              <a:latin typeface="Arial"/>
              <a:ea typeface="Arial"/>
              <a:cs typeface="Arial"/>
              <a:sym typeface="Arial"/>
            </a:endParaRPr>
          </a:p>
        </p:txBody>
      </p:sp>
      <p:sp>
        <p:nvSpPr>
          <p:cNvPr id="227" name="Google Shape;227;p28"/>
          <p:cNvSpPr txBox="1"/>
          <p:nvPr>
            <p:ph idx="1" type="subTitle"/>
          </p:nvPr>
        </p:nvSpPr>
        <p:spPr>
          <a:xfrm>
            <a:off x="263352" y="525267"/>
            <a:ext cx="11449272" cy="5807466"/>
          </a:xfrm>
          <a:prstGeom prst="rect">
            <a:avLst/>
          </a:prstGeom>
          <a:noFill/>
          <a:ln>
            <a:noFill/>
          </a:ln>
        </p:spPr>
        <p:txBody>
          <a:bodyPr anchorCtr="0" anchor="t" bIns="45700" lIns="91425" spcFirstLastPara="1" rIns="91425" wrap="square" tIns="45700">
            <a:noAutofit/>
          </a:bodyPr>
          <a:lstStyle/>
          <a:p>
            <a:pPr indent="-406400" lvl="0" marL="457200" rtl="0" algn="l">
              <a:lnSpc>
                <a:spcPct val="90000"/>
              </a:lnSpc>
              <a:spcBef>
                <a:spcPts val="1000"/>
              </a:spcBef>
              <a:spcAft>
                <a:spcPts val="0"/>
              </a:spcAft>
              <a:buSzPts val="2400"/>
              <a:buNone/>
            </a:pPr>
            <a:r>
              <a:rPr b="1" lang="en-US" sz="2000">
                <a:latin typeface="Arial"/>
                <a:ea typeface="Arial"/>
                <a:cs typeface="Arial"/>
                <a:sym typeface="Arial"/>
              </a:rPr>
              <a:t>Our most sought machines are:</a:t>
            </a:r>
            <a:endParaRPr/>
          </a:p>
          <a:p>
            <a:pPr indent="-406400" lvl="0" marL="457200" rtl="0" algn="l">
              <a:lnSpc>
                <a:spcPct val="90000"/>
              </a:lnSpc>
              <a:spcBef>
                <a:spcPts val="1000"/>
              </a:spcBef>
              <a:spcAft>
                <a:spcPts val="0"/>
              </a:spcAft>
              <a:buSzPts val="2400"/>
              <a:buNone/>
            </a:pPr>
            <a:r>
              <a:rPr b="1" lang="en-US">
                <a:latin typeface="Arial"/>
                <a:ea typeface="Arial"/>
                <a:cs typeface="Arial"/>
                <a:sym typeface="Arial"/>
              </a:rPr>
              <a:t>Large format Photo Printer :$1487.05 </a:t>
            </a:r>
            <a:endParaRPr/>
          </a:p>
          <a:p>
            <a:pPr indent="-406400" lvl="0" marL="457200" rtl="0" algn="l">
              <a:lnSpc>
                <a:spcPct val="90000"/>
              </a:lnSpc>
              <a:spcBef>
                <a:spcPts val="1000"/>
              </a:spcBef>
              <a:spcAft>
                <a:spcPts val="0"/>
              </a:spcAft>
              <a:buSzPts val="2400"/>
              <a:buNone/>
            </a:pPr>
            <a:r>
              <a:rPr b="1" lang="en-US" sz="1800">
                <a:latin typeface="Arial"/>
                <a:ea typeface="Arial"/>
                <a:cs typeface="Arial"/>
                <a:sym typeface="Arial"/>
              </a:rPr>
              <a:t>This will enable us print photos of all sizes, increase production speed and mini cost  maximize profit as it’s a fast printer. </a:t>
            </a:r>
            <a:endParaRPr/>
          </a:p>
          <a:p>
            <a:pPr indent="-406400" lvl="0" marL="457200" rtl="0" algn="l">
              <a:lnSpc>
                <a:spcPct val="90000"/>
              </a:lnSpc>
              <a:spcBef>
                <a:spcPts val="1000"/>
              </a:spcBef>
              <a:spcAft>
                <a:spcPts val="0"/>
              </a:spcAft>
              <a:buSzPts val="2400"/>
              <a:buNone/>
            </a:pPr>
            <a:r>
              <a:rPr b="1" lang="en-US">
                <a:latin typeface="Arial"/>
                <a:ea typeface="Arial"/>
                <a:cs typeface="Arial"/>
                <a:sym typeface="Arial"/>
              </a:rPr>
              <a:t>Manual Glue Binding Machine : $554</a:t>
            </a:r>
            <a:endParaRPr/>
          </a:p>
          <a:p>
            <a:pPr indent="-406400" lvl="0" marL="457200" rtl="0" algn="l">
              <a:lnSpc>
                <a:spcPct val="90000"/>
              </a:lnSpc>
              <a:spcBef>
                <a:spcPts val="1000"/>
              </a:spcBef>
              <a:spcAft>
                <a:spcPts val="0"/>
              </a:spcAft>
              <a:buSzPts val="2400"/>
              <a:buNone/>
            </a:pPr>
            <a:r>
              <a:rPr b="1" lang="en-US" sz="1800">
                <a:latin typeface="Arial"/>
                <a:ea typeface="Arial"/>
                <a:cs typeface="Arial"/>
                <a:sym typeface="Arial"/>
              </a:rPr>
              <a:t>A combination of Large format synthetic photo printer and glue binding machine will not only guarantee neat and fast finishing but will help us produce  more than 15 photo books per day, depending on order. It will help use same energy in producing  and achieving more products</a:t>
            </a:r>
            <a:r>
              <a:rPr b="1" lang="en-US" sz="2000">
                <a:latin typeface="Arial"/>
                <a:ea typeface="Arial"/>
                <a:cs typeface="Arial"/>
                <a:sym typeface="Arial"/>
              </a:rPr>
              <a:t>. </a:t>
            </a:r>
            <a:endParaRPr/>
          </a:p>
          <a:p>
            <a:pPr indent="-406400" lvl="0" marL="457200" rtl="0" algn="l">
              <a:lnSpc>
                <a:spcPct val="90000"/>
              </a:lnSpc>
              <a:spcBef>
                <a:spcPts val="1000"/>
              </a:spcBef>
              <a:spcAft>
                <a:spcPts val="0"/>
              </a:spcAft>
              <a:buSzPts val="2400"/>
              <a:buNone/>
            </a:pPr>
            <a:r>
              <a:rPr b="1" lang="en-US">
                <a:latin typeface="Arial"/>
                <a:ea typeface="Arial"/>
                <a:cs typeface="Arial"/>
                <a:sym typeface="Arial"/>
              </a:rPr>
              <a:t>Guilotine Paper cutting machine: $134 </a:t>
            </a:r>
            <a:endParaRPr/>
          </a:p>
          <a:p>
            <a:pPr indent="-406400" lvl="0" marL="457200" rtl="0" algn="l">
              <a:lnSpc>
                <a:spcPct val="90000"/>
              </a:lnSpc>
              <a:spcBef>
                <a:spcPts val="1000"/>
              </a:spcBef>
              <a:spcAft>
                <a:spcPts val="0"/>
              </a:spcAft>
              <a:buSzPts val="2400"/>
              <a:buNone/>
            </a:pPr>
            <a:r>
              <a:rPr b="1" lang="en-US" sz="2000">
                <a:latin typeface="Arial"/>
                <a:ea typeface="Arial"/>
                <a:cs typeface="Arial"/>
                <a:sym typeface="Arial"/>
              </a:rPr>
              <a:t>Having a smaller cutting machine will enable us increase production as we can cut designs and papers at our wish, customize designs in paper prints and save money on paper cutting.</a:t>
            </a:r>
            <a:endParaRPr/>
          </a:p>
          <a:p>
            <a:pPr indent="-406400" lvl="0" marL="457200" rtl="0" algn="l">
              <a:lnSpc>
                <a:spcPct val="90000"/>
              </a:lnSpc>
              <a:spcBef>
                <a:spcPts val="1000"/>
              </a:spcBef>
              <a:spcAft>
                <a:spcPts val="0"/>
              </a:spcAft>
              <a:buSzPts val="2400"/>
              <a:buNone/>
            </a:pPr>
            <a:r>
              <a:rPr b="1" lang="en-US">
                <a:latin typeface="Arial"/>
                <a:ea typeface="Arial"/>
                <a:cs typeface="Arial"/>
                <a:sym typeface="Arial"/>
              </a:rPr>
              <a:t>DI  Printer  (Optional): $334</a:t>
            </a:r>
            <a:endParaRPr/>
          </a:p>
          <a:p>
            <a:pPr indent="-406400" lvl="0" marL="457200" rtl="0" algn="l">
              <a:lnSpc>
                <a:spcPct val="90000"/>
              </a:lnSpc>
              <a:spcBef>
                <a:spcPts val="1000"/>
              </a:spcBef>
              <a:spcAft>
                <a:spcPts val="0"/>
              </a:spcAft>
              <a:buSzPts val="2400"/>
              <a:buNone/>
            </a:pPr>
            <a:r>
              <a:rPr b="1" lang="en-US" sz="1800">
                <a:latin typeface="Arial"/>
                <a:ea typeface="Arial"/>
                <a:cs typeface="Arial"/>
                <a:sym typeface="Arial"/>
              </a:rPr>
              <a:t>This will enable us increase production and provide support for the old printer.</a:t>
            </a:r>
            <a:endParaRPr b="1">
              <a:latin typeface="Arial"/>
              <a:ea typeface="Arial"/>
              <a:cs typeface="Arial"/>
              <a:sym typeface="Arial"/>
            </a:endParaRPr>
          </a:p>
          <a:p>
            <a:pPr indent="-406400" lvl="0" marL="457200" rtl="0" algn="l">
              <a:lnSpc>
                <a:spcPct val="90000"/>
              </a:lnSpc>
              <a:spcBef>
                <a:spcPts val="1000"/>
              </a:spcBef>
              <a:spcAft>
                <a:spcPts val="0"/>
              </a:spcAft>
              <a:buSzPts val="2400"/>
              <a:buNone/>
            </a:pPr>
            <a:r>
              <a:rPr b="1" lang="en-US">
                <a:latin typeface="Arial"/>
                <a:ea typeface="Arial"/>
                <a:cs typeface="Arial"/>
                <a:sym typeface="Arial"/>
              </a:rPr>
              <a:t>Synthetic, Matte Printing and Photo Materials (Optional): </a:t>
            </a:r>
            <a:endParaRPr/>
          </a:p>
          <a:p>
            <a:pPr indent="-406400" lvl="0" marL="457200" rtl="0" algn="l">
              <a:lnSpc>
                <a:spcPct val="90000"/>
              </a:lnSpc>
              <a:spcBef>
                <a:spcPts val="1000"/>
              </a:spcBef>
              <a:spcAft>
                <a:spcPts val="0"/>
              </a:spcAft>
              <a:buSzPts val="2400"/>
              <a:buNone/>
            </a:pPr>
            <a:r>
              <a:rPr b="1" lang="en-US" sz="1800">
                <a:latin typeface="Arial"/>
                <a:ea typeface="Arial"/>
                <a:cs typeface="Arial"/>
                <a:sym typeface="Arial"/>
              </a:rPr>
              <a:t>This will help boost production</a:t>
            </a:r>
            <a:r>
              <a:rPr b="1" lang="en-US">
                <a:latin typeface="Arial"/>
                <a:ea typeface="Arial"/>
                <a:cs typeface="Arial"/>
                <a:sym typeface="Arial"/>
              </a:rPr>
              <a:t>.</a:t>
            </a:r>
            <a:endParaRPr/>
          </a:p>
          <a:p>
            <a:pPr indent="-406400" lvl="0" marL="457200" rtl="0" algn="l">
              <a:lnSpc>
                <a:spcPct val="90000"/>
              </a:lnSpc>
              <a:spcBef>
                <a:spcPts val="1000"/>
              </a:spcBef>
              <a:spcAft>
                <a:spcPts val="0"/>
              </a:spcAft>
              <a:buSzPts val="2400"/>
              <a:buNone/>
            </a:pPr>
            <a:r>
              <a:rPr b="1" lang="en-US" sz="2000">
                <a:latin typeface="Arial"/>
                <a:ea typeface="Arial"/>
                <a:cs typeface="Arial"/>
                <a:sym typeface="Arial"/>
              </a:rPr>
              <a:t> </a:t>
            </a:r>
            <a:endParaRPr/>
          </a:p>
          <a:p>
            <a:pPr indent="-406400" lvl="0" marL="457200" rtl="0" algn="ctr">
              <a:lnSpc>
                <a:spcPct val="90000"/>
              </a:lnSpc>
              <a:spcBef>
                <a:spcPts val="1000"/>
              </a:spcBef>
              <a:spcAft>
                <a:spcPts val="0"/>
              </a:spcAft>
              <a:buClr>
                <a:schemeClr val="dk1"/>
              </a:buClr>
              <a:buSzPts val="2400"/>
              <a:buNone/>
            </a:pPr>
            <a:r>
              <a:t/>
            </a:r>
            <a:endParaRPr b="1" sz="2000">
              <a:latin typeface="Arial"/>
              <a:ea typeface="Arial"/>
              <a:cs typeface="Arial"/>
              <a:sym typeface="Arial"/>
            </a:endParaRPr>
          </a:p>
        </p:txBody>
      </p:sp>
      <p:pic>
        <p:nvPicPr>
          <p:cNvPr id="228" name="Google Shape;228;p28"/>
          <p:cNvPicPr preferRelativeResize="0"/>
          <p:nvPr/>
        </p:nvPicPr>
        <p:blipFill rotWithShape="1">
          <a:blip r:embed="rId3">
            <a:alphaModFix/>
          </a:blip>
          <a:srcRect b="0" l="0" r="0" t="0"/>
          <a:stretch/>
        </p:blipFill>
        <p:spPr>
          <a:xfrm>
            <a:off x="10780107" y="21755"/>
            <a:ext cx="1030982" cy="103098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9"/>
          <p:cNvSpPr txBox="1"/>
          <p:nvPr>
            <p:ph type="ctrTitle"/>
          </p:nvPr>
        </p:nvSpPr>
        <p:spPr>
          <a:xfrm>
            <a:off x="320133" y="332656"/>
            <a:ext cx="3920875" cy="334423"/>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4000"/>
              <a:buFont typeface="Play"/>
              <a:buNone/>
            </a:pPr>
            <a:r>
              <a:rPr b="1" lang="en-US" sz="2200">
                <a:latin typeface="Arial"/>
                <a:ea typeface="Arial"/>
                <a:cs typeface="Arial"/>
                <a:sym typeface="Arial"/>
              </a:rPr>
              <a:t>Conclusion</a:t>
            </a:r>
            <a:endParaRPr b="1" sz="2200">
              <a:latin typeface="Arial"/>
              <a:ea typeface="Arial"/>
              <a:cs typeface="Arial"/>
              <a:sym typeface="Arial"/>
            </a:endParaRPr>
          </a:p>
        </p:txBody>
      </p:sp>
      <p:sp>
        <p:nvSpPr>
          <p:cNvPr id="234" name="Google Shape;234;p29"/>
          <p:cNvSpPr txBox="1"/>
          <p:nvPr>
            <p:ph idx="1" type="subTitle"/>
          </p:nvPr>
        </p:nvSpPr>
        <p:spPr>
          <a:xfrm>
            <a:off x="320133" y="1196752"/>
            <a:ext cx="10873207" cy="4824536"/>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US" sz="2400">
                <a:latin typeface="Arial"/>
                <a:ea typeface="Arial"/>
                <a:cs typeface="Arial"/>
                <a:sym typeface="Arial"/>
              </a:rPr>
              <a:t>Thanks for the opportunity, With your support we believe we will continue to provide solutions to the printing problems in </a:t>
            </a:r>
            <a:r>
              <a:rPr lang="en-US">
                <a:latin typeface="Arial"/>
                <a:ea typeface="Arial"/>
                <a:cs typeface="Arial"/>
                <a:sym typeface="Arial"/>
              </a:rPr>
              <a:t>Aba, create more opportunities and change lives.</a:t>
            </a:r>
            <a:endParaRPr/>
          </a:p>
          <a:p>
            <a:pPr indent="0" lvl="0" marL="0" rtl="0" algn="l">
              <a:lnSpc>
                <a:spcPct val="90000"/>
              </a:lnSpc>
              <a:spcBef>
                <a:spcPts val="0"/>
              </a:spcBef>
              <a:spcAft>
                <a:spcPts val="0"/>
              </a:spcAft>
              <a:buClr>
                <a:schemeClr val="dk1"/>
              </a:buClr>
              <a:buSzPts val="2400"/>
              <a:buNone/>
            </a:pPr>
            <a:r>
              <a:t/>
            </a:r>
            <a:endParaRPr sz="2400">
              <a:latin typeface="Arial"/>
              <a:ea typeface="Arial"/>
              <a:cs typeface="Arial"/>
              <a:sym typeface="Arial"/>
            </a:endParaRPr>
          </a:p>
          <a:p>
            <a:pPr indent="0" lvl="0" marL="0" rtl="0" algn="l">
              <a:lnSpc>
                <a:spcPct val="90000"/>
              </a:lnSpc>
              <a:spcBef>
                <a:spcPts val="0"/>
              </a:spcBef>
              <a:spcAft>
                <a:spcPts val="0"/>
              </a:spcAft>
              <a:buClr>
                <a:schemeClr val="dk1"/>
              </a:buClr>
              <a:buSzPts val="2400"/>
              <a:buNone/>
            </a:pPr>
            <a:r>
              <a:rPr lang="en-US">
                <a:latin typeface="Arial"/>
                <a:ea typeface="Arial"/>
                <a:cs typeface="Arial"/>
                <a:sym typeface="Arial"/>
              </a:rPr>
              <a:t>In God is our Trust.</a:t>
            </a:r>
            <a:endParaRPr sz="2400">
              <a:latin typeface="Arial"/>
              <a:ea typeface="Arial"/>
              <a:cs typeface="Arial"/>
              <a:sym typeface="Arial"/>
            </a:endParaRPr>
          </a:p>
          <a:p>
            <a:pPr indent="0" lvl="0" marL="0" rtl="0" algn="ctr">
              <a:lnSpc>
                <a:spcPct val="90000"/>
              </a:lnSpc>
              <a:spcBef>
                <a:spcPts val="0"/>
              </a:spcBef>
              <a:spcAft>
                <a:spcPts val="0"/>
              </a:spcAft>
              <a:buClr>
                <a:schemeClr val="dk1"/>
              </a:buClr>
              <a:buSzPts val="2400"/>
              <a:buNone/>
            </a:pPr>
            <a:r>
              <a:t/>
            </a:r>
            <a:endParaRPr>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0"/>
          <p:cNvSpPr txBox="1"/>
          <p:nvPr>
            <p:ph idx="1" type="subTitle"/>
          </p:nvPr>
        </p:nvSpPr>
        <p:spPr>
          <a:xfrm>
            <a:off x="1127448" y="381513"/>
            <a:ext cx="9937104" cy="560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400"/>
              <a:buNone/>
            </a:pPr>
            <a:r>
              <a:rPr b="1" lang="en-US" sz="2000">
                <a:latin typeface="Arial"/>
                <a:ea typeface="Arial"/>
                <a:cs typeface="Arial"/>
                <a:sym typeface="Arial"/>
              </a:rPr>
              <a:t>Please add pictures of your business, product, work space, employees, etc. here.</a:t>
            </a:r>
            <a:endParaRPr/>
          </a:p>
        </p:txBody>
      </p:sp>
      <p:pic>
        <p:nvPicPr>
          <p:cNvPr id="240" name="Google Shape;240;p30"/>
          <p:cNvPicPr preferRelativeResize="0"/>
          <p:nvPr/>
        </p:nvPicPr>
        <p:blipFill rotWithShape="1">
          <a:blip r:embed="rId3">
            <a:alphaModFix/>
          </a:blip>
          <a:srcRect b="0" l="0" r="0" t="0"/>
          <a:stretch/>
        </p:blipFill>
        <p:spPr>
          <a:xfrm>
            <a:off x="6128017" y="1035135"/>
            <a:ext cx="1842522" cy="4094493"/>
          </a:xfrm>
          <a:prstGeom prst="rect">
            <a:avLst/>
          </a:prstGeom>
          <a:noFill/>
          <a:ln>
            <a:noFill/>
          </a:ln>
        </p:spPr>
      </p:pic>
      <p:pic>
        <p:nvPicPr>
          <p:cNvPr id="241" name="Google Shape;241;p30"/>
          <p:cNvPicPr preferRelativeResize="0"/>
          <p:nvPr/>
        </p:nvPicPr>
        <p:blipFill rotWithShape="1">
          <a:blip r:embed="rId4">
            <a:alphaModFix/>
          </a:blip>
          <a:srcRect b="0" l="0" r="0" t="0"/>
          <a:stretch/>
        </p:blipFill>
        <p:spPr>
          <a:xfrm>
            <a:off x="3199891" y="916771"/>
            <a:ext cx="1842522" cy="4094493"/>
          </a:xfrm>
          <a:prstGeom prst="rect">
            <a:avLst/>
          </a:prstGeom>
          <a:noFill/>
          <a:ln>
            <a:noFill/>
          </a:ln>
        </p:spPr>
      </p:pic>
      <p:pic>
        <p:nvPicPr>
          <p:cNvPr id="242" name="Google Shape;242;p30"/>
          <p:cNvPicPr preferRelativeResize="0"/>
          <p:nvPr/>
        </p:nvPicPr>
        <p:blipFill rotWithShape="1">
          <a:blip r:embed="rId5">
            <a:alphaModFix/>
          </a:blip>
          <a:srcRect b="0" l="0" r="0" t="0"/>
          <a:stretch/>
        </p:blipFill>
        <p:spPr>
          <a:xfrm>
            <a:off x="305425" y="942351"/>
            <a:ext cx="1808862" cy="3782793"/>
          </a:xfrm>
          <a:prstGeom prst="rect">
            <a:avLst/>
          </a:prstGeom>
          <a:noFill/>
          <a:ln>
            <a:noFill/>
          </a:ln>
        </p:spPr>
      </p:pic>
      <p:pic>
        <p:nvPicPr>
          <p:cNvPr id="243" name="Google Shape;243;p30"/>
          <p:cNvPicPr preferRelativeResize="0"/>
          <p:nvPr/>
        </p:nvPicPr>
        <p:blipFill rotWithShape="1">
          <a:blip r:embed="rId6">
            <a:alphaModFix/>
          </a:blip>
          <a:srcRect b="0" l="0" r="0" t="0"/>
          <a:stretch/>
        </p:blipFill>
        <p:spPr>
          <a:xfrm>
            <a:off x="8616280" y="974729"/>
            <a:ext cx="2722543" cy="409449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pic>
        <p:nvPicPr>
          <p:cNvPr id="248" name="Google Shape;248;p31"/>
          <p:cNvPicPr preferRelativeResize="0"/>
          <p:nvPr/>
        </p:nvPicPr>
        <p:blipFill rotWithShape="1">
          <a:blip r:embed="rId3">
            <a:alphaModFix/>
          </a:blip>
          <a:srcRect b="0" l="0" r="0" t="0"/>
          <a:stretch/>
        </p:blipFill>
        <p:spPr>
          <a:xfrm>
            <a:off x="4337859" y="0"/>
            <a:ext cx="3147814" cy="4197085"/>
          </a:xfrm>
          <a:prstGeom prst="rect">
            <a:avLst/>
          </a:prstGeom>
          <a:noFill/>
          <a:ln>
            <a:noFill/>
          </a:ln>
        </p:spPr>
      </p:pic>
      <p:pic>
        <p:nvPicPr>
          <p:cNvPr id="249" name="Google Shape;249;p31"/>
          <p:cNvPicPr preferRelativeResize="0"/>
          <p:nvPr/>
        </p:nvPicPr>
        <p:blipFill rotWithShape="1">
          <a:blip r:embed="rId4">
            <a:alphaModFix/>
          </a:blip>
          <a:srcRect b="0" l="0" r="0" t="0"/>
          <a:stretch/>
        </p:blipFill>
        <p:spPr>
          <a:xfrm>
            <a:off x="14739" y="-12576"/>
            <a:ext cx="4170189" cy="5560252"/>
          </a:xfrm>
          <a:prstGeom prst="rect">
            <a:avLst/>
          </a:prstGeom>
          <a:noFill/>
          <a:ln>
            <a:noFill/>
          </a:ln>
        </p:spPr>
      </p:pic>
      <p:pic>
        <p:nvPicPr>
          <p:cNvPr id="250" name="Google Shape;250;p31"/>
          <p:cNvPicPr preferRelativeResize="0"/>
          <p:nvPr/>
        </p:nvPicPr>
        <p:blipFill rotWithShape="1">
          <a:blip r:embed="rId5">
            <a:alphaModFix/>
          </a:blip>
          <a:srcRect b="0" l="0" r="0" t="0"/>
          <a:stretch/>
        </p:blipFill>
        <p:spPr>
          <a:xfrm rot="5400000">
            <a:off x="6943572" y="703381"/>
            <a:ext cx="5560252" cy="4170189"/>
          </a:xfrm>
          <a:prstGeom prst="rect">
            <a:avLst/>
          </a:prstGeom>
          <a:noFill/>
          <a:ln>
            <a:noFill/>
          </a:ln>
        </p:spPr>
      </p:pic>
      <p:pic>
        <p:nvPicPr>
          <p:cNvPr id="251" name="Google Shape;251;p31"/>
          <p:cNvPicPr preferRelativeResize="0"/>
          <p:nvPr/>
        </p:nvPicPr>
        <p:blipFill rotWithShape="1">
          <a:blip r:embed="rId6">
            <a:alphaModFix/>
          </a:blip>
          <a:srcRect b="0" l="0" r="0" t="0"/>
          <a:stretch/>
        </p:blipFill>
        <p:spPr>
          <a:xfrm>
            <a:off x="1703512" y="2674474"/>
            <a:ext cx="3302625" cy="419708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5" name="Shape 255"/>
        <p:cNvGrpSpPr/>
        <p:nvPr/>
      </p:nvGrpSpPr>
      <p:grpSpPr>
        <a:xfrm>
          <a:off x="0" y="0"/>
          <a:ext cx="0" cy="0"/>
          <a:chOff x="0" y="0"/>
          <a:chExt cx="0" cy="0"/>
        </a:xfrm>
      </p:grpSpPr>
      <p:sp>
        <p:nvSpPr>
          <p:cNvPr id="256" name="Google Shape;256;p32"/>
          <p:cNvSpPr txBox="1"/>
          <p:nvPr>
            <p:ph idx="1" type="subTitle"/>
          </p:nvPr>
        </p:nvSpPr>
        <p:spPr>
          <a:xfrm>
            <a:off x="263352" y="187108"/>
            <a:ext cx="3168352" cy="36004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400"/>
              <a:buNone/>
            </a:pPr>
            <a:r>
              <a:rPr b="1" lang="en-US" sz="2000">
                <a:latin typeface="Arial"/>
                <a:ea typeface="Arial"/>
                <a:cs typeface="Arial"/>
                <a:sym typeface="Arial"/>
              </a:rPr>
              <a:t>Business Registration</a:t>
            </a:r>
            <a:endParaRPr/>
          </a:p>
        </p:txBody>
      </p:sp>
      <p:pic>
        <p:nvPicPr>
          <p:cNvPr id="257" name="Google Shape;257;p32"/>
          <p:cNvPicPr preferRelativeResize="0"/>
          <p:nvPr/>
        </p:nvPicPr>
        <p:blipFill rotWithShape="1">
          <a:blip r:embed="rId3">
            <a:alphaModFix/>
          </a:blip>
          <a:srcRect b="2750" l="2401" r="0" t="2728"/>
          <a:stretch/>
        </p:blipFill>
        <p:spPr>
          <a:xfrm>
            <a:off x="3647728" y="187108"/>
            <a:ext cx="5020022" cy="6482252"/>
          </a:xfrm>
          <a:prstGeom prst="rect">
            <a:avLst/>
          </a:prstGeom>
          <a:noFill/>
          <a:ln cap="flat" cmpd="sng" w="28575">
            <a:solidFill>
              <a:srgbClr val="43D658"/>
            </a:solidFill>
            <a:prstDash val="solid"/>
            <a:round/>
            <a:headEnd len="sm" w="sm" type="none"/>
            <a:tailEnd len="sm" w="sm" type="none"/>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3"/>
          <p:cNvSpPr txBox="1"/>
          <p:nvPr>
            <p:ph idx="1" type="subTitle"/>
          </p:nvPr>
        </p:nvSpPr>
        <p:spPr>
          <a:xfrm>
            <a:off x="212775" y="367127"/>
            <a:ext cx="3146921" cy="397577"/>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400"/>
              <a:buNone/>
            </a:pPr>
            <a:r>
              <a:rPr b="1" lang="en-US" sz="2000">
                <a:latin typeface="Arial"/>
                <a:ea typeface="Arial"/>
                <a:cs typeface="Arial"/>
                <a:sym typeface="Arial"/>
              </a:rPr>
              <a:t>Bank Account Reference letter </a:t>
            </a:r>
            <a:endParaRPr/>
          </a:p>
        </p:txBody>
      </p:sp>
      <p:pic>
        <p:nvPicPr>
          <p:cNvPr id="263" name="Google Shape;263;p33"/>
          <p:cNvPicPr preferRelativeResize="0"/>
          <p:nvPr/>
        </p:nvPicPr>
        <p:blipFill rotWithShape="1">
          <a:blip r:embed="rId3">
            <a:alphaModFix/>
          </a:blip>
          <a:srcRect b="17450" l="0" r="0" t="16401"/>
          <a:stretch/>
        </p:blipFill>
        <p:spPr>
          <a:xfrm>
            <a:off x="3359696" y="67497"/>
            <a:ext cx="5544616" cy="6774419"/>
          </a:xfrm>
          <a:prstGeom prst="rect">
            <a:avLst/>
          </a:prstGeom>
          <a:noFill/>
          <a:ln cap="flat" cmpd="sng" w="28575">
            <a:solidFill>
              <a:srgbClr val="43D658"/>
            </a:solidFill>
            <a:prstDash val="solid"/>
            <a:round/>
            <a:headEnd len="sm" w="sm" type="none"/>
            <a:tailEnd len="sm" w="sm" type="none"/>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
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60433B-1F9A-4015-8D70-B1717B2AE049}">
  <a:tblStyle styleId="{BD60433B-1F9A-4015-8D70-B1717B2AE0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Play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4056cd79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2d64056cd79_2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f4bee03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f4bee03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f4bee03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f4bee03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f4bee03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f4bee03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f4bee03d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f4bee03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f4bee03d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f4bee03d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f4bee03d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f4bee03d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f4bee03d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f4bee03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f4bee03d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f4bee03d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0444d370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0444d370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f4bee03d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f4bee03d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f4bee03d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f4bee03d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company </a:t>
            </a:r>
            <a:r>
              <a:rPr lang="en"/>
              <a:t>registration and Trademark</a:t>
            </a:r>
            <a:r>
              <a:rPr lang="en"/>
              <a:t> certificate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f4bee03d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f4bee03d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1.jpg"/><Relationship Id="rId5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6.jpg"/><Relationship Id="rId5" Type="http://schemas.openxmlformats.org/officeDocument/2006/relationships/image" Target="../media/image15.jpg"/><Relationship Id="rId6" Type="http://schemas.openxmlformats.org/officeDocument/2006/relationships/image" Target="../media/image9.jpg"/><Relationship Id="rId7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ctrTitle"/>
          </p:nvPr>
        </p:nvSpPr>
        <p:spPr>
          <a:xfrm>
            <a:off x="1143000" y="1115447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BYU Management Society</a:t>
            </a:r>
            <a:br>
              <a:rPr lang="en" sz="3000">
                <a:latin typeface="Arial"/>
                <a:ea typeface="Arial"/>
                <a:cs typeface="Arial"/>
                <a:sym typeface="Arial"/>
              </a:rPr>
            </a:br>
            <a:r>
              <a:rPr lang="en" sz="3000">
                <a:latin typeface="Arial"/>
                <a:ea typeface="Arial"/>
                <a:cs typeface="Arial"/>
                <a:sym typeface="Arial"/>
              </a:rPr>
              <a:t>Africa Business Plan Competition</a:t>
            </a:r>
            <a:br>
              <a:rPr lang="en" sz="3000">
                <a:latin typeface="Arial"/>
                <a:ea typeface="Arial"/>
                <a:cs typeface="Arial"/>
                <a:sym typeface="Arial"/>
              </a:rPr>
            </a:br>
            <a:r>
              <a:rPr lang="en" sz="3000">
                <a:latin typeface="Arial"/>
                <a:ea typeface="Arial"/>
                <a:cs typeface="Arial"/>
                <a:sym typeface="Arial"/>
              </a:rPr>
              <a:t>2026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3"/>
          <p:cNvSpPr txBox="1"/>
          <p:nvPr>
            <p:ph idx="1" type="subTitle"/>
          </p:nvPr>
        </p:nvSpPr>
        <p:spPr>
          <a:xfrm>
            <a:off x="1536299" y="2737075"/>
            <a:ext cx="60714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818"/>
              <a:buNone/>
            </a:pPr>
            <a:r>
              <a:t/>
            </a:r>
            <a:endParaRPr sz="22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70C0"/>
              </a:buClr>
              <a:buSzPct val="87096"/>
              <a:buNone/>
            </a:pPr>
            <a:r>
              <a:rPr b="1" lang="en" sz="3100">
                <a:solidFill>
                  <a:srgbClr val="C00000"/>
                </a:solidFill>
              </a:rPr>
              <a:t>MULLA GLOBAL SYSTEMS LIMITED</a:t>
            </a:r>
            <a:endParaRPr b="1" sz="3100">
              <a:solidFill>
                <a:srgbClr val="C00000"/>
              </a:solidFill>
            </a:endParaRPr>
          </a:p>
        </p:txBody>
      </p:sp>
      <p:grpSp>
        <p:nvGrpSpPr>
          <p:cNvPr id="115" name="Google Shape;115;p23"/>
          <p:cNvGrpSpPr/>
          <p:nvPr/>
        </p:nvGrpSpPr>
        <p:grpSpPr>
          <a:xfrm>
            <a:off x="4503127" y="4393154"/>
            <a:ext cx="4467957" cy="577500"/>
            <a:chOff x="6004170" y="5847770"/>
            <a:chExt cx="5957276" cy="770000"/>
          </a:xfrm>
        </p:grpSpPr>
        <p:pic>
          <p:nvPicPr>
            <p:cNvPr descr="Shape&#10;&#10;Description automatically generated" id="116" name="Google Shape;116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4170" y="5847770"/>
              <a:ext cx="5957276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56399" y="6114936"/>
              <a:ext cx="4931507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832875" y="1334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Problem / Customer Pain Point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Over 85 million Nigerians live without reliable electricity, and small businesses lose millions of Naira yearly to power outages and fuel costs.</a:t>
            </a:r>
            <a:br>
              <a:rPr lang="en" sz="1200"/>
            </a:br>
            <a:br>
              <a:rPr lang="en" sz="1200"/>
            </a:br>
            <a:r>
              <a:rPr lang="en" sz="1200"/>
              <a:t>This unreliable power limits productivity, education, and healthcare, especially in developing communities.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Our Target Pain Points: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Frequent blackouts halting business operations.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High cost of generators and fuel.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Lack of affordable, sustainable power options, and flexible payment options for solar solutions.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High cost of electricity tariffs; this means the masses have to live with power outages or spending more on fuel/diesel which is not pocket friendly.</a:t>
            </a:r>
            <a:endParaRPr sz="1200"/>
          </a:p>
          <a:p>
            <a:pPr indent="0" lvl="0" marL="9271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Business Venture / Product &amp; Services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628650" y="1547200"/>
            <a:ext cx="7886700" cy="347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Solar by Mulla Inc.</a:t>
            </a:r>
            <a:r>
              <a:rPr lang="en" sz="1200"/>
              <a:t> is a reliable energy company on a mission to make solar power accessible, affordable, and transformative for Nigerian homes and small businesses.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We offer: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Solar installations and </a:t>
            </a:r>
            <a:r>
              <a:rPr lang="en" sz="1200"/>
              <a:t>maintenance</a:t>
            </a:r>
            <a:r>
              <a:rPr lang="en" sz="1200"/>
              <a:t> for homes, shops, mini estates, business companies, and churches.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How We Solve It: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Our strength lies in our direct experience and our affordability strategy.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We design solutions that last long, perform well, and remain affordable by sourcing verified high-quality solar equipment</a:t>
            </a:r>
            <a:r>
              <a:rPr lang="en" sz="1200"/>
              <a:t> from the U.S. and Canada. </a:t>
            </a:r>
            <a:r>
              <a:rPr lang="en" sz="1200"/>
              <a:t>This allows us to deliver premium energy systems at a price people can actually afford.</a:t>
            </a:r>
            <a:endParaRPr sz="12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/>
              <a:t>Flexible payment: buy now, pay later plan.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baseline="30000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200"/>
            </a:br>
            <a:r>
              <a:rPr lang="en" sz="1200"/>
              <a:t> 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 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Market Size &amp; Growth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542205" y="1369225"/>
            <a:ext cx="7886700" cy="357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Nigeria’s solar energy market is projected to exceed $2 billion by 2027, fueled by rising fuel costs, unreliable grid infrastructure, and national clean energy initiatives. Market value: Over ₦500 Million annually within the </a:t>
            </a:r>
            <a:r>
              <a:rPr lang="en" sz="1200"/>
              <a:t>Lagos and Abuja </a:t>
            </a:r>
            <a:r>
              <a:rPr lang="en" sz="1200"/>
              <a:t>regions. </a:t>
            </a:r>
            <a:r>
              <a:rPr lang="en" sz="1200"/>
              <a:t>(Source: REA, Nigeria Energy Transition Plan). </a:t>
            </a:r>
            <a:br>
              <a:rPr lang="en" sz="1200"/>
            </a:br>
            <a:br>
              <a:rPr lang="en" sz="1200"/>
            </a:br>
            <a:r>
              <a:rPr b="1" lang="en" sz="1200"/>
              <a:t>Target Market: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Urban and </a:t>
            </a:r>
            <a:r>
              <a:rPr lang="en" sz="1200"/>
              <a:t>Rural</a:t>
            </a:r>
            <a:r>
              <a:rPr lang="en" sz="1200"/>
              <a:t> SMEs and Small Companies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Residential Homes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Churches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Competitors</a:t>
            </a:r>
            <a:r>
              <a:rPr lang="en" sz="1200"/>
              <a:t>:</a:t>
            </a:r>
            <a:endParaRPr sz="12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200"/>
              <a:t>Luminous Inverter, </a:t>
            </a:r>
            <a:r>
              <a:rPr lang="en" sz="1200"/>
              <a:t>Arnergy, and Rubitec Solar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MULLA’s Advantage:</a:t>
            </a:r>
            <a:r>
              <a:rPr lang="en" sz="1200"/>
              <a:t> The aforementioned are established players with solid tech but limited in: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●"/>
            </a:pPr>
            <a:r>
              <a:rPr lang="en" sz="1200"/>
              <a:t>Affordability for low-income users. Flexible payment options. Rural, lower and middle class focus.</a:t>
            </a:r>
            <a:br>
              <a:rPr lang="en" sz="1200"/>
            </a:b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899975" y="273850"/>
            <a:ext cx="59625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Marketing &amp; Sales Strategy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680250" y="2756500"/>
            <a:ext cx="8049900" cy="225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Channels: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Direct marketing and </a:t>
            </a:r>
            <a:r>
              <a:rPr lang="en" sz="1200"/>
              <a:t>Referrals.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Social media campaigns.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Partnerships with estate developers.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Government Partnership(vendors)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Sales Plan: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Target 27 installations in 6 months.(as Shown in the image)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Offer free consultations to attract new clients.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Incentivize referrals with discounts.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75" y="1135075"/>
            <a:ext cx="8389976" cy="15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448625" y="273850"/>
            <a:ext cx="84012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Financials (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Six-month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Forecast Summary)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28"/>
          <p:cNvGraphicFramePr/>
          <p:nvPr/>
        </p:nvGraphicFramePr>
        <p:xfrm>
          <a:off x="392950" y="1268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{BD60433B-1F9A-4015-8D70-B1717B2AE049}</a:tableStyleId>
              </a:tblPr>
              <a:tblGrid>
                <a:gridCol w="2495425"/>
                <a:gridCol w="2495425"/>
                <a:gridCol w="24954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Period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Revenue (₦)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Gross</a:t>
                      </a:r>
                      <a:r>
                        <a:rPr lang="en"/>
                        <a:t> Profit (₦)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1-6 Months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₦193,400</a:t>
                      </a:r>
                      <a:r>
                        <a:rPr lang="en" sz="1200"/>
                        <a:t>,000($174,000)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₦67,690,000($47,000)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38" y="4782601"/>
            <a:ext cx="8355126" cy="30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Management Team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596550" y="1530865"/>
            <a:ext cx="7950900" cy="794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Adebiyi Ademola Ayomide — Lead Engineer &amp; Founder</a:t>
            </a:r>
            <a:br>
              <a:rPr b="1" lang="en" sz="1400"/>
            </a:br>
            <a:r>
              <a:rPr lang="en" sz="1400"/>
              <a:t>Visionary founder of </a:t>
            </a:r>
            <a:r>
              <a:rPr i="1" lang="en" sz="1400"/>
              <a:t>Mulla Inc.</a:t>
            </a:r>
            <a:r>
              <a:rPr lang="en" sz="1400"/>
              <a:t>, with years of experience in solar installations, </a:t>
            </a:r>
            <a:br>
              <a:rPr lang="en" sz="1400"/>
            </a:br>
            <a:r>
              <a:rPr lang="en" sz="1400"/>
              <a:t>system design, and project execution. Passionate about sustainable energy </a:t>
            </a:r>
            <a:br>
              <a:rPr lang="en" sz="1400"/>
            </a:br>
            <a:r>
              <a:rPr lang="en" sz="1400"/>
              <a:t>and community impact!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Ulokameje Chiamaka Favour — Marketing &amp; Customer Relations Lead</a:t>
            </a:r>
            <a:br>
              <a:rPr b="1" lang="en" sz="1400"/>
            </a:br>
            <a:r>
              <a:rPr lang="en" sz="1400"/>
              <a:t>Oversees marketing strategy, client communications, and customer </a:t>
            </a:r>
            <a:br>
              <a:rPr lang="en" sz="1400"/>
            </a:br>
            <a:r>
              <a:rPr lang="en" sz="1400"/>
              <a:t>satisfaction. Dedicated to building trust and long term relationships with </a:t>
            </a:r>
            <a:br>
              <a:rPr lang="en" sz="1400"/>
            </a:br>
            <a:r>
              <a:rPr lang="en" sz="1400"/>
              <a:t>clients and partners!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Tochukwu Simon Edena — Technician &amp; Apprentice</a:t>
            </a:r>
            <a:br>
              <a:rPr b="1" lang="en" sz="1400"/>
            </a:br>
            <a:r>
              <a:rPr lang="en" sz="1400"/>
              <a:t> Responsible for technical support, field installations, and maintenance </a:t>
            </a:r>
            <a:br>
              <a:rPr lang="en" sz="1400"/>
            </a:br>
            <a:r>
              <a:rPr lang="en" sz="1400"/>
              <a:t>services. Currently undergoing professional training under Mulla Inc. to </a:t>
            </a:r>
            <a:br>
              <a:rPr lang="en" sz="1400"/>
            </a:br>
            <a:r>
              <a:rPr lang="en" sz="1400"/>
              <a:t>become a certified solar engineer.</a:t>
            </a:r>
            <a:endParaRPr b="1" sz="1400"/>
          </a:p>
        </p:txBody>
      </p:sp>
      <p:pic>
        <p:nvPicPr>
          <p:cNvPr id="156" name="Google Shape;156;p29"/>
          <p:cNvPicPr preferRelativeResize="0"/>
          <p:nvPr/>
        </p:nvPicPr>
        <p:blipFill rotWithShape="1">
          <a:blip r:embed="rId3">
            <a:alphaModFix/>
          </a:blip>
          <a:srcRect b="-4629" l="0" r="0" t="4630"/>
          <a:stretch/>
        </p:blipFill>
        <p:spPr>
          <a:xfrm>
            <a:off x="6838100" y="643945"/>
            <a:ext cx="1228975" cy="1638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8225" y="2282600"/>
            <a:ext cx="1298850" cy="132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5675" y="3688525"/>
            <a:ext cx="1035326" cy="13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628650" y="24831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 Community Impact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Mulla Inc.™ empowers communities through: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Free training workshops for young technicians.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Free solar/inverter </a:t>
            </a:r>
            <a:r>
              <a:rPr lang="en" sz="1400"/>
              <a:t>maintenance</a:t>
            </a:r>
            <a:r>
              <a:rPr lang="en" sz="1400"/>
              <a:t> to businesses owned by aged seniors and health centers.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Promoting Employment in our </a:t>
            </a:r>
            <a:r>
              <a:rPr lang="en" sz="1400"/>
              <a:t>society.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 of Prize Money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56500" y="1073875"/>
            <a:ext cx="4213800" cy="700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1st Place – $4,000 (₦6,000,000)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Secure office space and Set up               ₦3,000,000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Procure new 2kVA solar system for the office ₦1,500,000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Print and distribute branded marketing materials ₦500,000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Website and digital marketing setup          ₦500,000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Employment</a:t>
            </a:r>
            <a:r>
              <a:rPr lang="en" sz="1150"/>
              <a:t> of 1 </a:t>
            </a:r>
            <a:r>
              <a:rPr lang="en" sz="1150"/>
              <a:t>Engineer</a:t>
            </a:r>
            <a:r>
              <a:rPr lang="en" sz="1150"/>
              <a:t> and 1 additional Marketer                                                     ₦500,000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3rd Place – $2,000 (₦3,000,000)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Secure office space and Set up               ₦1,500,000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Procure new 1kVA solar system for the office ₦600,000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Print and distribute branded marketing materials ₦400,000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Website and digital marketing setup      ₦500,000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71" name="Google Shape;171;p31"/>
          <p:cNvSpPr txBox="1"/>
          <p:nvPr>
            <p:ph idx="2" type="body"/>
          </p:nvPr>
        </p:nvSpPr>
        <p:spPr>
          <a:xfrm>
            <a:off x="4570300" y="1073875"/>
            <a:ext cx="4048800" cy="603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30"/>
              <a:t>2nd Place – $3,000 (₦4,500,000)</a:t>
            </a:r>
            <a:endParaRPr b="1" sz="1230"/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Secure office space and Set up          ₦2,500,000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Procure new 1.5kVA solar system for the office ₦1,000,000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Print and distribute branded marketing materials ₦500,000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Website and digital marketing setup      ₦500,000</a:t>
            </a:r>
            <a:endParaRPr sz="11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4th Place – $1,500 (₦2,225,000)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Secure office space and Set up               ₦1,500,000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Print and distribute branded marketing materials ₦300,000</a:t>
            </a:r>
            <a:endParaRPr sz="1150"/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50"/>
              <a:buChar char="•"/>
            </a:pPr>
            <a:r>
              <a:rPr lang="en" sz="1150"/>
              <a:t>Website and digital marketing setup      ₦400,000</a:t>
            </a:r>
            <a:br>
              <a:rPr lang="en" sz="1150"/>
            </a:br>
            <a:endParaRPr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628650" y="273848"/>
            <a:ext cx="7886700" cy="680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Photos of your business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-158150" y="1036325"/>
            <a:ext cx="8673600" cy="42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 rotWithShape="1">
          <a:blip r:embed="rId3">
            <a:alphaModFix/>
          </a:blip>
          <a:srcRect b="0" l="33305" r="1645" t="20407"/>
          <a:stretch/>
        </p:blipFill>
        <p:spPr>
          <a:xfrm>
            <a:off x="-158150" y="1036325"/>
            <a:ext cx="2784150" cy="454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0450" y="1083850"/>
            <a:ext cx="5512074" cy="421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2575" y="273850"/>
            <a:ext cx="3266826" cy="245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2575" y="2798350"/>
            <a:ext cx="1657924" cy="239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3993" y="2931788"/>
            <a:ext cx="1597850" cy="213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Closing Vision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I started </a:t>
            </a:r>
            <a:r>
              <a:rPr b="1" lang="en" sz="1400"/>
              <a:t>Solar by Mulla Inc.</a:t>
            </a:r>
            <a:r>
              <a:rPr lang="en" sz="1400"/>
              <a:t> after leaving my previous boss in April 2025, following several years of hands on experience managing installations, clients, and field operations. During that time, I gained deep technical expertise, built relationships with my own personal clients, and learned how to deliver with excellence and integrity.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Those experiences shaped my confidence and purpose. When I received the competition email, it felt like divine confirmation for a chance to turn that conviction into a lasting legacy of light, trust, and impact through </a:t>
            </a:r>
            <a:r>
              <a:rPr b="1" lang="en" sz="1400"/>
              <a:t>Mulla Inc.</a:t>
            </a:r>
            <a:endParaRPr b="1" sz="14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Solar by Mulla Inc.™</a:t>
            </a:r>
            <a:br>
              <a:rPr b="1" lang="en" sz="1400"/>
            </a:br>
            <a:r>
              <a:rPr lang="en" sz="1400"/>
              <a:t> </a:t>
            </a:r>
            <a:r>
              <a:rPr i="1" lang="en" sz="1400"/>
              <a:t>Powering Progress, Lighting Possibilities.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628650" y="-143181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Business Registration/Licenses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25" y="573050"/>
            <a:ext cx="4078175" cy="433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6600" y="851025"/>
            <a:ext cx="4393626" cy="40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Please add a copy of your business bank account here. Please black out any account numbers, amounts, and other sensitive information.</a:t>
            </a:r>
            <a:endParaRPr sz="1800"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5"/>
          <p:cNvPicPr preferRelativeResize="0"/>
          <p:nvPr/>
        </p:nvPicPr>
        <p:blipFill rotWithShape="1">
          <a:blip r:embed="rId3">
            <a:alphaModFix/>
          </a:blip>
          <a:srcRect b="19974" l="12796" r="20868" t="15259"/>
          <a:stretch/>
        </p:blipFill>
        <p:spPr>
          <a:xfrm>
            <a:off x="628650" y="1369225"/>
            <a:ext cx="3797300" cy="3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
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Newsreader"/>
      <p:regular r:id="rId19"/>
      <p:bold r:id="rId20"/>
      <p:italic r:id="rId21"/>
      <p:boldItalic r:id="rId22"/>
    </p:embeddedFont>
    <p:embeddedFont>
      <p:font typeface="DM Sans Light"/>
      <p:regular r:id="rId23"/>
      <p:bold r:id="rId24"/>
      <p:italic r:id="rId25"/>
      <p:boldItalic r:id="rId26"/>
    </p:embeddedFont>
    <p:embeddedFont>
      <p:font typeface="DM Sans SemiBold"/>
      <p:regular r:id="rId27"/>
      <p:bold r:id="rId28"/>
      <p:italic r:id="rId29"/>
      <p:boldItalic r:id="rId30"/>
    </p:embeddedFont>
    <p:embeddedFont>
      <p:font typeface="DM Sans"/>
      <p:regular r:id="rId31"/>
      <p:bold r:id="rId32"/>
      <p:italic r:id="rId33"/>
      <p:boldItalic r:id="rId34"/>
    </p:embeddedFont>
    <p:embeddedFont>
      <p:font typeface="Newsreader SemiBol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3D714C-987D-40F8-A1BB-9B3E9BEDAB51}">
  <a:tblStyle styleId="{9C3D714C-987D-40F8-A1BB-9B3E9BEDAB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-regular.fntdata"/><Relationship Id="rId30" Type="http://schemas.openxmlformats.org/officeDocument/2006/relationships/font" Target="fonts/DMSansSemiBold-boldItalic.fntdata"/><Relationship Id="rId33" Type="http://schemas.openxmlformats.org/officeDocument/2006/relationships/font" Target="fonts/DMSans-italic.fntdata"/><Relationship Id="rId32" Type="http://schemas.openxmlformats.org/officeDocument/2006/relationships/font" Target="fonts/DMSans-bold.fntdata"/><Relationship Id="rId35" Type="http://schemas.openxmlformats.org/officeDocument/2006/relationships/font" Target="fonts/NewsreaderSemiBold-regular.fntdata"/><Relationship Id="rId34" Type="http://schemas.openxmlformats.org/officeDocument/2006/relationships/font" Target="fonts/DMSans-boldItalic.fntdata"/><Relationship Id="rId37" Type="http://schemas.openxmlformats.org/officeDocument/2006/relationships/font" Target="fonts/NewsreaderSemiBold-italic.fntdata"/><Relationship Id="rId36" Type="http://schemas.openxmlformats.org/officeDocument/2006/relationships/font" Target="fonts/NewsreaderSemiBold-bold.fntdata"/><Relationship Id="rId38" Type="http://schemas.openxmlformats.org/officeDocument/2006/relationships/font" Target="fonts/NewsreaderSemiBold-boldItalic.fntdata"/><Relationship Id="rId20" Type="http://schemas.openxmlformats.org/officeDocument/2006/relationships/font" Target="fonts/Newsreader-bold.fntdata"/><Relationship Id="rId22" Type="http://schemas.openxmlformats.org/officeDocument/2006/relationships/font" Target="fonts/Newsreader-boldItalic.fntdata"/><Relationship Id="rId21" Type="http://schemas.openxmlformats.org/officeDocument/2006/relationships/font" Target="fonts/Newsreader-italic.fntdata"/><Relationship Id="rId24" Type="http://schemas.openxmlformats.org/officeDocument/2006/relationships/font" Target="fonts/DMSansLight-bold.fntdata"/><Relationship Id="rId23" Type="http://schemas.openxmlformats.org/officeDocument/2006/relationships/font" Target="fonts/DMSansLight-regular.fntdata"/><Relationship Id="rId26" Type="http://schemas.openxmlformats.org/officeDocument/2006/relationships/font" Target="fonts/DMSansLight-boldItalic.fntdata"/><Relationship Id="rId25" Type="http://schemas.openxmlformats.org/officeDocument/2006/relationships/font" Target="fonts/DMSansLight-italic.fntdata"/><Relationship Id="rId28" Type="http://schemas.openxmlformats.org/officeDocument/2006/relationships/font" Target="fonts/DMSansSemiBold-bold.fntdata"/><Relationship Id="rId27" Type="http://schemas.openxmlformats.org/officeDocument/2006/relationships/font" Target="fonts/DMSansSemiBold-regular.fntdata"/><Relationship Id="rId29" Type="http://schemas.openxmlformats.org/officeDocument/2006/relationships/font" Target="fonts/DMSansSemiBold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Newsreader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8bd1f81858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8bd1f81858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8bd1f818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8bd1f818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8bd1f81858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8bd1f81858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9e4114206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9e4114206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9e41142064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9e41142064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9e41142064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9e41142064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9e41142064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9e41142064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9e41142064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9e41142064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9e41142064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9e41142064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9e41142064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9e41142064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9e41142064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9e41142064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9e41142064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9e41142064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0" name="Google Shape;40;p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6" name="Google Shape;46;p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6" name="Google Shape;66;p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43" name="Google Shape;143;p1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187" name="Google Shape;187;p1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" name="Google Shape;208;p2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14" name="Google Shape;214;p2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23" name="Google Shape;223;p24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9" name="Google Shape;229;p2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31" name="Google Shape;231;p25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2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2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2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8" name="Google Shape;278;p2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1" name="Google Shape;281;p2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" name="Google Shape;302;p3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4" name="Google Shape;304;p3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6" name="Google Shape;306;p3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8" name="Google Shape;308;p3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0" name="Google Shape;310;p3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4" name="Google Shape;314;p3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3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3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3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3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3" name="Google Shape;323;p3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3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7" name="Google Shape;327;p3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3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0" name="Google Shape;330;p3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1" name="Google Shape;331;p3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2" name="Google Shape;332;p3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9" name="Google Shape;339;p3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4" name="Google Shape;344;p3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3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48" name="Google Shape;348;p3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5" name="Google Shape;38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5" name="Google Shape;42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9" name="Google Shape;44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5"/>
          <p:cNvSpPr txBox="1"/>
          <p:nvPr>
            <p:ph type="title"/>
          </p:nvPr>
        </p:nvSpPr>
        <p:spPr>
          <a:xfrm>
            <a:off x="27475" y="923525"/>
            <a:ext cx="9045000" cy="15198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lay"/>
              <a:buNone/>
            </a:pP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BYU Management Society</a:t>
            </a:r>
            <a:b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Africa Business Plan Competition</a:t>
            </a:r>
            <a:b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sz="3000"/>
          </a:p>
        </p:txBody>
      </p:sp>
      <p:sp>
        <p:nvSpPr>
          <p:cNvPr id="469" name="Google Shape;469;p55"/>
          <p:cNvSpPr txBox="1"/>
          <p:nvPr>
            <p:ph idx="1" type="subTitle"/>
          </p:nvPr>
        </p:nvSpPr>
        <p:spPr>
          <a:xfrm>
            <a:off x="52050" y="2638950"/>
            <a:ext cx="9045000" cy="1690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70C0"/>
              </a:buClr>
              <a:buSzPts val="2700"/>
              <a:buFont typeface="Arial"/>
              <a:buNone/>
            </a:pPr>
            <a:r>
              <a:rPr b="1" lang="en" sz="31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Kalemie Mobile Health Outreach (KMHO)</a:t>
            </a:r>
            <a:endParaRPr b="1" sz="31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Bringing Basic Healthcare to Every Doorstep in Kalemie Town and Villages"</a:t>
            </a:r>
            <a:endParaRPr i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Founder &amp; Manager: </a:t>
            </a:r>
            <a:r>
              <a:rPr i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Josephine Omoy</a:t>
            </a:r>
            <a:endParaRPr i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70C0"/>
              </a:buClr>
              <a:buSzPts val="2700"/>
              <a:buFont typeface="Arial"/>
              <a:buNone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BYU–Idaho Public Health Student | Nurse &amp; Midwife </a:t>
            </a:r>
            <a:endParaRPr b="1" sz="35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70" name="Google Shape;470;p55"/>
          <p:cNvSpPr txBox="1"/>
          <p:nvPr>
            <p:ph idx="3" type="body"/>
          </p:nvPr>
        </p:nvSpPr>
        <p:spPr>
          <a:xfrm>
            <a:off x="-2528875" y="225"/>
            <a:ext cx="1614600" cy="652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71" name="Google Shape;471;p55"/>
          <p:cNvSpPr txBox="1"/>
          <p:nvPr/>
        </p:nvSpPr>
        <p:spPr>
          <a:xfrm rot="-10623396">
            <a:off x="17319" y="5044095"/>
            <a:ext cx="8827746" cy="36941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72" name="Google Shape;47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0824" y="4603511"/>
            <a:ext cx="4931506" cy="352898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55"/>
          <p:cNvSpPr/>
          <p:nvPr/>
        </p:nvSpPr>
        <p:spPr>
          <a:xfrm>
            <a:off x="0" y="4329125"/>
            <a:ext cx="9171300" cy="14286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74" name="Google Shape;474;p55"/>
          <p:cNvGrpSpPr/>
          <p:nvPr/>
        </p:nvGrpSpPr>
        <p:grpSpPr>
          <a:xfrm>
            <a:off x="4503128" y="4393154"/>
            <a:ext cx="4467957" cy="577500"/>
            <a:chOff x="6004170" y="5847770"/>
            <a:chExt cx="5957275" cy="770000"/>
          </a:xfrm>
        </p:grpSpPr>
        <p:pic>
          <p:nvPicPr>
            <p:cNvPr descr="Shape&#10;&#10;Description automatically generated" id="475" name="Google Shape;475;p5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04170" y="5847770"/>
              <a:ext cx="5957275" cy="77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6" name="Google Shape;476;p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56399" y="6114936"/>
              <a:ext cx="4931506" cy="3528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7" name="Google Shape;477;p55"/>
          <p:cNvSpPr/>
          <p:nvPr/>
        </p:nvSpPr>
        <p:spPr>
          <a:xfrm>
            <a:off x="-25" y="-71425"/>
            <a:ext cx="9171300" cy="8223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482" name="Google Shape;482;p56"/>
          <p:cNvPicPr preferRelativeResize="0"/>
          <p:nvPr/>
        </p:nvPicPr>
        <p:blipFill rotWithShape="1">
          <a:blip r:embed="rId3">
            <a:alphaModFix/>
          </a:blip>
          <a:srcRect b="79" l="21736" r="19116" t="0"/>
          <a:stretch/>
        </p:blipFill>
        <p:spPr>
          <a:xfrm>
            <a:off x="4521242" y="-8750"/>
            <a:ext cx="4504484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56"/>
          <p:cNvSpPr txBox="1"/>
          <p:nvPr>
            <p:ph type="title"/>
          </p:nvPr>
        </p:nvSpPr>
        <p:spPr>
          <a:xfrm>
            <a:off x="46950" y="4237400"/>
            <a:ext cx="8940000" cy="9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KMHO will bridge this gap by bringing car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to every home.</a:t>
            </a:r>
            <a:endParaRPr sz="3900"/>
          </a:p>
        </p:txBody>
      </p:sp>
      <p:sp>
        <p:nvSpPr>
          <p:cNvPr id="484" name="Google Shape;484;p56"/>
          <p:cNvSpPr txBox="1"/>
          <p:nvPr>
            <p:ph idx="1" type="subTitle"/>
          </p:nvPr>
        </p:nvSpPr>
        <p:spPr>
          <a:xfrm>
            <a:off x="46950" y="-92400"/>
            <a:ext cx="8940000" cy="92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Problem — Health Challenges in Kalemie</a:t>
            </a:r>
            <a:endParaRPr sz="2200">
              <a:solidFill>
                <a:srgbClr val="FF0000"/>
              </a:solidFill>
            </a:endParaRPr>
          </a:p>
        </p:txBody>
      </p:sp>
      <p:sp>
        <p:nvSpPr>
          <p:cNvPr id="485" name="Google Shape;485;p56"/>
          <p:cNvSpPr txBox="1"/>
          <p:nvPr>
            <p:ph idx="3" type="body"/>
          </p:nvPr>
        </p:nvSpPr>
        <p:spPr>
          <a:xfrm>
            <a:off x="85725" y="941087"/>
            <a:ext cx="8924400" cy="3202500"/>
          </a:xfrm>
          <a:prstGeom prst="rect">
            <a:avLst/>
          </a:prstGeom>
          <a:solidFill>
            <a:schemeClr val="dk1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Many families in Kalemie and nearby villages </a:t>
            </a: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lack access to hospitals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Long distances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poor transport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poverty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limit care access.</a:t>
            </a:r>
            <a:b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illnesses — </a:t>
            </a: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hypertension, malaria, diabetes, fever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go untreated.</a:t>
            </a:r>
            <a:b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existing community-based preventive health system.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6" name="Google Shape;486;p56"/>
          <p:cNvGrpSpPr/>
          <p:nvPr/>
        </p:nvGrpSpPr>
        <p:grpSpPr>
          <a:xfrm>
            <a:off x="4503128" y="4393154"/>
            <a:ext cx="4467957" cy="577500"/>
            <a:chOff x="6004170" y="5847770"/>
            <a:chExt cx="5957275" cy="770000"/>
          </a:xfrm>
        </p:grpSpPr>
        <p:pic>
          <p:nvPicPr>
            <p:cNvPr descr="Shape&#10;&#10;Description automatically generated" id="487" name="Google Shape;487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04170" y="5847770"/>
              <a:ext cx="5957275" cy="77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8" name="Google Shape;488;p5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756399" y="6114936"/>
              <a:ext cx="4931506" cy="3528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493" name="Google Shape;493;p57"/>
          <p:cNvPicPr preferRelativeResize="0"/>
          <p:nvPr/>
        </p:nvPicPr>
        <p:blipFill rotWithShape="1">
          <a:blip r:embed="rId3">
            <a:alphaModFix/>
          </a:blip>
          <a:srcRect b="79" l="21736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57"/>
          <p:cNvSpPr txBox="1"/>
          <p:nvPr>
            <p:ph type="title"/>
          </p:nvPr>
        </p:nvSpPr>
        <p:spPr>
          <a:xfrm>
            <a:off x="78775" y="1200950"/>
            <a:ext cx="8988000" cy="44280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we provide: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Blood pressure &amp; blood sugar checks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Malaria rapid tests (whole family)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Temperature checks &amp; basic health education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Sale of paracetamol for fever relief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Referral for serious cases                                                          </a:t>
            </a: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Affordable cost: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$2 per household visit</a:t>
            </a:r>
            <a:br>
              <a:rPr lang="en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57"/>
          <p:cNvSpPr txBox="1"/>
          <p:nvPr>
            <p:ph idx="1" type="subTitle"/>
          </p:nvPr>
        </p:nvSpPr>
        <p:spPr>
          <a:xfrm>
            <a:off x="78725" y="255525"/>
            <a:ext cx="8988000" cy="810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2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Solution — KMHO Health Visits</a:t>
            </a:r>
            <a:endParaRPr sz="2700">
              <a:solidFill>
                <a:srgbClr val="FF0000"/>
              </a:solidFill>
            </a:endParaRPr>
          </a:p>
        </p:txBody>
      </p:sp>
      <p:sp>
        <p:nvSpPr>
          <p:cNvPr id="496" name="Google Shape;496;p57"/>
          <p:cNvSpPr txBox="1"/>
          <p:nvPr>
            <p:ph idx="3" type="body"/>
          </p:nvPr>
        </p:nvSpPr>
        <p:spPr>
          <a:xfrm>
            <a:off x="0" y="4671150"/>
            <a:ext cx="9144000" cy="9579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497" name="Google Shape;497;p57"/>
          <p:cNvGrpSpPr/>
          <p:nvPr/>
        </p:nvGrpSpPr>
        <p:grpSpPr>
          <a:xfrm>
            <a:off x="4568828" y="4779954"/>
            <a:ext cx="4467957" cy="577500"/>
            <a:chOff x="6004170" y="5847770"/>
            <a:chExt cx="5957275" cy="770000"/>
          </a:xfrm>
        </p:grpSpPr>
        <p:pic>
          <p:nvPicPr>
            <p:cNvPr descr="Shape&#10;&#10;Description automatically generated" id="498" name="Google Shape;498;p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04170" y="5847770"/>
              <a:ext cx="5957275" cy="77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9" name="Google Shape;499;p5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756399" y="6114936"/>
              <a:ext cx="4931506" cy="3528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8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</p:spPr>
      </p:sp>
      <p:sp>
        <p:nvSpPr>
          <p:cNvPr id="505" name="Google Shape;505;p58"/>
          <p:cNvSpPr txBox="1"/>
          <p:nvPr>
            <p:ph type="title"/>
          </p:nvPr>
        </p:nvSpPr>
        <p:spPr>
          <a:xfrm>
            <a:off x="180075" y="923400"/>
            <a:ext cx="8892300" cy="2048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trained nurses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each serving </a:t>
            </a: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households/day                   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recorded on paper or a mobile app</a:t>
            </a:r>
            <a:b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Income model: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12 nurses × $10/day = </a:t>
            </a: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$120/day</a:t>
            </a:r>
            <a:b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30 days → </a:t>
            </a: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$3,600/month total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58"/>
          <p:cNvSpPr txBox="1"/>
          <p:nvPr>
            <p:ph idx="1" type="subTitle"/>
          </p:nvPr>
        </p:nvSpPr>
        <p:spPr>
          <a:xfrm>
            <a:off x="125850" y="0"/>
            <a:ext cx="8892300" cy="743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33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How It Works</a:t>
            </a:r>
            <a:endParaRPr sz="3100">
              <a:solidFill>
                <a:srgbClr val="FF0000"/>
              </a:solidFill>
            </a:endParaRPr>
          </a:p>
        </p:txBody>
      </p:sp>
      <p:sp>
        <p:nvSpPr>
          <p:cNvPr id="507" name="Google Shape;507;p58"/>
          <p:cNvSpPr txBox="1"/>
          <p:nvPr>
            <p:ph idx="3" type="body"/>
          </p:nvPr>
        </p:nvSpPr>
        <p:spPr>
          <a:xfrm>
            <a:off x="0" y="3337800"/>
            <a:ext cx="9072300" cy="1805700"/>
          </a:xfrm>
          <a:prstGeom prst="rect">
            <a:avLst/>
          </a:prstGeom>
          <a:solidFill>
            <a:srgbClr val="073763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grpSp>
        <p:nvGrpSpPr>
          <p:cNvPr id="508" name="Google Shape;508;p58"/>
          <p:cNvGrpSpPr/>
          <p:nvPr/>
        </p:nvGrpSpPr>
        <p:grpSpPr>
          <a:xfrm>
            <a:off x="3997448" y="3743491"/>
            <a:ext cx="4779522" cy="1400399"/>
            <a:chOff x="6004170" y="5847770"/>
            <a:chExt cx="5957275" cy="770000"/>
          </a:xfrm>
        </p:grpSpPr>
        <p:pic>
          <p:nvPicPr>
            <p:cNvPr descr="Shape&#10;&#10;Description automatically generated" id="509" name="Google Shape;509;p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04170" y="5847770"/>
              <a:ext cx="5957275" cy="77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0" name="Google Shape;510;p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56399" y="6114936"/>
              <a:ext cx="4931506" cy="3528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9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</p:spPr>
      </p:sp>
      <p:sp>
        <p:nvSpPr>
          <p:cNvPr id="516" name="Google Shape;516;p59"/>
          <p:cNvSpPr txBox="1"/>
          <p:nvPr>
            <p:ph type="title"/>
          </p:nvPr>
        </p:nvSpPr>
        <p:spPr>
          <a:xfrm flipH="1" rot="10800000">
            <a:off x="-2514600" y="3710653"/>
            <a:ext cx="717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59"/>
          <p:cNvSpPr txBox="1"/>
          <p:nvPr>
            <p:ph idx="1" type="subTitle"/>
          </p:nvPr>
        </p:nvSpPr>
        <p:spPr>
          <a:xfrm>
            <a:off x="46950" y="0"/>
            <a:ext cx="9144000" cy="7533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FF0000"/>
                </a:solidFill>
              </a:rPr>
              <a:t> Financial Plan &amp; Sustainability</a:t>
            </a:r>
            <a:endParaRPr sz="3300">
              <a:solidFill>
                <a:srgbClr val="FF0000"/>
              </a:solidFill>
            </a:endParaRPr>
          </a:p>
        </p:txBody>
      </p:sp>
      <p:sp>
        <p:nvSpPr>
          <p:cNvPr id="518" name="Google Shape;518;p59"/>
          <p:cNvSpPr txBox="1"/>
          <p:nvPr>
            <p:ph idx="3" type="body"/>
          </p:nvPr>
        </p:nvSpPr>
        <p:spPr>
          <a:xfrm>
            <a:off x="0" y="4347050"/>
            <a:ext cx="9258300" cy="753300"/>
          </a:xfrm>
          <a:prstGeom prst="rect">
            <a:avLst/>
          </a:prstGeom>
          <a:solidFill>
            <a:srgbClr val="073763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19" name="Google Shape;519;p59"/>
          <p:cNvGraphicFramePr/>
          <p:nvPr/>
        </p:nvGraphicFramePr>
        <p:xfrm>
          <a:off x="152400" y="753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{9C3D714C-987D-40F8-A1BB-9B3E9BEDAB51}</a:tableStyleId>
              </a:tblPr>
              <a:tblGrid>
                <a:gridCol w="2785300"/>
                <a:gridCol w="2672375"/>
                <a:gridCol w="3462825"/>
              </a:tblGrid>
              <a:tr h="479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Category</a:t>
                      </a:r>
                      <a:endParaRPr b="1" sz="1700"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Monthly Cost (USD)</a:t>
                      </a:r>
                      <a:endParaRPr b="1" sz="1700"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Description</a:t>
                      </a:r>
                      <a:endParaRPr b="1" sz="1700"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50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12 Nurses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$1,800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$150 per nurse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50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Manager (Josephine)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$300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Project management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82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Equipment &amp; Supplies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$600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BP meters, glucometers,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50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Transport &amp; Food 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$900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Nurse mobility     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463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Total</a:t>
                      </a:r>
                      <a:endParaRPr b="1" sz="1700"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/>
                        <a:t>$3,600</a:t>
                      </a:r>
                      <a:endParaRPr b="1" sz="1700"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pSp>
        <p:nvGrpSpPr>
          <p:cNvPr id="520" name="Google Shape;520;p59"/>
          <p:cNvGrpSpPr/>
          <p:nvPr/>
        </p:nvGrpSpPr>
        <p:grpSpPr>
          <a:xfrm>
            <a:off x="3950915" y="4308407"/>
            <a:ext cx="5122065" cy="834988"/>
            <a:chOff x="6004170" y="5847770"/>
            <a:chExt cx="5957275" cy="770000"/>
          </a:xfrm>
        </p:grpSpPr>
        <p:pic>
          <p:nvPicPr>
            <p:cNvPr descr="Shape&#10;&#10;Description automatically generated" id="521" name="Google Shape;521;p5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04170" y="5847770"/>
              <a:ext cx="5957275" cy="77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2" name="Google Shape;522;p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56399" y="6114936"/>
              <a:ext cx="4931506" cy="3528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0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</p:spPr>
      </p:sp>
      <p:sp>
        <p:nvSpPr>
          <p:cNvPr id="528" name="Google Shape;528;p60"/>
          <p:cNvSpPr txBox="1"/>
          <p:nvPr>
            <p:ph type="title"/>
          </p:nvPr>
        </p:nvSpPr>
        <p:spPr>
          <a:xfrm>
            <a:off x="5186375" y="757250"/>
            <a:ext cx="3800400" cy="37941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Revenue split: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50% → Nurses’ salaries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25% → Equipment &amp; management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25% → Savings for growth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60"/>
          <p:cNvSpPr txBox="1"/>
          <p:nvPr>
            <p:ph idx="1" type="subTitle"/>
          </p:nvPr>
        </p:nvSpPr>
        <p:spPr>
          <a:xfrm>
            <a:off x="-46950" y="0"/>
            <a:ext cx="9144000" cy="9144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3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Slide 6: Materials Needed to Start</a:t>
            </a:r>
            <a:endParaRPr sz="3300">
              <a:solidFill>
                <a:srgbClr val="FF0000"/>
              </a:solidFill>
            </a:endParaRPr>
          </a:p>
        </p:txBody>
      </p:sp>
      <p:sp>
        <p:nvSpPr>
          <p:cNvPr id="530" name="Google Shape;530;p60"/>
          <p:cNvSpPr txBox="1"/>
          <p:nvPr>
            <p:ph idx="3" type="body"/>
          </p:nvPr>
        </p:nvSpPr>
        <p:spPr>
          <a:xfrm>
            <a:off x="0" y="914400"/>
            <a:ext cx="5186400" cy="3694200"/>
          </a:xfrm>
          <a:prstGeom prst="rect">
            <a:avLst/>
          </a:prstGeom>
          <a:solidFill>
            <a:schemeClr val="dk1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BP monitors, 12 glucometers + strips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thermometers &amp; stethoscopes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Reporting tools (paper/app)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Paracetamol stock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 (bikes or support funds)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12 nurses ready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Need funding for materials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60"/>
          <p:cNvSpPr/>
          <p:nvPr/>
        </p:nvSpPr>
        <p:spPr>
          <a:xfrm>
            <a:off x="0" y="4551350"/>
            <a:ext cx="9159900" cy="15921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32" name="Google Shape;532;p60"/>
          <p:cNvGrpSpPr/>
          <p:nvPr/>
        </p:nvGrpSpPr>
        <p:grpSpPr>
          <a:xfrm>
            <a:off x="4037890" y="4486379"/>
            <a:ext cx="5122065" cy="1228689"/>
            <a:chOff x="6004170" y="5847770"/>
            <a:chExt cx="5957275" cy="770000"/>
          </a:xfrm>
        </p:grpSpPr>
        <p:pic>
          <p:nvPicPr>
            <p:cNvPr descr="Shape&#10;&#10;Description automatically generated" id="533" name="Google Shape;533;p6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04170" y="5847770"/>
              <a:ext cx="5957275" cy="77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4" name="Google Shape;534;p6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60089" y="5990965"/>
              <a:ext cx="5527825" cy="4768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1"/>
          <p:cNvSpPr txBox="1"/>
          <p:nvPr>
            <p:ph type="title"/>
          </p:nvPr>
        </p:nvSpPr>
        <p:spPr>
          <a:xfrm>
            <a:off x="5451475" y="885825"/>
            <a:ext cx="3492600" cy="30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61"/>
          <p:cNvSpPr txBox="1"/>
          <p:nvPr>
            <p:ph idx="1" type="subTitle"/>
          </p:nvPr>
        </p:nvSpPr>
        <p:spPr>
          <a:xfrm>
            <a:off x="71450" y="-8750"/>
            <a:ext cx="9001200" cy="8232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4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Social &amp; Economic Impact</a:t>
            </a:r>
            <a:endParaRPr sz="3800">
              <a:solidFill>
                <a:srgbClr val="FF0000"/>
              </a:solidFill>
            </a:endParaRPr>
          </a:p>
        </p:txBody>
      </p:sp>
      <p:sp>
        <p:nvSpPr>
          <p:cNvPr id="541" name="Google Shape;541;p61"/>
          <p:cNvSpPr txBox="1"/>
          <p:nvPr>
            <p:ph idx="3" type="body"/>
          </p:nvPr>
        </p:nvSpPr>
        <p:spPr>
          <a:xfrm>
            <a:off x="0" y="814450"/>
            <a:ext cx="9144000" cy="3414600"/>
          </a:xfrm>
          <a:prstGeom prst="rect">
            <a:avLst/>
          </a:prstGeom>
          <a:solidFill>
            <a:schemeClr val="dk1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Community Benefits: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Improves disease prevention and early detection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Creates 12 jobs for local nurses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Reduces hospital overcrowding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government &amp; church health goals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Healthy families mean stronger communities and fewer preventable deaths.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61"/>
          <p:cNvSpPr/>
          <p:nvPr/>
        </p:nvSpPr>
        <p:spPr>
          <a:xfrm>
            <a:off x="0" y="4300550"/>
            <a:ext cx="9215400" cy="16860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43" name="Google Shape;543;p61"/>
          <p:cNvGrpSpPr/>
          <p:nvPr/>
        </p:nvGrpSpPr>
        <p:grpSpPr>
          <a:xfrm>
            <a:off x="3950915" y="4308407"/>
            <a:ext cx="5122065" cy="834988"/>
            <a:chOff x="6004170" y="5847770"/>
            <a:chExt cx="5957275" cy="770000"/>
          </a:xfrm>
        </p:grpSpPr>
        <p:pic>
          <p:nvPicPr>
            <p:cNvPr descr="Shape&#10;&#10;Description automatically generated" id="544" name="Google Shape;544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04170" y="5847770"/>
              <a:ext cx="5957275" cy="77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5" name="Google Shape;545;p6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56399" y="6114936"/>
              <a:ext cx="4931506" cy="3528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</p:spPr>
      </p:sp>
      <p:sp>
        <p:nvSpPr>
          <p:cNvPr id="551" name="Google Shape;551;p62"/>
          <p:cNvSpPr txBox="1"/>
          <p:nvPr>
            <p:ph type="title"/>
          </p:nvPr>
        </p:nvSpPr>
        <p:spPr>
          <a:xfrm>
            <a:off x="-125" y="923525"/>
            <a:ext cx="9144000" cy="3162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Founder &amp; Manager: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i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Josephine Omoy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BYU–Idaho Public Health Student, Nurse &amp; Midwife</a:t>
            </a:r>
            <a:b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local nurses trained in community health and education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Doctor will saver volunteer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62"/>
          <p:cNvSpPr txBox="1"/>
          <p:nvPr>
            <p:ph idx="1" type="subTitle"/>
          </p:nvPr>
        </p:nvSpPr>
        <p:spPr>
          <a:xfrm>
            <a:off x="-85725" y="-8750"/>
            <a:ext cx="9229500" cy="9324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4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Management Team</a:t>
            </a:r>
            <a:endParaRPr sz="3900">
              <a:solidFill>
                <a:srgbClr val="FF0000"/>
              </a:solidFill>
            </a:endParaRPr>
          </a:p>
        </p:txBody>
      </p:sp>
      <p:sp>
        <p:nvSpPr>
          <p:cNvPr id="553" name="Google Shape;553;p62"/>
          <p:cNvSpPr txBox="1"/>
          <p:nvPr>
            <p:ph idx="3" type="body"/>
          </p:nvPr>
        </p:nvSpPr>
        <p:spPr>
          <a:xfrm>
            <a:off x="0" y="4086225"/>
            <a:ext cx="9058200" cy="1057200"/>
          </a:xfrm>
          <a:prstGeom prst="rect">
            <a:avLst/>
          </a:prstGeom>
          <a:solidFill>
            <a:srgbClr val="073763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grpSp>
        <p:nvGrpSpPr>
          <p:cNvPr id="554" name="Google Shape;554;p62"/>
          <p:cNvGrpSpPr/>
          <p:nvPr/>
        </p:nvGrpSpPr>
        <p:grpSpPr>
          <a:xfrm>
            <a:off x="3950915" y="4308407"/>
            <a:ext cx="5122065" cy="834988"/>
            <a:chOff x="6004170" y="5847770"/>
            <a:chExt cx="5957275" cy="770000"/>
          </a:xfrm>
        </p:grpSpPr>
        <p:pic>
          <p:nvPicPr>
            <p:cNvPr descr="Shape&#10;&#10;Description automatically generated" id="555" name="Google Shape;555;p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04170" y="5847770"/>
              <a:ext cx="5957275" cy="77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6" name="Google Shape;556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56399" y="6114936"/>
              <a:ext cx="4931506" cy="3528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3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</p:spPr>
      </p:sp>
      <p:sp>
        <p:nvSpPr>
          <p:cNvPr id="562" name="Google Shape;562;p63"/>
          <p:cNvSpPr txBox="1"/>
          <p:nvPr>
            <p:ph type="title"/>
          </p:nvPr>
        </p:nvSpPr>
        <p:spPr>
          <a:xfrm>
            <a:off x="50" y="950075"/>
            <a:ext cx="9072300" cy="3164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Cost (USD)                                             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Medical Equipment                                 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1,500                                      BP meters, glucometers, etc.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 Education                                    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300                                            Flyers, materials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                                                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800                                            Motorbikes/bikes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Paracetamol Stock                                 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                                            Fever relief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Uniforms &amp; Branding                              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                                            Professional identity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&amp; Registration                           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                                            Setup and certification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3,200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63"/>
          <p:cNvSpPr txBox="1"/>
          <p:nvPr>
            <p:ph idx="1" type="subTitle"/>
          </p:nvPr>
        </p:nvSpPr>
        <p:spPr>
          <a:xfrm>
            <a:off x="71450" y="0"/>
            <a:ext cx="9072300" cy="9573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 </a:t>
            </a:r>
            <a:r>
              <a:rPr lang="en" sz="4100">
                <a:solidFill>
                  <a:srgbClr val="FF0000"/>
                </a:solidFill>
              </a:rPr>
              <a:t>Use of Prize Money</a:t>
            </a:r>
            <a:endParaRPr sz="4100">
              <a:solidFill>
                <a:srgbClr val="FF0000"/>
              </a:solidFill>
            </a:endParaRPr>
          </a:p>
        </p:txBody>
      </p:sp>
      <p:sp>
        <p:nvSpPr>
          <p:cNvPr id="564" name="Google Shape;564;p63"/>
          <p:cNvSpPr txBox="1"/>
          <p:nvPr>
            <p:ph idx="3" type="body"/>
          </p:nvPr>
        </p:nvSpPr>
        <p:spPr>
          <a:xfrm>
            <a:off x="-71425" y="4186250"/>
            <a:ext cx="9215400" cy="957300"/>
          </a:xfrm>
          <a:prstGeom prst="rect">
            <a:avLst/>
          </a:prstGeom>
          <a:solidFill>
            <a:srgbClr val="073763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grpSp>
        <p:nvGrpSpPr>
          <p:cNvPr id="565" name="Google Shape;565;p63"/>
          <p:cNvGrpSpPr/>
          <p:nvPr/>
        </p:nvGrpSpPr>
        <p:grpSpPr>
          <a:xfrm>
            <a:off x="3950915" y="4308407"/>
            <a:ext cx="5122065" cy="834988"/>
            <a:chOff x="6004170" y="5847770"/>
            <a:chExt cx="5957275" cy="770000"/>
          </a:xfrm>
        </p:grpSpPr>
        <p:pic>
          <p:nvPicPr>
            <p:cNvPr descr="Shape&#10;&#10;Description automatically generated" id="566" name="Google Shape;566;p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04170" y="5847770"/>
              <a:ext cx="5957275" cy="77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7" name="Google Shape;567;p6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56399" y="6114936"/>
              <a:ext cx="4931506" cy="3528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4"/>
          <p:cNvSpPr txBox="1"/>
          <p:nvPr>
            <p:ph type="title"/>
          </p:nvPr>
        </p:nvSpPr>
        <p:spPr>
          <a:xfrm>
            <a:off x="-125" y="1000100"/>
            <a:ext cx="4872300" cy="35511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3-Year Growth Plan:                                                                          </a:t>
            </a:r>
            <a:endParaRPr b="1"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Year 1: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Launch KMHO in Kalemie town</a:t>
            </a:r>
            <a:b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Year 2: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Expand to nearby villages</a:t>
            </a:r>
            <a:b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Year 3:</a:t>
            </a:r>
            <a:r>
              <a:rPr lang="en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Develop transport &amp; digital data system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/>
          </a:p>
        </p:txBody>
      </p:sp>
      <p:sp>
        <p:nvSpPr>
          <p:cNvPr id="573" name="Google Shape;573;p64"/>
          <p:cNvSpPr txBox="1"/>
          <p:nvPr>
            <p:ph idx="1" type="subTitle"/>
          </p:nvPr>
        </p:nvSpPr>
        <p:spPr>
          <a:xfrm>
            <a:off x="-46950" y="65900"/>
            <a:ext cx="9144000" cy="10002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4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Vision for the Future</a:t>
            </a:r>
            <a:endParaRPr sz="4300">
              <a:solidFill>
                <a:srgbClr val="FF0000"/>
              </a:solidFill>
            </a:endParaRPr>
          </a:p>
        </p:txBody>
      </p:sp>
      <p:sp>
        <p:nvSpPr>
          <p:cNvPr id="574" name="Google Shape;574;p64"/>
          <p:cNvSpPr txBox="1"/>
          <p:nvPr>
            <p:ph idx="3" type="body"/>
          </p:nvPr>
        </p:nvSpPr>
        <p:spPr>
          <a:xfrm>
            <a:off x="4800600" y="1000125"/>
            <a:ext cx="4243200" cy="3551100"/>
          </a:xfrm>
          <a:prstGeom prst="rect">
            <a:avLst/>
          </a:prstGeom>
          <a:solidFill>
            <a:schemeClr val="dk1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Reach </a:t>
            </a: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2,000+ households</a:t>
            </a:r>
            <a:b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</a:t>
            </a: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30+ jobs</a:t>
            </a:r>
            <a:b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 Kalemie a </a:t>
            </a: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for community health outreach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DRC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64"/>
          <p:cNvSpPr/>
          <p:nvPr/>
        </p:nvSpPr>
        <p:spPr>
          <a:xfrm>
            <a:off x="15750" y="4551350"/>
            <a:ext cx="9144000" cy="14352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76" name="Google Shape;576;p64"/>
          <p:cNvGrpSpPr/>
          <p:nvPr/>
        </p:nvGrpSpPr>
        <p:grpSpPr>
          <a:xfrm>
            <a:off x="3950940" y="4551251"/>
            <a:ext cx="5122065" cy="592207"/>
            <a:chOff x="6004170" y="5847770"/>
            <a:chExt cx="5957275" cy="770000"/>
          </a:xfrm>
        </p:grpSpPr>
        <p:pic>
          <p:nvPicPr>
            <p:cNvPr descr="Shape&#10;&#10;Description automatically generated" id="577" name="Google Shape;577;p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04170" y="5847770"/>
              <a:ext cx="5957275" cy="77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8" name="Google Shape;578;p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56399" y="6114936"/>
              <a:ext cx="4931506" cy="3528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5"/>
          <p:cNvSpPr txBox="1"/>
          <p:nvPr>
            <p:ph type="title"/>
          </p:nvPr>
        </p:nvSpPr>
        <p:spPr>
          <a:xfrm flipH="1" rot="10800000">
            <a:off x="-1271575" y="1598375"/>
            <a:ext cx="428700" cy="10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65"/>
          <p:cNvSpPr txBox="1"/>
          <p:nvPr>
            <p:ph idx="1" type="subTitle"/>
          </p:nvPr>
        </p:nvSpPr>
        <p:spPr>
          <a:xfrm>
            <a:off x="0" y="0"/>
            <a:ext cx="9144000" cy="14145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Business Registration/Licenses</a:t>
            </a:r>
            <a:endParaRPr sz="49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65"/>
          <p:cNvSpPr txBox="1"/>
          <p:nvPr>
            <p:ph idx="3" type="body"/>
          </p:nvPr>
        </p:nvSpPr>
        <p:spPr>
          <a:xfrm>
            <a:off x="0" y="4286250"/>
            <a:ext cx="9144000" cy="928800"/>
          </a:xfrm>
          <a:prstGeom prst="rect">
            <a:avLst/>
          </a:prstGeom>
          <a:solidFill>
            <a:srgbClr val="073763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grpSp>
        <p:nvGrpSpPr>
          <p:cNvPr id="586" name="Google Shape;586;p65"/>
          <p:cNvGrpSpPr/>
          <p:nvPr/>
        </p:nvGrpSpPr>
        <p:grpSpPr>
          <a:xfrm>
            <a:off x="3950940" y="4551251"/>
            <a:ext cx="5122065" cy="592207"/>
            <a:chOff x="6004170" y="5847770"/>
            <a:chExt cx="5957275" cy="770000"/>
          </a:xfrm>
        </p:grpSpPr>
        <p:pic>
          <p:nvPicPr>
            <p:cNvPr descr="Shape&#10;&#10;Description automatically generated" id="587" name="Google Shape;587;p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04170" y="5847770"/>
              <a:ext cx="5957275" cy="77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8" name="Google Shape;588;p6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56399" y="6114936"/>
              <a:ext cx="4931506" cy="3528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9" name="Google Shape;589;p65"/>
          <p:cNvSpPr txBox="1"/>
          <p:nvPr/>
        </p:nvSpPr>
        <p:spPr>
          <a:xfrm>
            <a:off x="785825" y="1443050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90" name="Google Shape;590;p65" title="WhatsApp Image 2025-10-29 at 3.27.50 PM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85850"/>
            <a:ext cx="9258300" cy="3565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6"/>
          <p:cNvSpPr txBox="1"/>
          <p:nvPr>
            <p:ph type="title"/>
          </p:nvPr>
        </p:nvSpPr>
        <p:spPr>
          <a:xfrm>
            <a:off x="-1785925" y="923525"/>
            <a:ext cx="6288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66"/>
          <p:cNvSpPr txBox="1"/>
          <p:nvPr>
            <p:ph idx="1" type="subTitle"/>
          </p:nvPr>
        </p:nvSpPr>
        <p:spPr>
          <a:xfrm>
            <a:off x="75" y="0"/>
            <a:ext cx="9058200" cy="10662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business bank account</a:t>
            </a:r>
            <a:r>
              <a:rPr lang="en" sz="6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4600"/>
          </a:p>
        </p:txBody>
      </p:sp>
      <p:sp>
        <p:nvSpPr>
          <p:cNvPr id="597" name="Google Shape;597;p66"/>
          <p:cNvSpPr txBox="1"/>
          <p:nvPr>
            <p:ph idx="3" type="body"/>
          </p:nvPr>
        </p:nvSpPr>
        <p:spPr>
          <a:xfrm>
            <a:off x="75" y="4257675"/>
            <a:ext cx="9144000" cy="885900"/>
          </a:xfrm>
          <a:prstGeom prst="rect">
            <a:avLst/>
          </a:prstGeom>
          <a:solidFill>
            <a:srgbClr val="073763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grpSp>
        <p:nvGrpSpPr>
          <p:cNvPr id="598" name="Google Shape;598;p66"/>
          <p:cNvGrpSpPr/>
          <p:nvPr/>
        </p:nvGrpSpPr>
        <p:grpSpPr>
          <a:xfrm>
            <a:off x="3950940" y="4551251"/>
            <a:ext cx="5122065" cy="592207"/>
            <a:chOff x="6004170" y="5847770"/>
            <a:chExt cx="5957275" cy="770000"/>
          </a:xfrm>
        </p:grpSpPr>
        <p:pic>
          <p:nvPicPr>
            <p:cNvPr descr="Shape&#10;&#10;Description automatically generated" id="599" name="Google Shape;599;p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04170" y="5847770"/>
              <a:ext cx="5957275" cy="77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0" name="Google Shape;600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56399" y="6114936"/>
              <a:ext cx="4931506" cy="35289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01" name="Google Shape;601;p66" title="WhatsApp Image 2025-10-29 at 3.34.00 PM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800" y="923525"/>
            <a:ext cx="9214925" cy="3748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
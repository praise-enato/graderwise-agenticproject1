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3272611e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3272611e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3272611e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3272611e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3272611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3272611e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3272611e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3272611e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3272611e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3272611e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3272611e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3272611e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3272611e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3272611e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3272611e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3272611e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3272611e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3272611e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361d6d8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361d6d8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361d6d84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361d6d84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361d6d84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361d6d84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361d6d84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361d6d84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361d6d84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361d6d84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361d6d84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361d6d84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361d6d84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361d6d84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361d6d84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361d6d84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361d6d84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361d6d84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361d6d84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361d6d84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cs.google.com/document/d/1OYJDWfT7JOlm0UX6iJn89B-t9ly8FKQvYTzHDsZ4W88/edit?tab=t.0#heading=h.gsi5ddy0mxb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07983" y="1476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Markdown Quality Training</a:t>
            </a:r>
            <a:endParaRPr sz="3600"/>
          </a:p>
        </p:txBody>
      </p:sp>
      <p:sp>
        <p:nvSpPr>
          <p:cNvPr id="55" name="Google Shape;55;p13"/>
          <p:cNvSpPr txBox="1"/>
          <p:nvPr>
            <p:ph type="ctrTitle"/>
          </p:nvPr>
        </p:nvSpPr>
        <p:spPr>
          <a:xfrm>
            <a:off x="3924000" y="2067750"/>
            <a:ext cx="3084000" cy="50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rgbClr val="B45F06"/>
                </a:solidFill>
              </a:rPr>
              <a:t>GameNightGpt</a:t>
            </a:r>
            <a:endParaRPr b="1" sz="2400">
              <a:solidFill>
                <a:srgbClr val="B45F06"/>
              </a:solidFill>
            </a:endParaRPr>
          </a:p>
        </p:txBody>
      </p:sp>
      <p:pic>
        <p:nvPicPr>
          <p:cNvPr id="56" name="Google Shape;56;p13" title="Screenshot_2026-02-03_at_09.25.54-removebg-preview.png"/>
          <p:cNvPicPr preferRelativeResize="0"/>
          <p:nvPr/>
        </p:nvPicPr>
        <p:blipFill>
          <a:blip r:embed="rId3">
            <a:alphaModFix/>
          </a:blip>
          <a:stretch>
            <a:fillRect/>
          </a:stretch>
        </p:blipFill>
        <p:spPr>
          <a:xfrm>
            <a:off x="2535975" y="899400"/>
            <a:ext cx="2598038"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Preparation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Understanding the Game: </a:t>
            </a:r>
            <a:r>
              <a:rPr lang="en"/>
              <a:t>Before editing your game manual, it’s </a:t>
            </a:r>
            <a:r>
              <a:rPr lang="en"/>
              <a:t>paramount</a:t>
            </a:r>
            <a:r>
              <a:rPr lang="en"/>
              <a:t> you understand the scope and if possible how to play the game. To ensure terminology and gameplay descriptions are accurate.</a:t>
            </a:r>
            <a:endParaRPr/>
          </a:p>
          <a:p>
            <a:pPr indent="-342900" lvl="0" marL="914400" rtl="0" algn="l">
              <a:spcBef>
                <a:spcPts val="1200"/>
              </a:spcBef>
              <a:spcAft>
                <a:spcPts val="0"/>
              </a:spcAft>
              <a:buSzPts val="1800"/>
              <a:buChar char="●"/>
            </a:pPr>
            <a:r>
              <a:rPr lang="en"/>
              <a:t>Study the game manual</a:t>
            </a:r>
            <a:endParaRPr/>
          </a:p>
          <a:p>
            <a:pPr indent="-342900" lvl="0" marL="914400" rtl="0" algn="l">
              <a:spcBef>
                <a:spcPts val="0"/>
              </a:spcBef>
              <a:spcAft>
                <a:spcPts val="0"/>
              </a:spcAft>
              <a:buSzPts val="1800"/>
              <a:buChar char="●"/>
            </a:pPr>
            <a:r>
              <a:rPr lang="en"/>
              <a:t>Research about the game</a:t>
            </a:r>
            <a:endParaRPr/>
          </a:p>
          <a:p>
            <a:pPr indent="-342900" lvl="0" marL="914400" rtl="0" algn="l">
              <a:spcBef>
                <a:spcPts val="0"/>
              </a:spcBef>
              <a:spcAft>
                <a:spcPts val="0"/>
              </a:spcAft>
              <a:buSzPts val="1800"/>
              <a:buChar char="●"/>
            </a:pPr>
            <a:r>
              <a:rPr lang="en"/>
              <a:t>You can watch youtube videos on how to play the game.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Content Scope</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Define what is needed vs. what can be omitted</a:t>
            </a:r>
            <a:endParaRPr/>
          </a:p>
          <a:p>
            <a:pPr indent="-342900" lvl="0" marL="457200" rtl="0" algn="l">
              <a:spcBef>
                <a:spcPts val="1200"/>
              </a:spcBef>
              <a:spcAft>
                <a:spcPts val="0"/>
              </a:spcAft>
              <a:buSzPts val="1800"/>
              <a:buChar char="●"/>
            </a:pPr>
            <a:r>
              <a:rPr b="1" lang="en"/>
              <a:t>Keep</a:t>
            </a:r>
            <a:r>
              <a:rPr lang="en"/>
              <a:t>: Every detail that teaches how to set up, play, and score the game.</a:t>
            </a:r>
            <a:endParaRPr/>
          </a:p>
          <a:p>
            <a:pPr indent="-342900" lvl="0" marL="457200" rtl="0" algn="l">
              <a:spcBef>
                <a:spcPts val="0"/>
              </a:spcBef>
              <a:spcAft>
                <a:spcPts val="0"/>
              </a:spcAft>
              <a:buSzPts val="1800"/>
              <a:buChar char="●"/>
            </a:pPr>
            <a:r>
              <a:rPr b="1" lang="en"/>
              <a:t>Omit</a:t>
            </a:r>
            <a:r>
              <a:rPr lang="en"/>
              <a:t>: Table of Contents, Index, Credits, Author’s Appreciation, and Overviews/Appendices (unless they contain specific rules).</a:t>
            </a:r>
            <a:endParaRPr/>
          </a:p>
          <a:p>
            <a:pPr indent="-342900" lvl="0" marL="457200" rtl="0" algn="l">
              <a:spcBef>
                <a:spcPts val="0"/>
              </a:spcBef>
              <a:spcAft>
                <a:spcPts val="0"/>
              </a:spcAft>
              <a:buSzPts val="1800"/>
              <a:buChar char="●"/>
            </a:pPr>
            <a:r>
              <a:rPr b="1" lang="en"/>
              <a:t>Special Case</a:t>
            </a:r>
            <a:r>
              <a:rPr lang="en"/>
              <a:t>: "Components" sections should usually be omitted, but you must check them for icon descriptions that appear nowhere else and also confirm if it doesn’t have explanations on how to play the game.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Structural Markdown &amp; Formatting</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Headers: </a:t>
            </a:r>
            <a:r>
              <a:rPr lang="en"/>
              <a:t>You always start with a </a:t>
            </a:r>
            <a:r>
              <a:rPr b="1" lang="en"/>
              <a:t>Level 2 header ‘##’ </a:t>
            </a:r>
            <a:r>
              <a:rPr lang="en"/>
              <a:t>and it’s important you follow </a:t>
            </a:r>
            <a:r>
              <a:rPr lang="en"/>
              <a:t>hierarchy. </a:t>
            </a:r>
            <a:endParaRPr/>
          </a:p>
          <a:p>
            <a:pPr indent="0" lvl="0" marL="0" rtl="0" algn="l">
              <a:spcBef>
                <a:spcPts val="1200"/>
              </a:spcBef>
              <a:spcAft>
                <a:spcPts val="0"/>
              </a:spcAft>
              <a:buNone/>
            </a:pPr>
            <a:r>
              <a:rPr b="1" lang="en"/>
              <a:t>Level 2 header ‘##’</a:t>
            </a:r>
            <a:endParaRPr b="1"/>
          </a:p>
          <a:p>
            <a:pPr indent="0" lvl="0" marL="0" rtl="0" algn="l">
              <a:spcBef>
                <a:spcPts val="1200"/>
              </a:spcBef>
              <a:spcAft>
                <a:spcPts val="0"/>
              </a:spcAft>
              <a:buNone/>
            </a:pPr>
            <a:r>
              <a:rPr b="1" lang="en"/>
              <a:t>Level 3 header ‘###’</a:t>
            </a:r>
            <a:endParaRPr b="1"/>
          </a:p>
          <a:p>
            <a:pPr indent="0" lvl="0" marL="0" rtl="0" algn="l">
              <a:spcBef>
                <a:spcPts val="1200"/>
              </a:spcBef>
              <a:spcAft>
                <a:spcPts val="0"/>
              </a:spcAft>
              <a:buNone/>
            </a:pPr>
            <a:r>
              <a:rPr b="1" lang="en"/>
              <a:t>Level 4 header ‘####’</a:t>
            </a:r>
            <a:endParaRPr b="1"/>
          </a:p>
          <a:p>
            <a:pPr indent="-334327" lvl="0" marL="914400" rtl="0" algn="l">
              <a:spcBef>
                <a:spcPts val="1200"/>
              </a:spcBef>
              <a:spcAft>
                <a:spcPts val="0"/>
              </a:spcAft>
              <a:buSzPct val="100000"/>
              <a:buChar char="●"/>
            </a:pPr>
            <a:r>
              <a:rPr lang="en"/>
              <a:t>Every header must include a page number </a:t>
            </a:r>
            <a:r>
              <a:rPr b="1" lang="en"/>
              <a:t>(e.g., "## SETUP (Page 3)")</a:t>
            </a:r>
            <a:endParaRPr b="1"/>
          </a:p>
          <a:p>
            <a:pPr indent="-334327" lvl="0" marL="914400" rtl="0" algn="l">
              <a:spcBef>
                <a:spcPts val="0"/>
              </a:spcBef>
              <a:spcAft>
                <a:spcPts val="0"/>
              </a:spcAft>
              <a:buSzPct val="100000"/>
              <a:buChar char="●"/>
            </a:pPr>
            <a:r>
              <a:rPr lang="en"/>
              <a:t>If a section appears under the wrong header visually in the PDF, move it to the logical correct header in markdown. (This happens rarely)</a:t>
            </a:r>
            <a:endParaRPr/>
          </a:p>
          <a:p>
            <a:pPr indent="0" lvl="0" marL="0" rtl="0" algn="l">
              <a:spcBef>
                <a:spcPts val="1200"/>
              </a:spcBef>
              <a:spcAft>
                <a:spcPts val="1200"/>
              </a:spcAft>
              <a:buNone/>
            </a:pPr>
            <a:br>
              <a:rPr lang="en"/>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 name="Shape 78"/>
        <p:cNvGrpSpPr/>
        <p:nvPr/>
      </p:nvGrpSpPr>
      <p:grpSpPr>
        <a:xfrm>
          <a:off x="0" y="0"/>
          <a:ext cx="0" cy="0"/>
          <a:chOff x="0" y="0"/>
          <a:chExt cx="0" cy="0"/>
        </a:xfrm>
      </p:grpSpPr>
      <p:pic>
        <p:nvPicPr>
          <p:cNvPr id="79" name="Google Shape;79;p17" title="Screenshot 2026-02-03 at 10.24.08.png"/>
          <p:cNvPicPr preferRelativeResize="0"/>
          <p:nvPr/>
        </p:nvPicPr>
        <p:blipFill>
          <a:blip r:embed="rId3">
            <a:alphaModFix/>
          </a:blip>
          <a:stretch>
            <a:fillRect/>
          </a:stretch>
        </p:blipFill>
        <p:spPr>
          <a:xfrm>
            <a:off x="200400" y="200400"/>
            <a:ext cx="4292051" cy="3243599"/>
          </a:xfrm>
          <a:prstGeom prst="rect">
            <a:avLst/>
          </a:prstGeom>
          <a:noFill/>
          <a:ln>
            <a:noFill/>
          </a:ln>
        </p:spPr>
      </p:pic>
      <p:pic>
        <p:nvPicPr>
          <p:cNvPr id="80" name="Google Shape;80;p17" title="Screenshot 2026-02-03 at 10.45.31.png"/>
          <p:cNvPicPr preferRelativeResize="0"/>
          <p:nvPr/>
        </p:nvPicPr>
        <p:blipFill>
          <a:blip r:embed="rId4">
            <a:alphaModFix/>
          </a:blip>
          <a:stretch>
            <a:fillRect/>
          </a:stretch>
        </p:blipFill>
        <p:spPr>
          <a:xfrm>
            <a:off x="4176001" y="3010700"/>
            <a:ext cx="4835999" cy="2070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8" title="Screenshot 2026-02-03 at 10.41.29.png"/>
          <p:cNvPicPr preferRelativeResize="0"/>
          <p:nvPr/>
        </p:nvPicPr>
        <p:blipFill>
          <a:blip r:embed="rId3">
            <a:alphaModFix/>
          </a:blip>
          <a:stretch>
            <a:fillRect/>
          </a:stretch>
        </p:blipFill>
        <p:spPr>
          <a:xfrm>
            <a:off x="26013" y="23513"/>
            <a:ext cx="9091973" cy="50964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9" title="Screenshot 2026-02-03 at 10.33.02.png"/>
          <p:cNvPicPr preferRelativeResize="0"/>
          <p:nvPr/>
        </p:nvPicPr>
        <p:blipFill>
          <a:blip r:embed="rId3">
            <a:alphaModFix/>
          </a:blip>
          <a:stretch>
            <a:fillRect/>
          </a:stretch>
        </p:blipFill>
        <p:spPr>
          <a:xfrm>
            <a:off x="221990" y="3573776"/>
            <a:ext cx="7260083" cy="1400250"/>
          </a:xfrm>
          <a:prstGeom prst="rect">
            <a:avLst/>
          </a:prstGeom>
          <a:noFill/>
          <a:ln>
            <a:noFill/>
          </a:ln>
        </p:spPr>
      </p:pic>
      <p:pic>
        <p:nvPicPr>
          <p:cNvPr id="91" name="Google Shape;91;p19" title="Screenshot 2026-02-03 at 10.33.35.png"/>
          <p:cNvPicPr preferRelativeResize="0"/>
          <p:nvPr/>
        </p:nvPicPr>
        <p:blipFill>
          <a:blip r:embed="rId4">
            <a:alphaModFix/>
          </a:blip>
          <a:stretch>
            <a:fillRect/>
          </a:stretch>
        </p:blipFill>
        <p:spPr>
          <a:xfrm>
            <a:off x="222000" y="2085325"/>
            <a:ext cx="7458002" cy="972850"/>
          </a:xfrm>
          <a:prstGeom prst="rect">
            <a:avLst/>
          </a:prstGeom>
          <a:noFill/>
          <a:ln>
            <a:noFill/>
          </a:ln>
        </p:spPr>
      </p:pic>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Structural Markdown &amp; Formatting (Cont’n)</a:t>
            </a:r>
            <a:endParaRPr/>
          </a:p>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Lists:</a:t>
            </a:r>
            <a:r>
              <a:rPr lang="en"/>
              <a:t> Use specific syntax for unordered lists ("-") and ordered lists ("1." or "1)") while maintaining indentation.</a:t>
            </a:r>
            <a:endParaRPr/>
          </a:p>
        </p:txBody>
      </p:sp>
      <p:pic>
        <p:nvPicPr>
          <p:cNvPr id="94" name="Google Shape;94;p19" title="Screenshot 2026-02-03 at 10.34.06.png"/>
          <p:cNvPicPr preferRelativeResize="0"/>
          <p:nvPr/>
        </p:nvPicPr>
        <p:blipFill>
          <a:blip r:embed="rId5">
            <a:alphaModFix/>
          </a:blip>
          <a:stretch>
            <a:fillRect/>
          </a:stretch>
        </p:blipFill>
        <p:spPr>
          <a:xfrm>
            <a:off x="4572000" y="1871625"/>
            <a:ext cx="4571999" cy="1400243"/>
          </a:xfrm>
          <a:prstGeom prst="rect">
            <a:avLst/>
          </a:prstGeom>
          <a:noFill/>
          <a:ln>
            <a:noFill/>
          </a:ln>
        </p:spPr>
      </p:pic>
      <p:pic>
        <p:nvPicPr>
          <p:cNvPr id="95" name="Google Shape;95;p19" title="Screenshot 2026-02-03 at 10.29.27.png"/>
          <p:cNvPicPr preferRelativeResize="0"/>
          <p:nvPr/>
        </p:nvPicPr>
        <p:blipFill>
          <a:blip r:embed="rId6">
            <a:alphaModFix/>
          </a:blip>
          <a:stretch>
            <a:fillRect/>
          </a:stretch>
        </p:blipFill>
        <p:spPr>
          <a:xfrm>
            <a:off x="4320000" y="3461775"/>
            <a:ext cx="4824001" cy="16242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Structural Markdown &amp; Formatting (Cont’n)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Tables</a:t>
            </a:r>
            <a:r>
              <a:rPr lang="en"/>
              <a:t>: When you come across a table that clearly shows rows and columns, this is how you should input it in the markdown.</a:t>
            </a:r>
            <a:endParaRPr/>
          </a:p>
          <a:p>
            <a:pPr indent="0" lvl="0" marL="0" rtl="0" algn="l">
              <a:spcBef>
                <a:spcPts val="1200"/>
              </a:spcBef>
              <a:spcAft>
                <a:spcPts val="0"/>
              </a:spcAft>
              <a:buNone/>
            </a:pPr>
            <a:r>
              <a:rPr lang="en"/>
              <a:t>	</a:t>
            </a:r>
            <a:r>
              <a:rPr b="1" lang="en"/>
              <a:t>Header row:</a:t>
            </a:r>
            <a:r>
              <a:rPr lang="en"/>
              <a:t> | Column 1 | Column 2 | Column 3 |</a:t>
            </a:r>
            <a:endParaRPr/>
          </a:p>
          <a:p>
            <a:pPr indent="0" lvl="0" marL="0" rtl="0" algn="l">
              <a:spcBef>
                <a:spcPts val="1200"/>
              </a:spcBef>
              <a:spcAft>
                <a:spcPts val="0"/>
              </a:spcAft>
              <a:buNone/>
            </a:pPr>
            <a:r>
              <a:rPr lang="en"/>
              <a:t>			      |---------------|--------------|---------------|</a:t>
            </a:r>
            <a:endParaRPr/>
          </a:p>
          <a:p>
            <a:pPr indent="0" lvl="0" marL="0" rtl="0" algn="l">
              <a:spcBef>
                <a:spcPts val="1200"/>
              </a:spcBef>
              <a:spcAft>
                <a:spcPts val="0"/>
              </a:spcAft>
              <a:buNone/>
            </a:pPr>
            <a:r>
              <a:rPr lang="en"/>
              <a:t>	</a:t>
            </a:r>
            <a:r>
              <a:rPr b="1" lang="en"/>
              <a:t>First row: </a:t>
            </a:r>
            <a:r>
              <a:rPr lang="en"/>
              <a:t>     | Details | Details | Details |  </a:t>
            </a:r>
            <a:endParaRPr/>
          </a:p>
          <a:p>
            <a:pPr indent="457200" lvl="0" marL="0" rtl="0" algn="l">
              <a:spcBef>
                <a:spcPts val="1200"/>
              </a:spcBef>
              <a:spcAft>
                <a:spcPts val="0"/>
              </a:spcAft>
              <a:buNone/>
            </a:pPr>
            <a:r>
              <a:rPr b="1" lang="en"/>
              <a:t>Second </a:t>
            </a:r>
            <a:r>
              <a:rPr b="1" lang="en"/>
              <a:t> row:</a:t>
            </a:r>
            <a:r>
              <a:rPr lang="en"/>
              <a:t>| Details | Details | Details |  </a:t>
            </a:r>
            <a:endParaRPr/>
          </a:p>
          <a:p>
            <a:pPr indent="0" lvl="0" marL="0" rtl="0" algn="l">
              <a:spcBef>
                <a:spcPts val="1200"/>
              </a:spcBef>
              <a:spcAft>
                <a:spcPts val="0"/>
              </a:spcAft>
              <a:buNone/>
            </a:pPr>
            <a:r>
              <a:rPr b="1" lang="en"/>
              <a:t>NOTE:</a:t>
            </a:r>
            <a:r>
              <a:rPr lang="en"/>
              <a:t> Markdown tables must have a header row; if the original has none, leave the header cells empty.</a:t>
            </a:r>
            <a:endParaRPr/>
          </a:p>
          <a:p>
            <a:pPr indent="0" lvl="0" marL="0" rtl="0" algn="l">
              <a:spcBef>
                <a:spcPts val="1200"/>
              </a:spcBef>
              <a:spcAft>
                <a:spcPts val="1200"/>
              </a:spcAft>
              <a:buClr>
                <a:schemeClr val="dk1"/>
              </a:buClr>
              <a:buSzPct val="61111"/>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pic>
        <p:nvPicPr>
          <p:cNvPr id="106" name="Google Shape;106;p21" title="Screenshot 2026-02-03 at 10.52.04.png"/>
          <p:cNvPicPr preferRelativeResize="0"/>
          <p:nvPr/>
        </p:nvPicPr>
        <p:blipFill>
          <a:blip r:embed="rId3">
            <a:alphaModFix/>
          </a:blip>
          <a:stretch>
            <a:fillRect/>
          </a:stretch>
        </p:blipFill>
        <p:spPr>
          <a:xfrm>
            <a:off x="264000" y="2904000"/>
            <a:ext cx="8751601" cy="1616875"/>
          </a:xfrm>
          <a:prstGeom prst="rect">
            <a:avLst/>
          </a:prstGeom>
          <a:noFill/>
          <a:ln>
            <a:noFill/>
          </a:ln>
        </p:spPr>
      </p:pic>
      <p:pic>
        <p:nvPicPr>
          <p:cNvPr id="107" name="Google Shape;107;p21" title="Screenshot 2026-02-03 at 10.52.33.png"/>
          <p:cNvPicPr preferRelativeResize="0"/>
          <p:nvPr/>
        </p:nvPicPr>
        <p:blipFill>
          <a:blip r:embed="rId4">
            <a:alphaModFix/>
          </a:blip>
          <a:stretch>
            <a:fillRect/>
          </a:stretch>
        </p:blipFill>
        <p:spPr>
          <a:xfrm>
            <a:off x="5688000" y="92400"/>
            <a:ext cx="3456000" cy="3223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Structural Markdown &amp; Formatting (Cont’n)</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Clr>
                <a:schemeClr val="dk1"/>
              </a:buClr>
              <a:buSzPct val="39285"/>
              <a:buFont typeface="Arial"/>
              <a:buNone/>
            </a:pPr>
            <a:r>
              <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Text Styling: </a:t>
            </a:r>
            <a:endParaRPr b="1"/>
          </a:p>
          <a:p>
            <a:pPr indent="-342900" lvl="0" marL="914400" rtl="0" algn="l">
              <a:spcBef>
                <a:spcPts val="1200"/>
              </a:spcBef>
              <a:spcAft>
                <a:spcPts val="0"/>
              </a:spcAft>
              <a:buSzPts val="1800"/>
              <a:buChar char="●"/>
            </a:pPr>
            <a:r>
              <a:rPr b="1" lang="en"/>
              <a:t>Bold: </a:t>
            </a:r>
            <a:r>
              <a:rPr lang="en"/>
              <a:t>Use double asterisks (**text**)</a:t>
            </a:r>
            <a:endParaRPr/>
          </a:p>
          <a:p>
            <a:pPr indent="-342900" lvl="0" marL="914400" rtl="0" algn="l">
              <a:spcBef>
                <a:spcPts val="0"/>
              </a:spcBef>
              <a:spcAft>
                <a:spcPts val="0"/>
              </a:spcAft>
              <a:buSzPts val="1800"/>
              <a:buChar char="●"/>
            </a:pPr>
            <a:r>
              <a:rPr b="1" lang="en"/>
              <a:t>Italics</a:t>
            </a:r>
            <a:r>
              <a:rPr lang="en"/>
              <a:t>: Use single asterisks (*text*) or underscores (_text_).</a:t>
            </a:r>
            <a:endParaRPr/>
          </a:p>
          <a:p>
            <a:pPr indent="-342900" lvl="0" marL="914400" rtl="0" algn="l">
              <a:spcBef>
                <a:spcPts val="0"/>
              </a:spcBef>
              <a:spcAft>
                <a:spcPts val="0"/>
              </a:spcAft>
              <a:buSzPts val="1800"/>
              <a:buChar char="●"/>
            </a:pPr>
            <a:r>
              <a:rPr b="1" lang="en"/>
              <a:t>Bold Italics</a:t>
            </a:r>
            <a:r>
              <a:rPr lang="en"/>
              <a:t>: Use triple asterisks (***text***).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 Descriptions (Images &amp; Icons)</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Image References</a:t>
            </a:r>
            <a:r>
              <a:rPr lang="en"/>
              <a:t>:</a:t>
            </a:r>
            <a:endParaRPr/>
          </a:p>
          <a:p>
            <a:pPr indent="-342900" lvl="0" marL="457200" rtl="0" algn="l">
              <a:spcBef>
                <a:spcPts val="1200"/>
              </a:spcBef>
              <a:spcAft>
                <a:spcPts val="0"/>
              </a:spcAft>
              <a:buSzPts val="1800"/>
              <a:buChar char="●"/>
            </a:pPr>
            <a:r>
              <a:rPr lang="en"/>
              <a:t>All image descriptions must start with ‘&gt;’.</a:t>
            </a:r>
            <a:endParaRPr/>
          </a:p>
          <a:p>
            <a:pPr indent="-342900" lvl="0" marL="457200" rtl="0" algn="l">
              <a:spcBef>
                <a:spcPts val="0"/>
              </a:spcBef>
              <a:spcAft>
                <a:spcPts val="0"/>
              </a:spcAft>
              <a:buSzPts val="1800"/>
              <a:buChar char="●"/>
            </a:pPr>
            <a:r>
              <a:rPr b="1" lang="en"/>
              <a:t>Placement</a:t>
            </a:r>
            <a:r>
              <a:rPr lang="en"/>
              <a:t>: Describe images at the top if they are on the left/above the text, and at the bottom if on the right/below.</a:t>
            </a:r>
            <a:endParaRPr/>
          </a:p>
          <a:p>
            <a:pPr indent="-342900" lvl="0" marL="457200" rtl="0" algn="l">
              <a:spcBef>
                <a:spcPts val="0"/>
              </a:spcBef>
              <a:spcAft>
                <a:spcPts val="0"/>
              </a:spcAft>
              <a:buSzPts val="1800"/>
              <a:buChar char="●"/>
            </a:pPr>
            <a:r>
              <a:rPr b="1" lang="en"/>
              <a:t>In-line Steps</a:t>
            </a:r>
            <a:r>
              <a:rPr lang="en"/>
              <a:t>: For complex diagrams with numbered steps, you can either describe the </a:t>
            </a:r>
            <a:r>
              <a:rPr lang="en"/>
              <a:t>image</a:t>
            </a:r>
            <a:r>
              <a:rPr lang="en"/>
              <a:t> all at once or describe the image progressively alongside the corresponding manual text rather than all at once(recommended)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4" title="Screenshot 2026-02-04 at 07.35.27.png"/>
          <p:cNvPicPr preferRelativeResize="0"/>
          <p:nvPr/>
        </p:nvPicPr>
        <p:blipFill>
          <a:blip r:embed="rId3">
            <a:alphaModFix/>
          </a:blip>
          <a:stretch>
            <a:fillRect/>
          </a:stretch>
        </p:blipFill>
        <p:spPr>
          <a:xfrm>
            <a:off x="0" y="2350275"/>
            <a:ext cx="7315277" cy="2793226"/>
          </a:xfrm>
          <a:prstGeom prst="rect">
            <a:avLst/>
          </a:prstGeom>
          <a:noFill/>
          <a:ln>
            <a:noFill/>
          </a:ln>
        </p:spPr>
      </p:pic>
      <p:pic>
        <p:nvPicPr>
          <p:cNvPr id="125" name="Google Shape;125;p24" title="Screenshot 2026-02-04 at 07.30.21.png"/>
          <p:cNvPicPr preferRelativeResize="0"/>
          <p:nvPr/>
        </p:nvPicPr>
        <p:blipFill>
          <a:blip r:embed="rId4">
            <a:alphaModFix/>
          </a:blip>
          <a:stretch>
            <a:fillRect/>
          </a:stretch>
        </p:blipFill>
        <p:spPr>
          <a:xfrm>
            <a:off x="4346025" y="0"/>
            <a:ext cx="4803749" cy="2571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5" title="Screenshot 2026-02-04 at 07.46.53.png"/>
          <p:cNvPicPr preferRelativeResize="0"/>
          <p:nvPr/>
        </p:nvPicPr>
        <p:blipFill>
          <a:blip r:embed="rId3">
            <a:alphaModFix/>
          </a:blip>
          <a:stretch>
            <a:fillRect/>
          </a:stretch>
        </p:blipFill>
        <p:spPr>
          <a:xfrm>
            <a:off x="5082167" y="677866"/>
            <a:ext cx="4061832" cy="3394499"/>
          </a:xfrm>
          <a:prstGeom prst="rect">
            <a:avLst/>
          </a:prstGeom>
          <a:noFill/>
          <a:ln>
            <a:noFill/>
          </a:ln>
        </p:spPr>
      </p:pic>
      <p:pic>
        <p:nvPicPr>
          <p:cNvPr id="131" name="Google Shape;131;p25" title="Screenshot 2026-02-04 at 07.49.06.png"/>
          <p:cNvPicPr preferRelativeResize="0"/>
          <p:nvPr/>
        </p:nvPicPr>
        <p:blipFill>
          <a:blip r:embed="rId4">
            <a:alphaModFix/>
          </a:blip>
          <a:stretch>
            <a:fillRect/>
          </a:stretch>
        </p:blipFill>
        <p:spPr>
          <a:xfrm>
            <a:off x="41250" y="597025"/>
            <a:ext cx="5040923" cy="363440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6"/>
          <p:cNvPicPr preferRelativeResize="0"/>
          <p:nvPr/>
        </p:nvPicPr>
        <p:blipFill>
          <a:blip r:embed="rId3">
            <a:alphaModFix/>
          </a:blip>
          <a:stretch>
            <a:fillRect/>
          </a:stretch>
        </p:blipFill>
        <p:spPr>
          <a:xfrm>
            <a:off x="1230226" y="71575"/>
            <a:ext cx="6765502" cy="3404575"/>
          </a:xfrm>
          <a:prstGeom prst="rect">
            <a:avLst/>
          </a:prstGeom>
          <a:noFill/>
          <a:ln>
            <a:noFill/>
          </a:ln>
        </p:spPr>
      </p:pic>
      <p:sp>
        <p:nvSpPr>
          <p:cNvPr id="137" name="Google Shape;137;p26"/>
          <p:cNvSpPr txBox="1"/>
          <p:nvPr/>
        </p:nvSpPr>
        <p:spPr>
          <a:xfrm>
            <a:off x="222325" y="3476150"/>
            <a:ext cx="8781300" cy="16167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rPr lang="en" sz="1200">
                <a:solidFill>
                  <a:schemeClr val="dk1"/>
                </a:solidFill>
                <a:latin typeface="Times New Roman"/>
                <a:ea typeface="Times New Roman"/>
                <a:cs typeface="Times New Roman"/>
                <a:sym typeface="Times New Roman"/>
              </a:rPr>
              <a:t>&gt; image showing detailed setup from the </a:t>
            </a:r>
            <a:r>
              <a:rPr i="1" lang="en" sz="1200">
                <a:solidFill>
                  <a:schemeClr val="dk1"/>
                </a:solidFill>
                <a:latin typeface="Times New Roman"/>
                <a:ea typeface="Times New Roman"/>
                <a:cs typeface="Times New Roman"/>
                <a:sym typeface="Times New Roman"/>
              </a:rPr>
              <a:t>Revive</a:t>
            </a:r>
            <a:r>
              <a:rPr lang="en" sz="1200">
                <a:solidFill>
                  <a:schemeClr val="dk1"/>
                </a:solidFill>
                <a:latin typeface="Times New Roman"/>
                <a:ea typeface="Times New Roman"/>
                <a:cs typeface="Times New Roman"/>
                <a:sym typeface="Times New Roman"/>
              </a:rPr>
              <a:t> board game, featuring a large main board on the right (1) divided into green, yellow, and brown regions with interconnected paths and symbols, a character board on the left (2) marked “Use the Sun side,” a group of futuristic cards forming the “Active area” (12) below the character board, a “Resting area” (6) on the right side holding a stack of cards, colored markers or player tokens (3) positioned near the top right, a mask-shaped faction token (7) and a resource or upgrade tile (8) beside it, a sun icon marker (9), a row of circular progress or score indicators (10) beneath the character board, and a power track (5) and additional markers (13) along the bottom edge, all presented in warm earthy tones of brown, yellow, and green with a futuristic, post-apocalyptic design aesthetic.</a:t>
            </a:r>
            <a:br>
              <a:rPr lang="en" sz="1200">
                <a:solidFill>
                  <a:schemeClr val="dk1"/>
                </a:solidFill>
                <a:latin typeface="Times New Roman"/>
                <a:ea typeface="Times New Roman"/>
                <a:cs typeface="Times New Roman"/>
                <a:sym typeface="Times New Roman"/>
              </a:rPr>
            </a:br>
            <a:endParaRPr sz="12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Visual Descriptions (Images &amp; Icons) Cont’n</a:t>
            </a:r>
            <a:endParaRPr/>
          </a:p>
          <a:p>
            <a:pPr indent="0" lvl="0" marL="0" rtl="0" algn="l">
              <a:spcBef>
                <a:spcPts val="0"/>
              </a:spcBef>
              <a:spcAft>
                <a:spcPts val="0"/>
              </a:spcAft>
              <a:buNone/>
            </a:pPr>
            <a:r>
              <a:t/>
            </a:r>
            <a:endParaRPr/>
          </a:p>
        </p:txBody>
      </p:sp>
      <p:sp>
        <p:nvSpPr>
          <p:cNvPr id="143" name="Google Shape;143;p27"/>
          <p:cNvSpPr txBox="1"/>
          <p:nvPr>
            <p:ph idx="1" type="body"/>
          </p:nvPr>
        </p:nvSpPr>
        <p:spPr>
          <a:xfrm>
            <a:off x="311700" y="1152475"/>
            <a:ext cx="8520600" cy="3940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600"/>
              <a:t>Icon Descriptions</a:t>
            </a:r>
            <a:r>
              <a:rPr lang="en" sz="1600"/>
              <a:t>:</a:t>
            </a:r>
            <a:endParaRPr sz="1600"/>
          </a:p>
          <a:p>
            <a:pPr indent="-330200" lvl="0" marL="457200" rtl="0" algn="l">
              <a:spcBef>
                <a:spcPts val="1200"/>
              </a:spcBef>
              <a:spcAft>
                <a:spcPts val="0"/>
              </a:spcAft>
              <a:buSzPts val="1600"/>
              <a:buChar char="●"/>
            </a:pPr>
            <a:r>
              <a:rPr b="1" lang="en" sz="1600"/>
              <a:t>Format</a:t>
            </a:r>
            <a:r>
              <a:rPr lang="en" sz="1600"/>
              <a:t>: Start with what it represents, followed by what it looks like (e.g., "Victory points (icon of a trophy cup)").</a:t>
            </a:r>
            <a:endParaRPr sz="1600"/>
          </a:p>
          <a:p>
            <a:pPr indent="-330200" lvl="0" marL="457200" rtl="0" algn="l">
              <a:spcBef>
                <a:spcPts val="0"/>
              </a:spcBef>
              <a:spcAft>
                <a:spcPts val="0"/>
              </a:spcAft>
              <a:buSzPts val="1600"/>
              <a:buChar char="●"/>
            </a:pPr>
            <a:r>
              <a:rPr b="1" lang="en" sz="1600"/>
              <a:t>Consistency</a:t>
            </a:r>
            <a:r>
              <a:rPr lang="en" sz="1600"/>
              <a:t>: If an icon meaning is known (e.g., "Victory Points"), use that meaning consistently. If the meaning is unknown, describe the visual (e.g., "trophy cup").</a:t>
            </a:r>
            <a:endParaRPr sz="1600"/>
          </a:p>
          <a:p>
            <a:pPr indent="-330200" lvl="0" marL="457200" rtl="0" algn="l">
              <a:spcBef>
                <a:spcPts val="0"/>
              </a:spcBef>
              <a:spcAft>
                <a:spcPts val="0"/>
              </a:spcAft>
              <a:buSzPts val="1600"/>
              <a:buChar char="●"/>
            </a:pPr>
            <a:r>
              <a:rPr b="1" lang="en" sz="1600"/>
              <a:t>Handling Broken Text</a:t>
            </a:r>
            <a:r>
              <a:rPr lang="en" sz="1600"/>
              <a:t>: Icons within sentences often break the text flow during conversion; they must manually fix jumbled words</a:t>
            </a:r>
            <a:endParaRPr sz="1600"/>
          </a:p>
          <a:p>
            <a:pPr indent="0" lvl="0" marL="0" rtl="0" algn="l">
              <a:spcBef>
                <a:spcPts val="1200"/>
              </a:spcBef>
              <a:spcAft>
                <a:spcPts val="0"/>
              </a:spcAft>
              <a:buNone/>
            </a:pPr>
            <a:r>
              <a:rPr b="1" lang="en" sz="1400">
                <a:solidFill>
                  <a:schemeClr val="dk1"/>
                </a:solidFill>
              </a:rPr>
              <a:t>Don’t spend too much time trying to describe super-complex images. Your image descriptions just need to provide information that is not available elsewhere in the text of the manual on how to set up, play, and score the game. If the image doesn’t explain how to set up, play, and score the game, you can skip the image.</a:t>
            </a:r>
            <a:endParaRPr b="1" sz="1400">
              <a:solidFill>
                <a:schemeClr val="dk1"/>
              </a:solidFill>
            </a:endParaRPr>
          </a:p>
          <a:p>
            <a:pPr indent="0" lvl="0" marL="0" rtl="0" algn="l">
              <a:spcBef>
                <a:spcPts val="1200"/>
              </a:spcBef>
              <a:spcAft>
                <a:spcPts val="1200"/>
              </a:spcAft>
              <a:buNone/>
            </a:pPr>
            <a:r>
              <a:rPr b="1" lang="en" sz="1400">
                <a:solidFill>
                  <a:schemeClr val="dk1"/>
                </a:solidFill>
              </a:rPr>
              <a:t>Description Scope: </a:t>
            </a:r>
            <a:r>
              <a:rPr lang="en" sz="1400">
                <a:solidFill>
                  <a:schemeClr val="dk1"/>
                </a:solidFill>
              </a:rPr>
              <a:t>Focus only on information needed to setup, play, or score. Purely decorative images can be skipped.</a:t>
            </a:r>
            <a:endParaRPr sz="1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Visual Descriptions (Images &amp; Icons) Cont’n</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400">
                <a:solidFill>
                  <a:schemeClr val="dk1"/>
                </a:solidFill>
              </a:rPr>
              <a:t>Icons Within Sentences</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If an icon appears within a line of text, describe it briefly in parentheses right after it appears.</a:t>
            </a:r>
            <a:br>
              <a:rPr lang="en" sz="1400">
                <a:solidFill>
                  <a:schemeClr val="dk1"/>
                </a:solidFill>
              </a:rPr>
            </a:br>
            <a:br>
              <a:rPr lang="en" sz="1400">
                <a:solidFill>
                  <a:schemeClr val="dk1"/>
                </a:solidFill>
              </a:rPr>
            </a:br>
            <a:r>
              <a:rPr lang="en" sz="1400">
                <a:solidFill>
                  <a:schemeClr val="dk1"/>
                </a:solidFill>
              </a:rPr>
              <a:t>Example: “Take each of your Players to the Game store (Icon representation of a store – icon takes the shape of a small sack) and take two coin tokens from it.</a:t>
            </a:r>
            <a:br>
              <a:rPr lang="en"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If an icon appears within a line of text, but the icon name wasn’t mentioned, meaning the icon was used instead of a word, or to complete a sentence. Use the correct word for it, then describe its appearance briefly in parentheses right after the correct word.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idx="1" type="body"/>
          </p:nvPr>
        </p:nvSpPr>
        <p:spPr>
          <a:xfrm>
            <a:off x="362225" y="2081650"/>
            <a:ext cx="8520600" cy="2647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 sz="1400">
                <a:solidFill>
                  <a:schemeClr val="dk1"/>
                </a:solidFill>
                <a:latin typeface="Times New Roman"/>
                <a:ea typeface="Times New Roman"/>
                <a:cs typeface="Times New Roman"/>
                <a:sym typeface="Times New Roman"/>
              </a:rPr>
              <a:t>The right way to write it in the markdown file:</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400">
                <a:solidFill>
                  <a:schemeClr val="dk1"/>
                </a:solidFill>
                <a:latin typeface="Times New Roman"/>
                <a:ea typeface="Times New Roman"/>
                <a:cs typeface="Times New Roman"/>
                <a:sym typeface="Times New Roman"/>
              </a:rPr>
              <a:t>“</a:t>
            </a:r>
            <a:r>
              <a:rPr b="1" lang="en" sz="1400">
                <a:solidFill>
                  <a:schemeClr val="dk1"/>
                </a:solidFill>
                <a:latin typeface="Times New Roman"/>
                <a:ea typeface="Times New Roman"/>
                <a:cs typeface="Times New Roman"/>
                <a:sym typeface="Times New Roman"/>
              </a:rPr>
              <a:t>The Councilor with the most victory points (icon of a trophy cup) is the winner. If the Cult has the most victory points (icon of a trophy cup), then the player who is the current Cult Conspirator is the winner instead.</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400">
                <a:solidFill>
                  <a:schemeClr val="dk1"/>
                </a:solidFill>
                <a:latin typeface="Times New Roman"/>
                <a:ea typeface="Times New Roman"/>
                <a:cs typeface="Times New Roman"/>
                <a:sym typeface="Times New Roman"/>
              </a:rPr>
              <a:t>NOTE:</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You don’t need to include the visual description (icon of a trophy cup) if it repeats multiple times over and over in the manual. Use the icon meaning “victory points” is used consistently everywhere, and the visual description appears at least once, “(icon of a trophy cup)”.</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You have to use the icon's </a:t>
            </a:r>
            <a:r>
              <a:rPr i="1" lang="en" sz="1400">
                <a:solidFill>
                  <a:schemeClr val="dk1"/>
                </a:solidFill>
                <a:latin typeface="Times New Roman"/>
                <a:ea typeface="Times New Roman"/>
                <a:cs typeface="Times New Roman"/>
                <a:sym typeface="Times New Roman"/>
              </a:rPr>
              <a:t>meaning</a:t>
            </a:r>
            <a:r>
              <a:rPr lang="en" sz="1400">
                <a:solidFill>
                  <a:schemeClr val="dk1"/>
                </a:solidFill>
                <a:latin typeface="Times New Roman"/>
                <a:ea typeface="Times New Roman"/>
                <a:cs typeface="Times New Roman"/>
                <a:sym typeface="Times New Roman"/>
              </a:rPr>
              <a:t> everywhere when describing the icon.</a:t>
            </a:r>
            <a:endParaRPr/>
          </a:p>
        </p:txBody>
      </p:sp>
      <p:pic>
        <p:nvPicPr>
          <p:cNvPr id="155" name="Google Shape;155;p29"/>
          <p:cNvPicPr preferRelativeResize="0"/>
          <p:nvPr/>
        </p:nvPicPr>
        <p:blipFill rotWithShape="1">
          <a:blip r:embed="rId3">
            <a:alphaModFix/>
          </a:blip>
          <a:srcRect b="0" l="15254" r="0" t="0"/>
          <a:stretch/>
        </p:blipFill>
        <p:spPr>
          <a:xfrm>
            <a:off x="76200" y="152400"/>
            <a:ext cx="8991601" cy="14095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Quality Control &amp; Tools</a:t>
            </a:r>
            <a:endParaRPr/>
          </a:p>
          <a:p>
            <a:pPr indent="0" lvl="0" marL="0" rtl="0" algn="l">
              <a:spcBef>
                <a:spcPts val="0"/>
              </a:spcBef>
              <a:spcAft>
                <a:spcPts val="0"/>
              </a:spcAft>
              <a:buNone/>
            </a:pPr>
            <a:r>
              <a:t/>
            </a:r>
            <a:endParaRPr/>
          </a:p>
        </p:txBody>
      </p:sp>
      <p:sp>
        <p:nvSpPr>
          <p:cNvPr id="161" name="Google Shape;161;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120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Checklist for reviewing the markdown file before final submission:</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All headers and lists use correct markdown syntax.</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Headers should have the page number where it is located. Example: (## SETUP (page 2))</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Char char="○"/>
            </a:pPr>
            <a:r>
              <a:rPr lang="en" sz="1800">
                <a:solidFill>
                  <a:schemeClr val="dk1"/>
                </a:solidFill>
                <a:latin typeface="Times New Roman"/>
                <a:ea typeface="Times New Roman"/>
                <a:cs typeface="Times New Roman"/>
                <a:sym typeface="Times New Roman"/>
              </a:rPr>
              <a:t>Image descriptions are accurate and formatted with &gt;.</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No missing sections or misplaced text due to column mixing.</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In-text icon descriptions should be formatted with ().</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In-text icon descriptions should have a name for the description inside the parentheses. E.g. fire (flame icon)</a:t>
            </a:r>
            <a:endParaRPr sz="1800">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File reads clearly and matches the manual’s order.</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Quality Control &amp; Tools Cont’n</a:t>
            </a:r>
            <a:endParaRPr/>
          </a:p>
        </p:txBody>
      </p:sp>
      <p:sp>
        <p:nvSpPr>
          <p:cNvPr id="167" name="Google Shape;16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a:t>Ensure the final output is error-free and ready for submission.</a:t>
            </a:r>
            <a:endParaRPr/>
          </a:p>
          <a:p>
            <a:pPr indent="0" lvl="0" marL="0" rtl="0" algn="l">
              <a:spcBef>
                <a:spcPts val="1200"/>
              </a:spcBef>
              <a:spcAft>
                <a:spcPts val="0"/>
              </a:spcAft>
              <a:buNone/>
            </a:pPr>
            <a:r>
              <a:rPr b="1" lang="en"/>
              <a:t>Recommended Tools</a:t>
            </a:r>
            <a:r>
              <a:rPr lang="en"/>
              <a:t>: </a:t>
            </a:r>
            <a:endParaRPr/>
          </a:p>
          <a:p>
            <a:pPr indent="-342900" lvl="0" marL="457200" rtl="0" algn="l">
              <a:spcBef>
                <a:spcPts val="1200"/>
              </a:spcBef>
              <a:spcAft>
                <a:spcPts val="0"/>
              </a:spcAft>
              <a:buSzPts val="1800"/>
              <a:buChar char="●"/>
            </a:pPr>
            <a:r>
              <a:rPr b="1" lang="en"/>
              <a:t>If you </a:t>
            </a:r>
            <a:r>
              <a:rPr b="1" lang="en"/>
              <a:t>are</a:t>
            </a:r>
            <a:r>
              <a:rPr b="1" lang="en"/>
              <a:t> editing in Github</a:t>
            </a:r>
            <a:r>
              <a:rPr lang="en"/>
              <a:t>: Download “</a:t>
            </a:r>
            <a:r>
              <a:rPr b="1" lang="en"/>
              <a:t>Grammerly</a:t>
            </a:r>
            <a:r>
              <a:rPr lang="en"/>
              <a:t>” extension in your browser to catch typos. </a:t>
            </a:r>
            <a:endParaRPr b="1"/>
          </a:p>
          <a:p>
            <a:pPr indent="-342900" lvl="0" marL="457200" rtl="0" algn="l">
              <a:spcBef>
                <a:spcPts val="0"/>
              </a:spcBef>
              <a:spcAft>
                <a:spcPts val="0"/>
              </a:spcAft>
              <a:buSzPts val="1800"/>
              <a:buChar char="●"/>
            </a:pPr>
            <a:r>
              <a:rPr b="1" lang="en"/>
              <a:t>If you are editing in VS-CODE</a:t>
            </a:r>
            <a:r>
              <a:rPr lang="en"/>
              <a:t>: Download “</a:t>
            </a:r>
            <a:r>
              <a:rPr b="1" lang="en"/>
              <a:t>Code Spell Checker” </a:t>
            </a:r>
            <a:r>
              <a:rPr lang="en"/>
              <a:t>extension to catch typos.</a:t>
            </a:r>
            <a:endParaRPr/>
          </a:p>
          <a:p>
            <a:pPr indent="0" lvl="0" marL="0" rtl="0" algn="l">
              <a:spcBef>
                <a:spcPts val="1200"/>
              </a:spcBef>
              <a:spcAft>
                <a:spcPts val="0"/>
              </a:spcAft>
              <a:buNone/>
            </a:pPr>
            <a:r>
              <a:rPr b="1" lang="en"/>
              <a:t>NOTE</a:t>
            </a:r>
            <a:r>
              <a:rPr lang="en"/>
              <a:t>: Don’t correct what you think is a typo from the manual, just use what is in the manual, only correct the texts you added yourself when describing images/icons or broken texts due to conversion process.</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more Studies and Understanding</a:t>
            </a:r>
            <a:endParaRPr/>
          </a:p>
        </p:txBody>
      </p:sp>
      <p:sp>
        <p:nvSpPr>
          <p:cNvPr id="173" name="Google Shape;17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Click the link to </a:t>
            </a:r>
            <a:r>
              <a:rPr lang="en"/>
              <a:t>the</a:t>
            </a:r>
            <a:r>
              <a:rPr lang="en"/>
              <a:t> detailed guideline for better understanding.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https://docs.google.com/document/d/1OYJDWfT7JOlm0UX6iJn89B-t9ly8FKQvYTzHDsZ4W88/edit?tab=t.0#heading=h.gsi5ddy0mxbd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